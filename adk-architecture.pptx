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overview — component map of the production ADK deployment on Railway.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flow — exact sequence for every turn on the ADK (Path 2)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3-path structure. Each path maps to an equivalent Claude SDK path. Path 2 is the current production deployment on Railway. All 3 paths share the same tool functions, SFCC backend, and skill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3-path comparison. Each row shows one path. Claude wins on: cross-session memory (MemoryFact), prompt caching, presentation tool calls, Skills API upload, MCP server. Gemini ADK wins on: framework-managed state (session.state), automatic gate enforcement via before_tool_callback, zero-boilerplate sub-agent routing, Knowledge Graph grounding.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10-dimension feature comparison. Starred cells show a framework advantage. Use this slide to explain trade-offs to stakeholders.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guidance. Five concrete reasons per agent. Bottom callout: switching is feasible because both paths share the same backend and staging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91440"/>
            <a:ext cx="11612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Merchant App on Railway — ADK Architecture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548640"/>
            <a:ext cx="1161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gemini-merchant-api-production.up.railway.app  ·  Google ADK v2.10.0  ·  Gemini Flash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11704320" cy="5413248"/>
          </a:xfrm>
          <a:prstGeom prst="roundRect">
            <a:avLst>
              <a:gd name="adj" fmla="val 2703"/>
            </a:avLst>
          </a:prstGeom>
          <a:solidFill>
            <a:srgbClr val="1A3050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8595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Railway —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1170432"/>
            <a:ext cx="2377440" cy="4901184"/>
          </a:xfrm>
          <a:prstGeom prst="roundRect">
            <a:avLst>
              <a:gd name="adj" fmla="val 3846"/>
            </a:avLst>
          </a:prstGeom>
          <a:solidFill>
            <a:srgbClr val="0E2038"/>
          </a:solidFill>
          <a:ln w="25400">
            <a:solidFill>
              <a:srgbClr val="4A8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" y="1188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merchant-web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84048" y="1463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port 3000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12064" y="1755648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1810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1031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orders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2064" y="2596896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651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9443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/ SEO / classify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12064" y="3438144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493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AssistantPanel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856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SSE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2064" y="4279392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3342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AgentApi.chatStream()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6268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/chat + readEventStream()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2064" y="5120640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1755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useSession() hooks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4681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refresh, actOnChange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61488" y="4041648"/>
            <a:ext cx="530352" cy="9144"/>
          </a:xfrm>
          <a:prstGeom prst="line">
            <a:avLst/>
          </a:prstGeom>
          <a:noFill/>
          <a:ln w="19050">
            <a:solidFill>
              <a:srgbClr val="E0703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779776" y="385876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→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61488" y="4370832"/>
            <a:ext cx="530352" cy="9144"/>
          </a:xfrm>
          <a:prstGeom prst="line">
            <a:avLst/>
          </a:prstGeom>
          <a:noFill/>
          <a:ln w="19050">
            <a:solidFill>
              <a:srgbClr val="2D7DD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779776" y="4389120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91840" y="1170432"/>
            <a:ext cx="8412480" cy="4901184"/>
          </a:xfrm>
          <a:prstGeom prst="roundRect">
            <a:avLst>
              <a:gd name="adj" fmla="val 1866"/>
            </a:avLst>
          </a:prstGeom>
          <a:solidFill>
            <a:srgbClr val="100822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11887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merchant-api  (FastAPI · Uvicorn · port 8000)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438144" y="1517904"/>
            <a:ext cx="8119872" cy="347472"/>
          </a:xfrm>
          <a:prstGeom prst="roundRect">
            <a:avLst>
              <a:gd name="adj" fmla="val 15789"/>
            </a:avLst>
          </a:prstGeom>
          <a:solidFill>
            <a:srgbClr val="1A0E38"/>
          </a:solidFill>
          <a:ln w="25400">
            <a:solidFill>
              <a:srgbClr val="5A38A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74720" y="151790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/session · /chat · /overview · /alerts · /merchandising/* · /briefing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38144" y="1938528"/>
            <a:ext cx="8119872" cy="3986784"/>
          </a:xfrm>
          <a:prstGeom prst="roundRect">
            <a:avLst>
              <a:gd name="adj" fmla="val 2294"/>
            </a:avLst>
          </a:prstGeom>
          <a:solidFill>
            <a:srgbClr val="180A3A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38144" y="19568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Runner  +  InMemorySessionService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95360" y="1938528"/>
            <a:ext cx="2871216" cy="640080"/>
          </a:xfrm>
          <a:prstGeom prst="roundRect">
            <a:avLst>
              <a:gd name="adj" fmla="val 11429"/>
            </a:avLst>
          </a:prstGeom>
          <a:solidFill>
            <a:srgbClr val="2A1808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68512" y="1956816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668512" y="2212848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store_name · last_snapshot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last_alerts_count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595360" y="2651760"/>
            <a:ext cx="2871216" cy="640080"/>
          </a:xfrm>
          <a:prstGeom prst="roundRect">
            <a:avLst>
              <a:gd name="adj" fmla="val 11429"/>
            </a:avLst>
          </a:prstGeom>
          <a:solidFill>
            <a:srgbClr val="081E10"/>
          </a:solidFill>
          <a:ln w="25400">
            <a:solidFill>
              <a:srgbClr val="38A06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68512" y="2670048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8A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prime_session()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668512" y="29260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at login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GET /briefing (instant)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84448" y="2286000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08283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57600" y="2304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before_model_callback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5603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today + store_name into system_instruction every call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584448" y="2926080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08283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57600" y="29443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before_tool_callback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20040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gates: provenance · options · guardrail · approval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584448" y="3566160"/>
            <a:ext cx="2231136" cy="2194560"/>
          </a:xfrm>
          <a:prstGeom prst="roundRect">
            <a:avLst>
              <a:gd name="adj" fmla="val 3333"/>
            </a:avLst>
          </a:prstGeom>
          <a:solidFill>
            <a:srgbClr val="1C0A4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621024" y="3584448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94176" y="389534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30752" y="389534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get_business_snapshot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94176" y="416966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730752" y="416966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get_inventory_alerts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694176" y="444398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730752" y="444398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run_analysis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94176" y="471830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730752" y="471830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/ get_listing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694176" y="499262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730752" y="499262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approve_change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694176" y="5266944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730752" y="5266944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/ apply / discard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815584" y="4663440"/>
            <a:ext cx="384048" cy="9144"/>
          </a:xfrm>
          <a:prstGeom prst="line">
            <a:avLst/>
          </a:prstGeom>
          <a:noFill/>
          <a:ln w="19050">
            <a:solidFill>
              <a:srgbClr val="02A0B0"/>
            </a:solidFill>
            <a:prstDash val="solid"/>
            <a:tail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815584" y="44805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99632" y="3566160"/>
            <a:ext cx="2523744" cy="2194560"/>
          </a:xfrm>
          <a:prstGeom prst="roundRect">
            <a:avLst>
              <a:gd name="adj" fmla="val 3333"/>
            </a:avLst>
          </a:prstGeom>
          <a:solidFill>
            <a:srgbClr val="04182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36208" y="358444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MerchandisingAgent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36208" y="3840480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· same callbacks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6291072" y="4059936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27648" y="405993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classify_product_ontology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291072" y="4315968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327648" y="4315968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enrich_product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291072" y="4572000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27648" y="457200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generate_seo_content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291072" y="4828032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327648" y="482803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generate_geo_content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291072" y="508406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327648" y="50840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lookup_product_entities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291072" y="5340096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27648" y="534009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stage_listing_update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3438144" y="5797296"/>
            <a:ext cx="8119872" cy="640080"/>
          </a:xfrm>
          <a:prstGeom prst="roundRect">
            <a:avLst>
              <a:gd name="adj" fmla="val 14286"/>
            </a:avLst>
          </a:prstGeom>
          <a:solidFill>
            <a:srgbClr val="28081A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493008" y="58155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06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Gemini Flash  (gemini-2.0-flash)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766560" y="5815584"/>
            <a:ext cx="4663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Orchestrator + MerchandisingAgent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function_call | transfer_to_agent | text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700016" y="5742432"/>
            <a:ext cx="9144" cy="54864"/>
          </a:xfrm>
          <a:prstGeom prst="line">
            <a:avLst/>
          </a:prstGeom>
          <a:noFill/>
          <a:ln w="19050">
            <a:solidFill>
              <a:srgbClr val="D060A8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7461504" y="5742432"/>
            <a:ext cx="9144" cy="54864"/>
          </a:xfrm>
          <a:prstGeom prst="line">
            <a:avLst/>
          </a:prstGeom>
          <a:noFill/>
          <a:ln w="19050">
            <a:solidFill>
              <a:srgbClr val="D060A8"/>
            </a:solidFill>
            <a:prstDash val="solid"/>
            <a:tailEnd type="triangle"/>
          </a:ln>
        </p:spPr>
      </p:sp>
      <p:sp>
        <p:nvSpPr>
          <p:cNvPr id="82" name="Text 80"/>
          <p:cNvSpPr txBox="1"/>
          <p:nvPr/>
        </p:nvSpPr>
        <p:spPr>
          <a:xfrm>
            <a:off x="274320" y="65105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Operator (browser)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3328416" y="651052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SFCC (commercecloud.salesforce.com)  ·  Wikidata / Google Knowledge Graph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73152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Flow — What Happens Inside ADK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12064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operator sends a chat message, the exact sequence through the ADK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28600" y="987552"/>
            <a:ext cx="548640" cy="548640"/>
          </a:xfrm>
          <a:prstGeom prst="ellipse">
            <a:avLst/>
          </a:prstGeom>
          <a:solidFill>
            <a:srgbClr val="2D7DD2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28600" y="987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6" name="Shape 4"/>
          <p:cNvSpPr/>
          <p:nvPr/>
        </p:nvSpPr>
        <p:spPr>
          <a:xfrm>
            <a:off x="841248" y="859536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859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207008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" y="126187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sends message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54480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→ AgentApi.chatStream() → POST /api/merchant/chat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validates X-Session-Id, creates StreamingResponse, calls Runner.run_async()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9144" cy="658368"/>
          </a:xfrm>
          <a:prstGeom prst="line">
            <a:avLst/>
          </a:prstGeom>
          <a:noFill/>
          <a:ln w="190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28600" y="2377440"/>
            <a:ext cx="548640" cy="548640"/>
          </a:xfrm>
          <a:prstGeom prst="ellipse">
            <a:avLst/>
          </a:prstGeom>
          <a:solidFill>
            <a:srgbClr val="02A0B0"/>
          </a:solidFill>
          <a:ln w="12700">
            <a:solidFill>
              <a:srgbClr val="02A0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14" name="Shape 12"/>
          <p:cNvSpPr/>
          <p:nvPr/>
        </p:nvSpPr>
        <p:spPr>
          <a:xfrm>
            <a:off x="841248" y="2249424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2249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Callback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41248" y="2596896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265176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fires  (every turn)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944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session.state["store_name"] and today's date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to system_instruction: "[Context — Today: 2026-09-29 | Store: DreamHaus]"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926080"/>
            <a:ext cx="9144" cy="658368"/>
          </a:xfrm>
          <a:prstGeom prst="line">
            <a:avLst/>
          </a:prstGeom>
          <a:noFill/>
          <a:ln w="190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3767328"/>
            <a:ext cx="548640" cy="548640"/>
          </a:xfrm>
          <a:prstGeom prst="ellipse">
            <a:avLst/>
          </a:prstGeom>
          <a:solidFill>
            <a:srgbClr val="D060A8"/>
          </a:solidFill>
          <a:ln w="12700">
            <a:solidFill>
              <a:srgbClr val="D060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860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841248" y="3639312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D06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41248" y="3986784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model called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334256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modified system_instruction + conversation history + tool_declarations + transfer_to_merchandising_agent (ADK auto-adds)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function_call  OR  transfer_to_merchandising_agent  OR  text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4974336"/>
            <a:ext cx="11448288" cy="292608"/>
          </a:xfrm>
          <a:prstGeom prst="roundRect">
            <a:avLst>
              <a:gd name="adj" fmla="val 18750"/>
            </a:avLst>
          </a:prstGeom>
          <a:solidFill>
            <a:srgbClr val="1A2A40"/>
          </a:solidFill>
          <a:ln w="25400">
            <a:solidFill>
              <a:srgbClr val="3A5A7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2336" y="4974336"/>
            <a:ext cx="11375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decision  ▸  Branch A: business tool  OR  Branch B: transfer to MerchandisingAgent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40096"/>
            <a:ext cx="5303520" cy="1280160"/>
          </a:xfrm>
          <a:prstGeom prst="roundRect">
            <a:avLst>
              <a:gd name="adj" fmla="val 7143"/>
            </a:avLst>
          </a:prstGeom>
          <a:solidFill>
            <a:srgbClr val="1A084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5394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 — Business Tool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687568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before_tool_callback checks 4 gates first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executes → after_tool_callback: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caches result in session.state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trims arrays &gt; 20 rows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5669280" cy="1280160"/>
          </a:xfrm>
          <a:prstGeom prst="roundRect">
            <a:avLst>
              <a:gd name="adj" fmla="val 7143"/>
            </a:avLst>
          </a:prstGeom>
          <a:solidFill>
            <a:srgbClr val="04182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54496" y="5394960"/>
            <a:ext cx="5376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B — MerchandisingAgent (sub-agent)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254496" y="5687568"/>
            <a:ext cx="53766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injects context again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call → classify → enrich → seo/geo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lookup → stage → after_tool_callback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returned to Orchestrator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4334256"/>
            <a:ext cx="9144" cy="640080"/>
          </a:xfrm>
          <a:prstGeom prst="line">
            <a:avLst/>
          </a:prstGeom>
          <a:noFill/>
          <a:ln w="190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28600" y="6784848"/>
            <a:ext cx="548640" cy="548640"/>
          </a:xfrm>
          <a:prstGeom prst="ellipse">
            <a:avLst/>
          </a:prstGeom>
          <a:solidFill>
            <a:srgbClr val="E07030"/>
          </a:solidFill>
          <a:ln w="12700">
            <a:solidFill>
              <a:srgbClr val="E0703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28600" y="6784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60" dirty="0"/>
          </a:p>
        </p:txBody>
      </p:sp>
      <p:sp>
        <p:nvSpPr>
          <p:cNvPr id="38" name="Shape 36"/>
          <p:cNvSpPr/>
          <p:nvPr/>
        </p:nvSpPr>
        <p:spPr>
          <a:xfrm>
            <a:off x="502920" y="6601968"/>
            <a:ext cx="9144" cy="109728"/>
          </a:xfrm>
          <a:prstGeom prst="line">
            <a:avLst/>
          </a:prstGeom>
          <a:noFill/>
          <a:ln w="190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41248" y="6766560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248" y="67665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41248" y="7114032"/>
            <a:ext cx="10972800" cy="713232"/>
          </a:xfrm>
          <a:prstGeom prst="roundRect">
            <a:avLst>
              <a:gd name="adj" fmla="val 10256"/>
            </a:avLst>
          </a:prstGeom>
          <a:solidFill>
            <a:srgbClr val="0E1E34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7552" y="7168896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generates final text → streamed back as SSE events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742492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text_delta  ·  tool_call  ·  tool_result  ·  turn_complete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AssistantPanel renders text + change_preview cards in real time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73152"/>
            <a:ext cx="1161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ADK — 3-Path Enterprise Structure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493776"/>
            <a:ext cx="1161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paths matching Anthropic's SDK structure · all share the same SFCC backend and tool set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786384"/>
            <a:ext cx="3529584" cy="694944"/>
          </a:xfrm>
          <a:prstGeom prst="roundRect">
            <a:avLst>
              <a:gd name="adj" fmla="val 13158"/>
            </a:avLst>
          </a:prstGeom>
          <a:solidFill>
            <a:srgbClr val="071830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804672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106070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google.genai Client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298448"/>
            <a:ext cx="3529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8007  ·  self-hosted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51790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071830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" y="15179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Claude Messages API (runtime-messages-api/)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" y="179222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0A162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79222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examples/gemini/runtime-genai/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" y="2066544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24942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71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224942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orchestrator.py  — manual while-loop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2374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71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" y="252374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gates.py  — 4 explicit safety gates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9806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71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7472" y="279806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  — FastAPI (same endpoints)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" y="31089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" y="3310128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Developer owns every API call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657600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Manual tool dispatch + history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4005072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gates checked before each tool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" y="4352544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Provenance tracking in GenAISession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02336" y="4700016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google.genai.Client (no ADK)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41648" y="786384"/>
            <a:ext cx="3529584" cy="694944"/>
          </a:xfrm>
          <a:prstGeom prst="roundRect">
            <a:avLst>
              <a:gd name="adj" fmla="val 13158"/>
            </a:avLst>
          </a:prstGeom>
          <a:solidFill>
            <a:srgbClr val="18083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41648" y="804672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804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106070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Agent + Runner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41648" y="1298448"/>
            <a:ext cx="3529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8006  ·  Railway (PRODUCTION ★)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041648" y="151790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18083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14800" y="15179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Claude Agent SDK (runtime-agent-sdk/)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041648" y="179222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0A162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4800" y="179222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examples/gemini/api/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096512" y="2066544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041648" y="224942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180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114800" y="224942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agent.py  — Agent + Runner + callbacks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041648" y="252374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180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0" y="252374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tools.py  — 21 tools incl. run_analysis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041648" y="279806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18083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114800" y="279806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  — FastAPI + /briefing endpoint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4096512" y="31089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169664" y="3310128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before_tool_callback: 4 gates auto-enforced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69664" y="3657600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before_model_callback: date + store inject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169664" y="4005072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after_tool_callback: provenance + cache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169664" y="4352544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sub_agents=[MerchandisingAgent]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169664" y="4700016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session.state via VertexAiSessionService*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808976" y="786384"/>
            <a:ext cx="3529584" cy="694944"/>
          </a:xfrm>
          <a:prstGeom prst="roundRect">
            <a:avLst>
              <a:gd name="adj" fmla="val 13158"/>
            </a:avLst>
          </a:prstGeom>
          <a:solidFill>
            <a:srgbClr val="022714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808976" y="804672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3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808976" y="106070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Agent Engine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08976" y="1298448"/>
            <a:ext cx="3529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 ·  fully managed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808976" y="151790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022714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82128" y="15179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 Claude Managed Agents (managed-agents/)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08976" y="1792224"/>
            <a:ext cx="3529584" cy="237744"/>
          </a:xfrm>
          <a:prstGeom prst="roundRect">
            <a:avLst>
              <a:gd name="adj" fmla="val 19231"/>
            </a:avLst>
          </a:prstGeom>
          <a:solidFill>
            <a:srgbClr val="0A1620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82128" y="179222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examples/gemini/agent-engine/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2066544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08976" y="224942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22714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82128" y="224942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— AdkApp wrapper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08976" y="252374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22714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882128" y="252374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deploy.py  — CLI deployment script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08976" y="2798064"/>
            <a:ext cx="3529584" cy="237744"/>
          </a:xfrm>
          <a:prstGeom prst="roundRect">
            <a:avLst>
              <a:gd name="adj" fmla="val 15385"/>
            </a:avLst>
          </a:prstGeom>
          <a:solidFill>
            <a:srgbClr val="022714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882128" y="2798064"/>
            <a:ext cx="3401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B0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session_service.py  — SQLite fallback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863840" y="3108960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7936992" y="3310128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AdkApp wraps the ADK agent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936992" y="3657600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ReasoningEngine.create() deploys to GCP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7936992" y="4005072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VertexAiSessionService: persistent + scalable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936992" y="4352544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SQLiteSessionService for local/self-hosted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936992" y="4700016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python deploy.py --project ... deploys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74320" y="6400800"/>
            <a:ext cx="11612880" cy="329184"/>
          </a:xfrm>
          <a:prstGeom prst="roundRect">
            <a:avLst>
              <a:gd name="adj" fmla="val 22222"/>
            </a:avLst>
          </a:prstGeom>
          <a:solidFill>
            <a:srgbClr val="0A1A2A"/>
          </a:solidFill>
          <a:ln w="25400">
            <a:solidFill>
              <a:srgbClr val="4A607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02336" y="6400800"/>
            <a:ext cx="11356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 ·  examples/gemini/skills/ (4 SKILL.md flows)  ·  api/tools.py (21 tools)  ·  SFCC backend  ·  Wikidata / Google KG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274320" y="6748272"/>
            <a:ext cx="1161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VertexAiSessionService used when GOOGLE_CLOUD_PROJECT is set; falls back to InMemorySessionService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73152"/>
            <a:ext cx="1161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3-Path Comparison: Claude vs Gemini ADK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493776"/>
            <a:ext cx="1161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is one path — how Claude's implementation maps to the Google ADK equivalent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651760" y="749808"/>
            <a:ext cx="4297680" cy="402336"/>
          </a:xfrm>
          <a:prstGeom prst="roundRect">
            <a:avLst>
              <a:gd name="adj" fmla="val 18182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651760" y="74980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6B4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14032" y="749808"/>
            <a:ext cx="4773168" cy="402336"/>
          </a:xfrm>
          <a:prstGeom prst="roundRect">
            <a:avLst>
              <a:gd name="adj" fmla="val 18182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14032" y="749808"/>
            <a:ext cx="4773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7498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07008"/>
            <a:ext cx="2286000" cy="1737360"/>
          </a:xfrm>
          <a:prstGeom prst="roundRect">
            <a:avLst>
              <a:gd name="adj" fmla="val 3684"/>
            </a:avLst>
          </a:prstGeom>
          <a:solidFill>
            <a:srgbClr val="0A1620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" y="1207008"/>
            <a:ext cx="2176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1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API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51760" y="1207008"/>
            <a:ext cx="4297680" cy="1737360"/>
          </a:xfrm>
          <a:prstGeom prst="roundRect">
            <a:avLst>
              <a:gd name="adj" fmla="val 3684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1207008"/>
            <a:ext cx="4297680" cy="237744"/>
          </a:xfrm>
          <a:prstGeom prst="roundRect">
            <a:avLst>
              <a:gd name="adj" fmla="val 2692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24912" y="1207008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B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runtime-messages-api/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2724912" y="1463040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AsyncAnthropic — raw SDK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724912" y="1700784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Manual tool loop (EagerDispatcher)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724912" y="1938528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gates in gates.py (code-level)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24912" y="2176272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Cache breakpoints per turn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724912" y="241401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Delegate extensions (run_analysis)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724912" y="2651760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Memory extraction after reply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114032" y="1207008"/>
            <a:ext cx="4773168" cy="1737360"/>
          </a:xfrm>
          <a:prstGeom prst="roundRect">
            <a:avLst>
              <a:gd name="adj" fmla="val 3684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1207008"/>
            <a:ext cx="4773168" cy="237744"/>
          </a:xfrm>
          <a:prstGeom prst="roundRect">
            <a:avLst>
              <a:gd name="adj" fmla="val 26923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87184" y="1207008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runtime-genai/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187184" y="1463040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google.genai.Client — raw SDK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187184" y="1700784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Manual while-loop (orchestrator.py)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187184" y="1938528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gates in gates.py (code-level)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187184" y="2176272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Full message history in GenAISession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87184" y="2414016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run_analysis tool (Gemini sub-call)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187184" y="2651760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Provenance tracking per session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999232"/>
            <a:ext cx="2286000" cy="1737360"/>
          </a:xfrm>
          <a:prstGeom prst="roundRect">
            <a:avLst>
              <a:gd name="adj" fmla="val 3684"/>
            </a:avLst>
          </a:prstGeom>
          <a:solidFill>
            <a:srgbClr val="0D1E2C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9184" y="2999232"/>
            <a:ext cx="2176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804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2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804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651760" y="2999232"/>
            <a:ext cx="4297680" cy="1737360"/>
          </a:xfrm>
          <a:prstGeom prst="roundRect">
            <a:avLst>
              <a:gd name="adj" fmla="val 3684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51760" y="2999232"/>
            <a:ext cx="4297680" cy="237744"/>
          </a:xfrm>
          <a:prstGeom prst="roundRect">
            <a:avLst>
              <a:gd name="adj" fmla="val 2692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24912" y="2999232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B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runtime-agent-sdk/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2724912" y="3255264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ClaudeAgentOptions — SDK loop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724912" y="3493008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6 skills (SKILL.md per domain)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724912" y="3730752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run_analysis delegate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724912" y="396849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MemoryFact cross-session persistence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724912" y="4206240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Presentation tool calls (ui events)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2724912" y="4443984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Prompt caching (static + dynamic)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114032" y="2999232"/>
            <a:ext cx="4773168" cy="1737360"/>
          </a:xfrm>
          <a:prstGeom prst="roundRect">
            <a:avLst>
              <a:gd name="adj" fmla="val 3684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14032" y="2999232"/>
            <a:ext cx="4773168" cy="237744"/>
          </a:xfrm>
          <a:prstGeom prst="roundRect">
            <a:avLst>
              <a:gd name="adj" fmla="val 26923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87184" y="2999232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  ★ PRODUCTION (Railway)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7187184" y="3255264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ADK Agent + Runner framework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187184" y="3493008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skills (SKILL.md loaded from files)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187184" y="3730752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run_analysis tool (JSON mode Gemini)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187184" y="3968496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session.state (VertexAiSessionService*)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7187184" y="4206240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SSE events (text_delta / tool_call)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187184" y="4443984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before/after callbacks (no boilerplate)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4791456"/>
            <a:ext cx="2286000" cy="1737360"/>
          </a:xfrm>
          <a:prstGeom prst="roundRect">
            <a:avLst>
              <a:gd name="adj" fmla="val 3684"/>
            </a:avLst>
          </a:prstGeom>
          <a:solidFill>
            <a:srgbClr val="0A1620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9184" y="4791456"/>
            <a:ext cx="2176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3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51760" y="4791456"/>
            <a:ext cx="4297680" cy="1737360"/>
          </a:xfrm>
          <a:prstGeom prst="roundRect">
            <a:avLst>
              <a:gd name="adj" fmla="val 3684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51760" y="4791456"/>
            <a:ext cx="4297680" cy="237744"/>
          </a:xfrm>
          <a:prstGeom prst="roundRect">
            <a:avLst>
              <a:gd name="adj" fmla="val 2692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724912" y="4791456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B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managed-agents/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2724912" y="5047488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agent.yaml declarative manifest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724912" y="5285232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system.md auto-derived from code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2724912" y="5522976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Skills uploaded via Skills API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2724912" y="5760720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MCP server for tool exposure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724912" y="5998464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Anthropic-hosted infrastructure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724912" y="6236208"/>
            <a:ext cx="415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B0A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Vault-stored credentials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14032" y="4791456"/>
            <a:ext cx="4773168" cy="1737360"/>
          </a:xfrm>
          <a:prstGeom prst="roundRect">
            <a:avLst>
              <a:gd name="adj" fmla="val 3684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14032" y="4791456"/>
            <a:ext cx="4773168" cy="237744"/>
          </a:xfrm>
          <a:prstGeom prst="roundRect">
            <a:avLst>
              <a:gd name="adj" fmla="val 26923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187184" y="4791456"/>
            <a:ext cx="4626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agent-engine/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7187184" y="5047488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AdkApp + deploy.py CLI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7187184" y="5285232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Agent instruction from _build_agent()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187184" y="5522976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Skills loaded at runtime from files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187184" y="5760720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google.genai tools (no separate server)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7187184" y="5998464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Vertex AI Agent Engine (GCP-hosted)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7187184" y="6236208"/>
            <a:ext cx="4626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80B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SQLiteSessionService for local dev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274320" y="6656832"/>
            <a:ext cx="1161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PRODUCTION = currently deployed and live on Railway  ·  * VertexAiSessionService when GOOGLE_CLOUD_PROJECT is set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9144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ADK vs Claude — Feature Comparison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06624" y="566928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06624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6B4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Merchant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14032" y="566928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14032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ADK Agent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9184" y="566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1097280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1097280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06624" y="1097280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9776" y="109728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SDK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paths: Messages API · Agent SDK · Managed Agents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114032" y="1097280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87184" y="109728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 v2.10.0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paths: genai Client · Runner · Agent Engine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9184" y="1636776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" y="163677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06624" y="1636776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79776" y="1636776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4.5 / Opus 4 / Haiku 4.5 — swappable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114032" y="1636776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87184" y="1636776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(gemini-2.0-flash) — same for both agents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9184" y="2176272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" y="21762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06624" y="2176272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79776" y="217627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cached prompt + fenced data block per turn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bytes = cache hit every call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14032" y="2176272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87184" y="217627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injects date + store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hook — fires automatically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114032" y="2176272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14032" y="2176272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9184" y="2715768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271576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06624" y="2715768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79776" y="2715768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MerchantSessionState per-request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fence per session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MemoryFact cross-session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114032" y="2715768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87184" y="2715768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InMemorySessionService → VertexAiSessionService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 persists across turns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prime_session() pre-fills at login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14032" y="2715768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14032" y="2715768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9184" y="3255264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84048" y="3255264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06624" y="3255264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779776" y="325526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AgentTool (explicit declaration)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Agents (hosted)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wires routing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114032" y="3255264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187184" y="325526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sub_agents=[merch_agent]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auto-creates transfer tool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boilerplate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14032" y="3255264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114032" y="3255264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29184" y="3794760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84048" y="3794760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706624" y="3794760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779776" y="379476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hard gates in gates.py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options · guardrail · approval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blocked without host approval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06624" y="3794760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706624" y="379476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114032" y="3794760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187184" y="379476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gates via before_tool_callback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 logic — framework-enforced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approve_change tool records approval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29184" y="4334256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4048" y="4334256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Flows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06624" y="4334256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779776" y="4334256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skills (SKILL.md per role)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inventory · pricing · marketing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· merchandising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706624" y="4334256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706624" y="4334256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114032" y="4334256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187184" y="4334256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SKILL.md files loaded at startup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inventory · merchandising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performance-insights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29184" y="4873752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84048" y="487375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2706624" y="4873752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79776" y="48737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run_analysis delegate (analysis.py)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SQL-like queries · renders metrics card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706624" y="4873752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706624" y="4873752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114032" y="4873752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187184" y="48737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run_analysis tool (Gemini JSON call)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Prompt-driven metric derivation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29184" y="5413248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84048" y="541324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706624" y="5413248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779776" y="5413248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standard agent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114032" y="5413248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187184" y="5413248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Wikidata + Google KG integration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lookup_product_entities · classify uses KG IDs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7114032" y="5413248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114032" y="5413248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329184" y="5952744"/>
            <a:ext cx="228600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84048" y="5952744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706624" y="5952744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779776" y="595274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MemoryFact across sessions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fenced data block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706624" y="5952744"/>
            <a:ext cx="182880" cy="502920"/>
          </a:xfrm>
          <a:prstGeom prst="roundRect">
            <a:avLst>
              <a:gd name="adj" fmla="val 20000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2706624" y="5952744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7114032" y="5952744"/>
            <a:ext cx="4206240" cy="502920"/>
          </a:xfrm>
          <a:prstGeom prst="roundRect">
            <a:avLst>
              <a:gd name="adj" fmla="val 7273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187184" y="5952744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session.state: within session</a:t>
            </a:r>
            <a:endParaRPr lang="en-US" sz="8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 briefing cache (in-process)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329184" y="6711696"/>
            <a:ext cx="11484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advantage in this dimension  ·  Claude: gates/skills/analysis/memory  ·  Gemini ADK: callbacks/session state/sub-agents/Knowledge Graph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9144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Choose Each Approach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do the same job — choose by which trade-offs match your deployment context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29184" y="841248"/>
            <a:ext cx="5486400" cy="5321808"/>
          </a:xfrm>
          <a:prstGeom prst="roundRect">
            <a:avLst>
              <a:gd name="adj" fmla="val 2062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" y="8595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Claude when…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" y="1335024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89888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safety is non-negotiable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64208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framework-enforced gates (provenance, options,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guardrail, approval) block invalid writes in code.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" y="2267712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22576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skill flows required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9689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SKILL.md-defined flows per role — auditable,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business logic separate from the prompt.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3200400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55264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analysis is required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29584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run_analysis delegate computes trend segments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cross-metric correlations, renders metrics cards.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4133088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8795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memory matters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462272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MemoryFact objects persist facts across logins,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each session's fenced data block.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" y="5065776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120640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ecosystem (MCP / Claude Code)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39496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MCP server, Claude Code plugin, Managed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hosted on Anthropic infrastructure.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64224" y="841248"/>
            <a:ext cx="5486400" cy="5321808"/>
          </a:xfrm>
          <a:prstGeom prst="roundRect">
            <a:avLst>
              <a:gd name="adj" fmla="val 2062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64224" y="8595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Gemini ADK when…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10528" y="1335024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1389888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Framework-managed session state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1664208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InMemorySessionService / VertexAiSessionService —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state across turns without manual plumbing.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10528" y="2267712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2322576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 should be automatic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259689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sub_agents=[] and ADK generates the transfer tool;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boilerplate routing code to write or maintain.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10528" y="3200400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255264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cross-cutting concerns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3529584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callbacks run on every agent in the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— write once, applies everywhere.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10528" y="4133088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0" y="418795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grounding is needed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4462272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classify_product_ontology + lookup_product_entities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Wikidata + Google KG for fact-grounded copy.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10528" y="5065776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0" y="5120640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/ Vertex AI ecosystem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39496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integrates with Vertex AI, Agent Engine, Cloud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Run, and Google's broader agent tooling roadmap.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9184" y="6254496"/>
            <a:ext cx="11521440" cy="438912"/>
          </a:xfrm>
          <a:prstGeom prst="roundRect">
            <a:avLst>
              <a:gd name="adj" fmla="val 16667"/>
            </a:avLst>
          </a:prstGeom>
          <a:solidFill>
            <a:srgbClr val="0E1E2C"/>
          </a:solidFill>
          <a:ln w="25400">
            <a:solidFill>
              <a:srgbClr val="3A607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5488" y="6254496"/>
            <a:ext cx="11228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Both share the same SFCC backend, tool functions, and staging contract. A platform swap is a dependency swap + prompt rewrite — not a ground-up rebuild.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2026-09-29T05:18:10Z</dcterms:created>
  <dcterms:modified xsi:type="dcterms:W3CDTF">2026-09-29T05:18:10Z</dcterms:modified>
</cp:coreProperties>
</file>