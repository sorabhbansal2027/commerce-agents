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Key hook: this is NOT a chatbot — it is a transactional AI agent that reads and writes to a live Salesforce B2B Commerce 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stats frame the scale of the problem. The quotes are representative of what you hear from B2B Commerce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panel: agent capabilities. Right panel: use this as your demo script. Type the buyer lines verbatim and the agent responds in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handles the #1 objection: "we already have a chatbot." Three differentiators separate a demo toy from enterprise software: live writes, provenance gate, entitlement enforcement.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never speaks to Salesforce directly — it calls the StorefrontBackend interface. Swapping Salesforce for SAP means implementing one Python class. Everything above the platform layer is reused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100-person procurement team: recovering 28 min per task per day = ~$1.4M/year at $50/hr. Tailor the savings number to the client's org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hardware is live today. All other verticals reuse the same agent, LWC, and architecture — only the backend adapter changes. First client pays for the build; subsequent clients deploy in 2-4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asset is an engagement accelerator — it justifies a services sale. The first client pays for deployment; every subsequent client gets a 6-week deployment path instead of 6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The 10-minute live demo is the fastest path to a next conversation — prioritize getting in a room with a client and running it live rather than presenting more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7F5F"/>
          </a:solidFill>
          <a:ln w="12700">
            <a:solidFill>
              <a:srgbClr val="D97F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&amp; BUSINESS CASE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B2B Commerce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Salesforce + Claude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30-minute procurement tasks into 2-minute conversations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407408"/>
            <a:ext cx="8229600" cy="1828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Salesforce Practice  · 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2011680" cy="2468880"/>
          </a:xfrm>
          <a:prstGeom prst="roundRect">
            <a:avLst>
              <a:gd name="adj" fmla="val 5455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$25T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B2B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926080"/>
            <a:ext cx="1737360" cy="9144"/>
          </a:xfrm>
          <a:prstGeom prst="rect">
            <a:avLst/>
          </a:prstGeom>
          <a:solidFill>
            <a:srgbClr val="334466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150K+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Procurement Portals Are Broken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286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7472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286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task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0936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1–3%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errors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73152" cy="1828800"/>
          </a:xfrm>
          <a:prstGeom prst="rect">
            <a:avLst/>
          </a:prstGeom>
          <a:solidFill>
            <a:srgbClr val="D97F5F"/>
          </a:solidFill>
          <a:ln w="12700">
            <a:solidFill>
              <a:srgbClr val="D97F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200400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buyers call reps instead of using the portal — it's too hard to navigate."  —  B2B Commerce Platform Owner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12464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spent $2M on Salesforce B2B Commerce. Portal adoption is 40%."  —  CIO, Post-Implementation Review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224528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"30% of orders have wrong SKUs. We catch it at fulfilment."  —  Procurement Operations Lead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Procurement Agent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739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live catalog using natural language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2402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768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view items in a real Salesforce cart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743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797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products side-by-side with pros/cons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246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826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order status from Salesforce OMS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749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856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buyer entitlement automatically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51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2885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checkout and trigger approval workflows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17720" y="1097280"/>
            <a:ext cx="4069080" cy="3794760"/>
          </a:xfrm>
          <a:prstGeom prst="roundRect">
            <a:avLst>
              <a:gd name="adj" fmla="val 2892"/>
            </a:avLst>
          </a:prstGeom>
          <a:solidFill>
            <a:srgbClr val="1E2C4F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Conversation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73168" y="1700784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01184" y="1764792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"Equip 10 engineers — laptops, monitors, keyboards, mice."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2194560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103820"/>
          </a:solidFill>
          <a:ln w="12700">
            <a:solidFill>
              <a:srgbClr val="1A5A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01184" y="2258568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Searched catalog. Showing 4 bundles under $2K/person.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2688336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01184" y="2752344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the top two workstations for ML workloads."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3182112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103820"/>
          </a:solidFill>
          <a:ln w="12700">
            <a:solidFill>
              <a:srgbClr val="1A5A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01184" y="3246120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Side-by-side comparison. Recommends Model A for data work.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3675888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3739896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10 of Model A plus accessories."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4169664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103820"/>
          </a:solidFill>
          <a:ln w="12700">
            <a:solidFill>
              <a:srgbClr val="1A5A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01184" y="4233672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 updated: 30 items, $18,400. Checkout initiated.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30"/>
          </a:solidFill>
          <a:ln w="12700">
            <a:solidFill>
              <a:srgbClr val="0F1A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NOT JUST A CHATBOT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make this enterprise-grade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401568"/>
          </a:xfrm>
          <a:prstGeom prst="roundRect">
            <a:avLst>
              <a:gd name="adj" fmla="val 4912"/>
            </a:avLst>
          </a:prstGeom>
          <a:solidFill>
            <a:srgbClr val="1624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Writes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RAG over a PDF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2286000" cy="13716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0F1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90672"/>
            <a:ext cx="22860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AND writes to a real Salesforce B2B Commerce org. The order placed in your demo is a real Salesforce order — not a mock, not a simulation.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06040" cy="3401568"/>
          </a:xfrm>
          <a:prstGeom prst="roundRect">
            <a:avLst>
              <a:gd name="adj" fmla="val 4912"/>
            </a:avLst>
          </a:prstGeom>
          <a:solidFill>
            <a:srgbClr val="14301F"/>
          </a:solidFill>
          <a:ln w="12700">
            <a:solidFill>
              <a:srgbClr val="1A7C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Gate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hallucinated 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999232"/>
            <a:ext cx="2286000" cy="13716"/>
          </a:xfrm>
          <a:prstGeom prst="rect">
            <a:avLst/>
          </a:prstGeom>
          <a:solidFill>
            <a:srgbClr val="1A7C52">
              <a:alpha val="40000"/>
            </a:srgbClr>
          </a:solidFill>
          <a:ln w="12700">
            <a:solidFill>
              <a:srgbClr val="0F1A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090672"/>
            <a:ext cx="22860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cart write is validated server-side against products the agent actually searched this session. It cannot hallucinate a product into the cart.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06040" cy="3401568"/>
          </a:xfrm>
          <a:prstGeom prst="roundRect">
            <a:avLst>
              <a:gd name="adj" fmla="val 4912"/>
            </a:avLst>
          </a:prstGeom>
          <a:solidFill>
            <a:srgbClr val="2D2018"/>
          </a:solidFill>
          <a:ln w="12700">
            <a:solidFill>
              <a:srgbClr val="D97F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212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Enforcement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policy in a prompt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999232"/>
            <a:ext cx="2286000" cy="13716"/>
          </a:xfrm>
          <a:prstGeom prst="rect">
            <a:avLst/>
          </a:prstGeom>
          <a:solidFill>
            <a:srgbClr val="D97F5F">
              <a:alpha val="40000"/>
            </a:srgbClr>
          </a:solidFill>
          <a:ln w="12700">
            <a:solidFill>
              <a:srgbClr val="0F1A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090672"/>
            <a:ext cx="22860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entitlement is enforced in code — the agent only surfaces products the buyer is contractually allowed to purchase. Compliance is structural, not behavioral.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System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DDEAFF"/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7043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26464" y="1069848"/>
            <a:ext cx="9144" cy="411480"/>
          </a:xfrm>
          <a:prstGeom prst="rect">
            <a:avLst/>
          </a:prstGeom>
          <a:solidFill>
            <a:srgbClr val="AABBDD"/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1078992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64208" y="11521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Salesforce LWC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04488" y="1078992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95928" y="11521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Storefront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6208" y="1078992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1521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/ API Client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158191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SSE stream  ·  REST JSON  ·  ui events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728216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EDE8FF"/>
          </a:solidFill>
          <a:ln w="12700">
            <a:solidFill>
              <a:srgbClr val="B8A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191109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26464" y="1810512"/>
            <a:ext cx="9144" cy="411480"/>
          </a:xfrm>
          <a:prstGeom prst="rect">
            <a:avLst/>
          </a:prstGeom>
          <a:solidFill>
            <a:srgbClr val="B8A8E8"/>
          </a:solidFill>
          <a:ln w="12700">
            <a:solidFill>
              <a:srgbClr val="B8A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1819656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B8A8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64208" y="189280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(claude-sonnet-5)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04488" y="1819656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B8A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95928" y="189280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Skills (5 flows)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6208" y="1819656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B8A8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189280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Provenance Gate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232257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tool calls  ·  structured payloads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D8F0E6"/>
          </a:solidFill>
          <a:ln w="12700">
            <a:solidFill>
              <a:srgbClr val="A0CC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26517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26464" y="2551176"/>
            <a:ext cx="9144" cy="411480"/>
          </a:xfrm>
          <a:prstGeom prst="rect">
            <a:avLst/>
          </a:prstGeom>
          <a:solidFill>
            <a:srgbClr val="A0CCA8"/>
          </a:solidFill>
          <a:ln w="12700">
            <a:solidFill>
              <a:srgbClr val="A0CC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72768" y="2560320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A0CC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64208" y="263347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FastAPI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04488" y="2560320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A0CC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95928" y="263347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StorefrontBackend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36208" y="2560320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A0CC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263347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Memory Store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572768" y="306324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REST  ·  SOQL  ·  OAuth 2.0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209544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E8D0"/>
          </a:solidFill>
          <a:ln w="12700">
            <a:solidFill>
              <a:srgbClr val="DDB88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339242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426464" y="3291840"/>
            <a:ext cx="9144" cy="411480"/>
          </a:xfrm>
          <a:prstGeom prst="rect">
            <a:avLst/>
          </a:prstGeom>
          <a:solidFill>
            <a:srgbClr val="DDB888"/>
          </a:solidFill>
          <a:ln w="12700">
            <a:solidFill>
              <a:srgbClr val="DDB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72768" y="3300984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DDB88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64208" y="337413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Salesforce B2B Commerce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04488" y="3300984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DDB88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95928" y="337413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Salesforce OMS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36208" y="3300984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DDB88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27648" y="337413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SAP / Oracle / Custom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572768" y="380390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SOQL object model  ·  entitlement filter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3950208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D8D8"/>
          </a:solidFill>
          <a:ln w="12700">
            <a:solidFill>
              <a:srgbClr val="DDA0A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360" y="413308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426464" y="4032504"/>
            <a:ext cx="9144" cy="411480"/>
          </a:xfrm>
          <a:prstGeom prst="rect">
            <a:avLst/>
          </a:prstGeom>
          <a:solidFill>
            <a:srgbClr val="DDA0A0"/>
          </a:solidFill>
          <a:ln w="12700">
            <a:solidFill>
              <a:srgbClr val="DDA0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72768" y="4041648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DDA0A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664208" y="411480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Product Catalog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904488" y="4041648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DDA0A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95928" y="411480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Entitlement Rules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36208" y="4041648"/>
            <a:ext cx="2176272" cy="393192"/>
          </a:xfrm>
          <a:prstGeom prst="roundRect">
            <a:avLst>
              <a:gd name="adj" fmla="val 13953"/>
            </a:avLst>
          </a:prstGeom>
          <a:solidFill>
            <a:srgbClr val="FFFFFF">
              <a:alpha val="55000"/>
            </a:srgbClr>
          </a:solidFill>
          <a:ln w="12700">
            <a:solidFill>
              <a:srgbClr val="DDA0A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27648" y="411480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Cart &amp; Orders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Return on Investment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task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32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→ 2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$500K+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11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 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spend org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432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1% order error reduction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2801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011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Off-contract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4323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enforced in code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886200" cy="1947672"/>
          </a:xfrm>
          <a:prstGeom prst="roundRect">
            <a:avLst>
              <a:gd name="adj" fmla="val 4695"/>
            </a:avLst>
          </a:prstGeom>
          <a:solidFill>
            <a:srgbClr val="180808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375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 into portal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210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Navigate 4 categories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044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Search &amp; filter manually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1879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Check budget in spreadsheet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71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 items one by one  →  30 min total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926080"/>
            <a:ext cx="4114800" cy="1947672"/>
          </a:xfrm>
          <a:prstGeom prst="roundRect">
            <a:avLst>
              <a:gd name="adj" fmla="val 4695"/>
            </a:avLst>
          </a:prstGeom>
          <a:solidFill>
            <a:srgbClr val="071808"/>
          </a:solidFill>
          <a:ln w="12700">
            <a:solidFill>
              <a:srgbClr val="1A7C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"Equip 10 engineers — laptops, monitors, keyboards"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recommends bundles + validates budget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0325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"Add all to cart"  →  done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4379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Checkout triggers approval workflow  →  2 min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Asset. Five Verticals. Any Commerce Platform.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2606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43584"/>
            <a:ext cx="493776" cy="49377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71016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12848" y="1325880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13441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28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Hardware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Laptops, servers, networking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64408" y="1078992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078992"/>
            <a:ext cx="2606040" cy="6400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1243584"/>
            <a:ext cx="493776" cy="493776"/>
          </a:xfrm>
          <a:prstGeom prst="ellipse">
            <a:avLst/>
          </a:prstGeom>
          <a:solidFill>
            <a:srgbClr val="FFE4CC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1271016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0056" y="1325880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0056" y="13441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1828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 / Industrial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447288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Parts, tools, consumables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71616" y="1078992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078992"/>
            <a:ext cx="2606040" cy="64008"/>
          </a:xfrm>
          <a:prstGeom prst="rect">
            <a:avLst/>
          </a:prstGeom>
          <a:solidFill>
            <a:srgbClr val="1A7C52"/>
          </a:solidFill>
          <a:ln w="12700">
            <a:solidFill>
              <a:srgbClr val="1A7C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4496" y="1243584"/>
            <a:ext cx="493776" cy="493776"/>
          </a:xfrm>
          <a:prstGeom prst="ellipse">
            <a:avLst/>
          </a:prstGeom>
          <a:solidFill>
            <a:srgbClr val="D8F0E6"/>
          </a:solidFill>
          <a:ln w="12700">
            <a:solidFill>
              <a:srgbClr val="1A7C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54496" y="1271016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827264" y="1325880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1A7C52"/>
          </a:solidFill>
          <a:ln w="12700">
            <a:solidFill>
              <a:srgbClr val="1A7C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27264" y="13441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254496" y="1828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2194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supplies, equipment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07238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72384"/>
            <a:ext cx="2606040" cy="64008"/>
          </a:xfrm>
          <a:prstGeom prst="rect">
            <a:avLst/>
          </a:prstGeom>
          <a:solidFill>
            <a:srgbClr val="6C47B8"/>
          </a:solidFill>
          <a:ln w="12700">
            <a:solidFill>
              <a:srgbClr val="6C47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236976"/>
            <a:ext cx="493776" cy="493776"/>
          </a:xfrm>
          <a:prstGeom prst="ellipse">
            <a:avLst/>
          </a:prstGeom>
          <a:solidFill>
            <a:srgbClr val="EDE8FF"/>
          </a:solidFill>
          <a:ln w="12700">
            <a:solidFill>
              <a:srgbClr val="6C47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264408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212848" y="3319272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6C47B8"/>
          </a:solidFill>
          <a:ln w="12700">
            <a:solidFill>
              <a:srgbClr val="6C47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12848" y="333756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/ FM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187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Furniture, stationery, FM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64408" y="307238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64408" y="3072384"/>
            <a:ext cx="2606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47288" y="3236976"/>
            <a:ext cx="493776" cy="493776"/>
          </a:xfrm>
          <a:prstGeom prst="ellipse">
            <a:avLst/>
          </a:prstGeom>
          <a:solidFill>
            <a:srgbClr val="D0F0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47288" y="3264408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020056" y="3319272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20056" y="333756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FIT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3447288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3447288" y="41879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licenses, subscriptions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71616" y="307238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E2C4F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5449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interface.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6254496" y="3913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catalog.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in weeks.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254496" y="4498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asset. Multiple clients.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Position &amp; Deploy This Asset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3858768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 Signals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276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Active or evaluating Salesforce B2B Commerce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305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Procurement transformation / P2P initiative underway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334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"What is our AI roadmap?" from C-suite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363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Low portal adoption (&lt; 60%) or high rep-assisted orders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393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Vertical: IT, MRO, healthcare, office, financial services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422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Salesforce yet — backend swap needed (longer cycle)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627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Deploy LWC to Salesforce Experience Cloud (days)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9751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Configure backend against client Salesforce org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3225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Map catalog, entitlement, OMS schema (2–4 weeks)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70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Tune agent skills for client vocabulary &amp; policies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090672"/>
            <a:ext cx="4114800" cy="1819656"/>
          </a:xfrm>
          <a:prstGeom prst="roundRect">
            <a:avLst>
              <a:gd name="adj" fmla="val 6030"/>
            </a:avLst>
          </a:prstGeom>
          <a:solidFill>
            <a:srgbClr val="1E2C4F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3218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Asset shortens a 6-month build to 6 weeks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Accenture value: deployment &amp; integration services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242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Multi-client reuse — first client funds the build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553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Register in MyWizard / Accenture Asset Hub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C4F"/>
          </a:solidFill>
          <a:ln w="12700">
            <a:solidFill>
              <a:srgbClr val="1E2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7F5F"/>
          </a:solidFill>
          <a:ln w="12700">
            <a:solidFill>
              <a:srgbClr val="D97F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take this to a client?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728216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70432" y="1691640"/>
            <a:ext cx="13716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8448" y="16642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target account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9568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B2B Commerce client with active procurement initiative or low portal adoption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51460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70432" y="2478024"/>
            <a:ext cx="13716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98448" y="24505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10-minute live demo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7432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 on a real Salesforce org — no mock data, no slides. The demo closes the conversation.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0098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70432" y="3264408"/>
            <a:ext cx="13716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98448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engagement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5295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deployment: LWC setup + backend config + catalog mapping + agent skills tuning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D407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08736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70432" y="4050792"/>
            <a:ext cx="13716" cy="45720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98448" y="40233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asset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43159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MyWizard / Accenture Asset Hub for multi-project reuse and practice-level tracking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Claude  ·  Salesforce B2B Commerce  ·  FastAPI  ·  LWC  ·  Railway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2026-09-16T18:01:35Z</dcterms:created>
  <dcterms:modified xsi:type="dcterms:W3CDTF">2026-09-16T18:01:35Z</dcterms:modified>
</cp:coreProperties>
</file>