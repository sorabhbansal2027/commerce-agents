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Live demo URL shown. The demo uses BBW-style product fixtures (candles, body care, home fragrance, soaps).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core B2C content challenges addressed by the merchandising agent.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Current deployed architecture. Two Railway services: gemini-merchant-web (Next.js 15, port 3000) and gemini-merchant-api (FastAPI + uvicorn, port 8000). FastAPI hosts GeminiMerchantAgent (Google ADK), all merchandising tools, ChangeLedger (in-memory), and SFCCAdapter. No database required — BBW fixtures are Python dicts. Gemini calls use GEMINI_API_KEY (Google AI Studio). SFCC writes happen only on /apply. Compare to Production Reference Architecture which adds gateway, async queues, Redis, Postgres, CDN, and observability.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5-layer architecture: Presentation → API → Agent Tools → [Gemini AI | Ontology+Semantic] → Data. The fork at the bottom shows how agent tools call Gemini for generation AND the ontology layer for product lookup and vocabulary seeding.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Layer-by-layer breakdown. Key design principle: each layer has a single responsibility. The Agent Tools layer is the only place where Gemini prompts are assembled — it reads from the Ontology layer below and returns validated Pydantic models to the API layer above. Tools are dual-registered so the ADK chat agent and the REST API share the same logic.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Production reference architecture. Key differences from the demo: (1) API Gateway handles rate-limiting and routes sync vs async traffic; (2) Job Queue decouples bulk enrichment from the API thread — allows limit=500 without HTTP timeouts; (3) Event Bus auto-triggers enrichment when new products are published to SFCC; (4) Worker Pool auto-scales with demand; (5) Vector DB adds semantic similarity for ontology matching; (6) Three-tier storage (Redis hot / Postgres warm / CDN cold) means enriched content is never re-generated unless the source product changes; (7) Observability tracks Gemini cost per SKU and content quality scores.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Ontology layer: schema.py defines Pydantic models, taxonomy.py provides the B2C reference data (category taxonomy, fragrance profiles, geo occasion maps, benefit vocabulary). All feed into Gemini prompts.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schema.py. The two StrEnums (ProductCategory, FragranceFamily) constrain what Gemini returns — no hallucinated categories. SemanticAttribute.confidence (0.0–1.0) lets consumers filter high-confidence vs. AI-inferred attributes. MerchandisingResult is the master output: all 4 tools return a subset of its fields. staged_change_id links the AI output directly to the ChangeLedger audit trail — present only when auto_stage=True was passed.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taxonomy.py contains 5 reference dicts: CATEGORY_TAXONOMY (7 categories → subcategories), FRAGRANCE_PROFILES (7 families → notes/moods/occasions), GEO_OCCASION_MAP (5 regions × 4 seasons → occasion tags), BENEFIT_VOCABULARY (7 categories → approved benefit phrases), SEO_KEYWORD_TEMPLATES (7 categories → keyword templates with {fragrance}/{brand}/{style} placeholders). None of this is passed to the front end — it lives server-side and is injected into Gemini prompts at generation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ontology is not metadata — it is the prompt-engineering layer. Each tool does one taxonomy dict lookup (O(1) Python dict.get), then string-formats that data directly into the Gemini prompt. This is why BBW-style content requires no fine-tuning: the vocabulary and constraints come from the taxonomy dicts, not the model weights. Gemini temperature=0.4 keeps output deterministic enough to be auditable while still generating vivid, varied B2C copy. response_mime_type="application/json" guarantees structured output that maps directly to the Pydantic schema.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async tools in merchandising.py. Each calls Gemini with a structured JSON prompt, validates the response into Pydantic models, and returns a dict. All 4 are also registered in tools.py so the ADK chat agent can invoke them via conversation.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BBW-aligned use cases, one per product category. All use real BBW-style fixtures included in ontology/bbw_products.py.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Competitive gap analysis vs SFCC B2C Commerce OOTB (2025). Sources: Salesforce Agentforce Commerce GA announcement, Winter 2026 release notes, Einstein Copilot for Merchants documentation. Key finding: UC1 partial overlap (Agentforce Merchant Agent) is Beta for B2C SFRA, requires Einstein GPT cartridge, and has no human approval gate. UC2-UC5 have no SFCC equivalent. UC6 Agentforce Merchant is Winter 2026 beta only. The ChangeLedger audit trail is the structural differentiator across all 6 use cases.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 value add for all 6 use cases. Each card shows Before/After with a concrete business impact statement. Key headline numbers: UC1 80-90% time reduction; UC2 near-zero cost SEO at catalog scale; UC3 eliminates localisation agency fees; UC4 collapses 6-12 week taxonomy projects to minutes; UC5 ~100x throughput; UC6 democratizes AI to non-technical merchandisers.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Actual Gemini API output for BBW-C001 (Mahogany Teakwood Candle) from the live Railway deployment. Category=candles, 4 benefit bullets generated.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tech stack. Key Railway deployment details: NEXT_PUBLIC_API_URL must be in .env.local (Turbopack compile-time). Deploy with `railway up --detach --yes` — redeploy --from-source does not pull new code without GitHub integration.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UC1 full flow. 4 phases: Generate → Stage → Review &amp; Apply → Done. Key design: auto_stage=false on first call so merchant sees result before anything is written. Second call with auto_stage=true creates StagedChange. POST /apply calls apply_change() which does SFCC OCAPI PATCH. Value add: saves 15-30 min per product, human retains approval gate, full audit trail.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UC2–4 all share the same core pattern: ontology seeds Gemini prompt → JSON mode response → validate → return. The ontology layer is the key differentiator: without SEO_KEYWORD_TEMPLATES the SEO titles would be generic; without GEO_OCCASION_MAP the geo copy would be culturally flat; without ProductCategory enum Gemini could invent categories. Value adds: UC2 saves ~20 min per product SEO; UC3 saves localisation agency fees; UC4 enables real-time collection curation vs 6-12 week taxonomy projects.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UC5 Bulk: asyncio.gather in batches of 10 respects Gemini rate limits while achieving ~10× throughput. failed is counted but never fatal. UC6 Chat: ADK handles tool dispatch — the agent selects the right merchandising.py function from ALL_TOOLS descriptions. Same code path as REST so there is zero duplication. Value adds: UC5 enables overnight batch jobs; UC6 lets non-technical users run full workflows in plain English.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Choosing between them is a deployment topology question as much as a model question. Claude SDK: right when you need multiple deployment targets, granular approval flows, and a skills library across teams. Google ADK: right when you want the simplest possible path to a working agent with one hosting target. In this repo both implementations share the same SFCC backend adapter (SFCCAdapter) and expose the same SSE stream format to the Next.js frontend.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Structural contrast: Claude SDK has depth — a layered core (prompt → executor → gates → fencing) with a SkillRegistry, 3 runtime paths, and an MCP server for tools. Each layer is independently testable. Google ADK has breadth — all logic in api/, the framework handles the agentic loop. The ontology/ directory is a pattern unique to the ADK path in this repo: the equivalent in Claude SDK is the product-merchandising skill SKILL.md, which is a natural-language document rather than Pydantic classes + data dicts.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shows the 5 ADK framework features implemented in agent.py and main.py. before_model_callback and after_tool_callback are on both the orchestrator AND the MerchandisingAgent subagent — every agent in the hierarchy shares these callbacks. The sub_agents pattern uses ADKs built-in transfer mechanism: the orchestrator gets a transfer_to_merchandising_agent tool automatically. session.state is seeded at create_session() with store_name, then enriched by after_tool_callback during live turns. prime_session() is the ADK-native way to pre-warm a session — it runs backend calls directly (no LLM), caches the result, and exposes it via GET /api/merchant/briefing.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multi-agent architecture uses ADKs sub_agents=[] parameter. When the orchestrator receives a content task (enrich, SEO, classify, geo), it calls transfer_to_merchandising_agent automatically — this tool is created by ADK, not manually. The MerchandisingAgent runs its own turn with its own tool set, then returns control. Both agents share the same before_model_callback and after_tool_callback, so date injection and state caching happen at every level. prime_session() and session.state are the ADK state management layer — no external cache or DB required for session-scoped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Knowledge Graph integration adds three things to classify_product_ontology: kg_entity (the canonical real-world name), kg_description (the Wikipedia one-line description), and kg_url (the Wikipedia article URL). Each becomes a SemanticAttribute with source="knowledge_graph" and confidence=0.9/1.0, distinguishable from Gemini-generated attributes (source="ai_generated"). The KG call is capped at 3 queries per classify (product title + up to 2 scent notes/ingredients) to keep latency under 1s. If GOOGLE_API_KEY is not set, _lookup_kg_entities_sync returns [] silently — the classify call still succeeds with Gemini-only attributes.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distinction is source="knowledge_graph" vs source="ai_generated". Downstream consumers can filter semantic_attributes by source to use only verified facts (e.g. when writing a legal-safe claim like "made from mahogany — a tropical hardwood"). The kg_url attribute links directly to the Wikipedia article, enabling a future UI to show source provenance inline. The confidence=1.0 on description and url means "this is what the KG says" (factual fidelity), while confidence=0.9 on the entity name means "this KG entity is probably the right match for the query" (retrieval confidence).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 steps for extending the demo. Four concrete actions: stage changes, bulk enrichment, seasonal campaigns, and connecting the live SFCC catalog.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1034"/>
          </a:solidFill>
          <a:ln w="12700">
            <a:solidFill>
              <a:srgbClr val="1C103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52160" y="-2194560"/>
            <a:ext cx="5120640" cy="5120640"/>
          </a:xfrm>
          <a:prstGeom prst="ellipse">
            <a:avLst/>
          </a:prstGeom>
          <a:solidFill>
            <a:srgbClr val="C45FA0">
              <a:alpha val="9000"/>
            </a:srgbClr>
          </a:solidFill>
          <a:ln w="12700">
            <a:solidFill>
              <a:srgbClr val="C45F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365760"/>
            <a:ext cx="2926080" cy="2926080"/>
          </a:xfrm>
          <a:prstGeom prst="ellipse">
            <a:avLst/>
          </a:prstGeom>
          <a:solidFill>
            <a:srgbClr val="DC6C38">
              <a:alpha val="12000"/>
            </a:srgbClr>
          </a:solidFill>
          <a:ln w="12700">
            <a:solidFill>
              <a:srgbClr val="DC6C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0" y="2377440"/>
            <a:ext cx="2194560" cy="2194560"/>
          </a:xfrm>
          <a:prstGeom prst="ellipse">
            <a:avLst/>
          </a:prstGeom>
          <a:solidFill>
            <a:srgbClr val="7026A8">
              <a:alpha val="15000"/>
            </a:srgbClr>
          </a:solidFill>
          <a:ln w="12700">
            <a:solidFill>
              <a:srgbClr val="7026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2514600" cy="256032"/>
          </a:xfrm>
          <a:prstGeom prst="roundRect">
            <a:avLst>
              <a:gd name="adj" fmla="val 50000"/>
            </a:avLst>
          </a:prstGeom>
          <a:solidFill>
            <a:srgbClr val="C45FA0"/>
          </a:solidFill>
          <a:ln w="12700">
            <a:solidFill>
              <a:srgbClr val="C45FA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91440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B2C  ·  MERCHANDISING  ·  AI AGENT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298448"/>
            <a:ext cx="6400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</a:t>
            </a:r>
            <a:endParaRPr lang="en-US" sz="4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Merchandising Agent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1241755" cy="228600"/>
          </a:xfrm>
          <a:prstGeom prst="roundRect">
            <a:avLst>
              <a:gd name="adj" fmla="val 48000"/>
            </a:avLst>
          </a:prstGeom>
          <a:solidFill>
            <a:srgbClr val="3D1268"/>
          </a:solidFill>
          <a:ln w="12700">
            <a:solidFill>
              <a:srgbClr val="3D126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3291840"/>
            <a:ext cx="12417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0BEE8"/>
                </a:solidFill>
              </a:rPr>
              <a:t>Ontology Layer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790395" y="3291840"/>
            <a:ext cx="1593799" cy="228600"/>
          </a:xfrm>
          <a:prstGeom prst="roundRect">
            <a:avLst>
              <a:gd name="adj" fmla="val 48000"/>
            </a:avLst>
          </a:prstGeom>
          <a:solidFill>
            <a:srgbClr val="52187A"/>
          </a:solidFill>
          <a:ln w="12700">
            <a:solidFill>
              <a:srgbClr val="52187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790395" y="3291840"/>
            <a:ext cx="159379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0BEE8"/>
                </a:solidFill>
              </a:rPr>
              <a:t>Semantic Enrichment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475634" y="3291840"/>
            <a:ext cx="1030529" cy="228600"/>
          </a:xfrm>
          <a:prstGeom prst="roundRect">
            <a:avLst>
              <a:gd name="adj" fmla="val 48000"/>
            </a:avLst>
          </a:prstGeom>
          <a:solidFill>
            <a:srgbClr val="3D1268"/>
          </a:solidFill>
          <a:ln w="12700">
            <a:solidFill>
              <a:srgbClr val="3D126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75634" y="3291840"/>
            <a:ext cx="10305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0BEE8"/>
                </a:solidFill>
              </a:rPr>
              <a:t>SEO Content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597603" y="3291840"/>
            <a:ext cx="1100938" cy="228600"/>
          </a:xfrm>
          <a:prstGeom prst="roundRect">
            <a:avLst>
              <a:gd name="adj" fmla="val 48000"/>
            </a:avLst>
          </a:prstGeom>
          <a:solidFill>
            <a:srgbClr val="52187A"/>
          </a:solidFill>
          <a:ln w="12700">
            <a:solidFill>
              <a:srgbClr val="52187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97603" y="3291840"/>
            <a:ext cx="11009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0BEE8"/>
                </a:solidFill>
              </a:rPr>
              <a:t>Geo Variants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789981" y="3291840"/>
            <a:ext cx="1171346" cy="228600"/>
          </a:xfrm>
          <a:prstGeom prst="roundRect">
            <a:avLst>
              <a:gd name="adj" fmla="val 48000"/>
            </a:avLst>
          </a:prstGeom>
          <a:solidFill>
            <a:srgbClr val="3D1268"/>
          </a:solidFill>
          <a:ln w="12700">
            <a:solidFill>
              <a:srgbClr val="3D126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789981" y="3291840"/>
            <a:ext cx="11713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0BEE8"/>
                </a:solidFill>
              </a:rPr>
              <a:t>Auto-Classify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74904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5FA0"/>
                </a:solidFill>
              </a:rPr>
              <a:t>gemini-merchant-web-production.up.railway.app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242816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8AAB"/>
                </a:solidFill>
              </a:rPr>
              <a:t>Google Gemini ADK  ·  FastAPI  ·  Next.js  ·  SFCC Commerce Cloud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0FC"/>
          </a:solidFill>
          <a:ln w="12700">
            <a:solidFill>
              <a:srgbClr val="F7F0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603504"/>
            <a:ext cx="8595360" cy="4315968"/>
          </a:xfrm>
          <a:prstGeom prst="roundRect">
            <a:avLst>
              <a:gd name="adj" fmla="val 2119"/>
            </a:avLst>
          </a:prstGeom>
          <a:solidFill>
            <a:srgbClr val="FFFFFF"/>
          </a:solidFill>
          <a:ln w="12700">
            <a:solidFill>
              <a:srgbClr val="DECCF2"/>
            </a:solidFill>
            <a:prstDash val="solid"/>
          </a:ln>
          <a:effectLst>
            <a:outerShdw sx="100000" sy="100000" kx="0" ky="0" algn="bl" rotWithShape="0" blurRad="101600" dist="25400" dir="5400000">
              <a:srgbClr val="C0A0DC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1480" y="192024"/>
            <a:ext cx="64008" cy="64008"/>
          </a:xfrm>
          <a:prstGeom prst="ellipse">
            <a:avLst/>
          </a:prstGeom>
          <a:solidFill>
            <a:srgbClr val="C45FA0"/>
          </a:solidFill>
          <a:ln w="12700">
            <a:solidFill>
              <a:srgbClr val="C45F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28016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10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B2C Content Challenge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2578608" cy="3291840"/>
          </a:xfrm>
          <a:prstGeom prst="roundRect">
            <a:avLst>
              <a:gd name="adj" fmla="val 2837"/>
            </a:avLst>
          </a:prstGeom>
          <a:solidFill>
            <a:srgbClr val="FDFBFF"/>
          </a:solidFill>
          <a:ln w="12700">
            <a:solidFill>
              <a:srgbClr val="E4D4F5"/>
            </a:solidFill>
            <a:prstDash val="solid"/>
          </a:ln>
          <a:effectLst>
            <a:outerShdw sx="100000" sy="100000" kx="0" ky="0" algn="bl" rotWithShape="0" blurRad="63500" dist="25400" dir="5400000">
              <a:srgbClr val="C4A8E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80744" y="1463040"/>
            <a:ext cx="731520" cy="731520"/>
          </a:xfrm>
          <a:prstGeom prst="ellipse">
            <a:avLst/>
          </a:prstGeom>
          <a:solidFill>
            <a:srgbClr val="DC6C38"/>
          </a:solidFill>
          <a:ln w="12700">
            <a:solidFill>
              <a:srgbClr val="DC6C3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80744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01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03504" y="2304288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0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Content at Scale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03504" y="2889504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C3D6E"/>
                </a:solidFill>
              </a:rPr>
              <a:t>Writing rich descriptions for thousands of SKUs takes weeks per catalog cycle — and still misses category nuance like fragrance families and ingredient benefits.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82696" y="1298448"/>
            <a:ext cx="2578608" cy="3291840"/>
          </a:xfrm>
          <a:prstGeom prst="roundRect">
            <a:avLst>
              <a:gd name="adj" fmla="val 2837"/>
            </a:avLst>
          </a:prstGeom>
          <a:solidFill>
            <a:srgbClr val="FDFBFF"/>
          </a:solidFill>
          <a:ln w="12700">
            <a:solidFill>
              <a:srgbClr val="E4D4F5"/>
            </a:solidFill>
            <a:prstDash val="solid"/>
          </a:ln>
          <a:effectLst>
            <a:outerShdw sx="100000" sy="100000" kx="0" ky="0" algn="bl" rotWithShape="0" blurRad="63500" dist="25400" dir="5400000">
              <a:srgbClr val="C4A8E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06240" y="1463040"/>
            <a:ext cx="731520" cy="731520"/>
          </a:xfrm>
          <a:prstGeom prst="ellipse">
            <a:avLst/>
          </a:prstGeom>
          <a:solidFill>
            <a:srgbClr val="7026A8"/>
          </a:solidFill>
          <a:ln w="12700">
            <a:solidFill>
              <a:srgbClr val="7026A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06240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02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2304288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0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Generic, One-Size Descriptions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2889504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C3D6E"/>
                </a:solidFill>
              </a:rPr>
              <a:t>Copy that ignores fragrance families, occasions, and benefit vocabulary fails to convert B2C buyers who expect content tailored to their lifestyle and intent.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08192" y="1298448"/>
            <a:ext cx="2578608" cy="3291840"/>
          </a:xfrm>
          <a:prstGeom prst="roundRect">
            <a:avLst>
              <a:gd name="adj" fmla="val 2837"/>
            </a:avLst>
          </a:prstGeom>
          <a:solidFill>
            <a:srgbClr val="FDFBFF"/>
          </a:solidFill>
          <a:ln w="12700">
            <a:solidFill>
              <a:srgbClr val="E4D4F5"/>
            </a:solidFill>
            <a:prstDash val="solid"/>
          </a:ln>
          <a:effectLst>
            <a:outerShdw sx="100000" sy="100000" kx="0" ky="0" algn="bl" rotWithShape="0" blurRad="63500" dist="25400" dir="5400000">
              <a:srgbClr val="C4A8E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031736" y="1463040"/>
            <a:ext cx="731520" cy="7315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031736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03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254496" y="2304288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0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SEO or Geo Strategy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254496" y="2889504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C3D6E"/>
                </a:solidFill>
              </a:rPr>
              <a:t>US-Northeast and UK buyers have different seasonal triggers. Product pages miss keyword-first titles, meta descriptions, and region-specific occasion framing.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0FC"/>
          </a:solidFill>
          <a:ln w="12700">
            <a:solidFill>
              <a:srgbClr val="F7F0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603504"/>
            <a:ext cx="8595360" cy="4315968"/>
          </a:xfrm>
          <a:prstGeom prst="roundRect">
            <a:avLst>
              <a:gd name="adj" fmla="val 2119"/>
            </a:avLst>
          </a:prstGeom>
          <a:solidFill>
            <a:srgbClr val="FFFFFF"/>
          </a:solidFill>
          <a:ln w="12700">
            <a:solidFill>
              <a:srgbClr val="DECCF2"/>
            </a:solidFill>
            <a:prstDash val="solid"/>
          </a:ln>
          <a:effectLst>
            <a:outerShdw sx="100000" sy="100000" kx="0" ky="0" algn="bl" rotWithShape="0" blurRad="101600" dist="25400" dir="5400000">
              <a:srgbClr val="C0A0DC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1480" y="192024"/>
            <a:ext cx="64008" cy="64008"/>
          </a:xfrm>
          <a:prstGeom prst="ellipse">
            <a:avLst/>
          </a:prstGeom>
          <a:solidFill>
            <a:srgbClr val="C45FA0"/>
          </a:solidFill>
          <a:ln w="12700">
            <a:solidFill>
              <a:srgbClr val="C45F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28016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10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Demo Architecture — What's Live Today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384048" y="1005840"/>
            <a:ext cx="1280160" cy="2523744"/>
          </a:xfrm>
          <a:prstGeom prst="roundRect">
            <a:avLst>
              <a:gd name="adj" fmla="val 6429"/>
            </a:avLst>
          </a:prstGeom>
          <a:solidFill>
            <a:srgbClr val="EDE8F8"/>
          </a:solidFill>
          <a:ln w="19050">
            <a:solidFill>
              <a:srgbClr val="6B2FA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84048" y="10972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2FA0"/>
                </a:solidFill>
              </a:rPr>
              <a:t>MERCHANT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384048" y="129844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B8AAB"/>
                </a:solidFill>
              </a:rPr>
              <a:t>Browser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8640" y="1554480"/>
            <a:ext cx="950976" cy="822960"/>
          </a:xfrm>
          <a:prstGeom prst="roundRect">
            <a:avLst>
              <a:gd name="adj" fmla="val 6667"/>
            </a:avLst>
          </a:prstGeom>
          <a:solidFill>
            <a:srgbClr val="D8CDEF"/>
          </a:solidFill>
          <a:ln w="12700">
            <a:solidFill>
              <a:srgbClr val="6B2FA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1627632"/>
            <a:ext cx="9509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6B2FA0"/>
                </a:solidFill>
              </a:rPr>
              <a:t>Merchandising</a:t>
            </a:r>
            <a:endParaRPr lang="en-US" sz="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6B2FA0"/>
                </a:solidFill>
              </a:rPr>
              <a:t>Portal UI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487168"/>
            <a:ext cx="11338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5C3D6E"/>
                </a:solidFill>
              </a:rPr>
              <a:t>HTTPS</a:t>
            </a:r>
            <a:endParaRPr lang="en-US" sz="7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5C3D6E"/>
                </a:solidFill>
              </a:rPr>
              <a:t>X-Session-Id header</a:t>
            </a:r>
            <a:endParaRPr lang="en-US" sz="7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5C3D6E"/>
                </a:solidFill>
              </a:rPr>
              <a:t>SSE chat stream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664208" y="2255825"/>
            <a:ext cx="146304" cy="23774"/>
          </a:xfrm>
          <a:prstGeom prst="rect">
            <a:avLst/>
          </a:prstGeom>
          <a:solidFill>
            <a:srgbClr val="BBA8D8"/>
          </a:solidFill>
          <a:ln w="12700">
            <a:solidFill>
              <a:srgbClr val="BBA8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773936" y="21396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A8D8"/>
                </a:solidFill>
              </a:rPr>
              <a:t>▶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95144" y="841248"/>
            <a:ext cx="1353312" cy="237744"/>
          </a:xfrm>
          <a:prstGeom prst="roundRect">
            <a:avLst>
              <a:gd name="adj" fmla="val 46154"/>
            </a:avLst>
          </a:prstGeom>
          <a:solidFill>
            <a:srgbClr val="164E7A"/>
          </a:solidFill>
          <a:ln w="12700">
            <a:solidFill>
              <a:srgbClr val="164E7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295144" y="859536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Railway  ·  Service 1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2029968" y="1005840"/>
            <a:ext cx="1883664" cy="2523744"/>
          </a:xfrm>
          <a:prstGeom prst="roundRect">
            <a:avLst>
              <a:gd name="adj" fmla="val 4369"/>
            </a:avLst>
          </a:prstGeom>
          <a:solidFill>
            <a:srgbClr val="E8F0FF"/>
          </a:solidFill>
          <a:ln w="19050">
            <a:solidFill>
              <a:srgbClr val="164E7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121408" y="1097280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64E7A"/>
                </a:solidFill>
              </a:rPr>
              <a:t>NEXT.JS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64E7A"/>
                </a:solidFill>
              </a:rPr>
              <a:t>MERCHANT WEB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2121408" y="1481328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9B8A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gemini-merchant-web</a:t>
            </a:r>
            <a:endParaRPr lang="en-US" sz="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9B8A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-production.up.railway.app</a:t>
            </a:r>
            <a:endParaRPr lang="en-US" sz="700" dirty="0"/>
          </a:p>
        </p:txBody>
      </p:sp>
      <p:sp>
        <p:nvSpPr>
          <p:cNvPr id="19" name="Text 17"/>
          <p:cNvSpPr txBox="1"/>
          <p:nvPr/>
        </p:nvSpPr>
        <p:spPr>
          <a:xfrm>
            <a:off x="2139696" y="1865376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3D6E"/>
                </a:solidFill>
              </a:rPr>
              <a:t>· MerchandisingView.tsx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2139696" y="2176272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3D6E"/>
                </a:solidFill>
              </a:rPr>
              <a:t>· 4 panels: Enrich/SEO/Geo/Classify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2139696" y="2487168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3D6E"/>
                </a:solidFill>
              </a:rPr>
              <a:t>· Stage → Review → Apply UI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2139696" y="2798064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3D6E"/>
                </a:solidFill>
              </a:rPr>
              <a:t>· Chat SSE panel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2139696" y="310896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3D6E"/>
                </a:solidFill>
              </a:rPr>
              <a:t>· Next.js 15  ·  App Router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913632" y="2255825"/>
            <a:ext cx="-18288" cy="23774"/>
          </a:xfrm>
          <a:prstGeom prst="rect">
            <a:avLst/>
          </a:prstGeom>
          <a:solidFill>
            <a:srgbClr val="BBA8D8"/>
          </a:solidFill>
          <a:ln w="12700">
            <a:solidFill>
              <a:srgbClr val="BBA8D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858768" y="21396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A8D8"/>
                </a:solidFill>
              </a:rPr>
              <a:t>▶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18304" y="841248"/>
            <a:ext cx="1353312" cy="237744"/>
          </a:xfrm>
          <a:prstGeom prst="roundRect">
            <a:avLst>
              <a:gd name="adj" fmla="val 46154"/>
            </a:avLst>
          </a:prstGeom>
          <a:solidFill>
            <a:srgbClr val="0A6E60"/>
          </a:solidFill>
          <a:ln w="12700">
            <a:solidFill>
              <a:srgbClr val="0A6E6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718304" y="859536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Railway  ·  Service 2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4114800" y="1005840"/>
            <a:ext cx="2560320" cy="2523744"/>
          </a:xfrm>
          <a:prstGeom prst="roundRect">
            <a:avLst>
              <a:gd name="adj" fmla="val 3261"/>
            </a:avLst>
          </a:prstGeom>
          <a:solidFill>
            <a:srgbClr val="E6F8F5"/>
          </a:solidFill>
          <a:ln w="19050">
            <a:solidFill>
              <a:srgbClr val="0A6E6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224528" y="109728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A6E60"/>
                </a:solidFill>
              </a:rPr>
              <a:t>FASTAPI API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A6E60"/>
                </a:solidFill>
              </a:rPr>
              <a:t>+ GOOGLE ADK AGENT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4224528" y="1481328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9B8A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gemini-merchant-api</a:t>
            </a:r>
            <a:endParaRPr lang="en-US" sz="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9B8A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-production.up.railway.app</a:t>
            </a:r>
            <a:endParaRPr lang="en-US" sz="700" dirty="0"/>
          </a:p>
        </p:txBody>
      </p:sp>
      <p:sp>
        <p:nvSpPr>
          <p:cNvPr id="31" name="Text 29"/>
          <p:cNvSpPr txBox="1"/>
          <p:nvPr/>
        </p:nvSpPr>
        <p:spPr>
          <a:xfrm>
            <a:off x="4242816" y="186537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3D6E"/>
                </a:solidFill>
              </a:rPr>
              <a:t>· GeminiMerchantAgent (Google ADK)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4242816" y="2176272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3D6E"/>
                </a:solidFill>
              </a:rPr>
              <a:t>· merchandising.py — enrich / seo / geo / classify / bulk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4242816" y="2487168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3D6E"/>
                </a:solidFill>
              </a:rPr>
              <a:t>· ChangeLedger — stage, apply, discard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4242816" y="2798064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3D6E"/>
                </a:solidFill>
              </a:rPr>
              <a:t>· SFCCAdapter — OCAPI PATCH on apply()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4242816" y="3108960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3D6E"/>
                </a:solidFill>
              </a:rPr>
              <a:t>· asyncio.gather (10 concurrent Gemini calls)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675120" y="2255825"/>
            <a:ext cx="-36576" cy="23774"/>
          </a:xfrm>
          <a:prstGeom prst="rect">
            <a:avLst/>
          </a:prstGeom>
          <a:solidFill>
            <a:srgbClr val="BBA8D8"/>
          </a:solidFill>
          <a:ln w="12700">
            <a:solidFill>
              <a:srgbClr val="BBA8D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601968" y="21396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A8D8"/>
                </a:solidFill>
              </a:rPr>
              <a:t>▶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858000" y="1005840"/>
            <a:ext cx="1810512" cy="1179576"/>
          </a:xfrm>
          <a:prstGeom prst="roundRect">
            <a:avLst>
              <a:gd name="adj" fmla="val 6977"/>
            </a:avLst>
          </a:prstGeom>
          <a:solidFill>
            <a:srgbClr val="FEF3E2"/>
          </a:solidFill>
          <a:ln w="19050">
            <a:solidFill>
              <a:srgbClr val="B85215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949440" y="1097280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5215"/>
                </a:solidFill>
              </a:rPr>
              <a:t>GEMINI FLASH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6949440" y="1335024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5C3D6E"/>
                </a:solidFill>
              </a:rPr>
              <a:t>Google AI Studio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5C3D6E"/>
                </a:solidFill>
              </a:rPr>
              <a:t>GEMINI_API_KEY env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5C3D6E"/>
                </a:solidFill>
              </a:rPr>
              <a:t>JSON mode · T=0.4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5C3D6E"/>
                </a:solidFill>
              </a:rPr>
              <a:t>gemini-2.0-flash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858000" y="2350008"/>
            <a:ext cx="1810512" cy="1179576"/>
          </a:xfrm>
          <a:prstGeom prst="roundRect">
            <a:avLst>
              <a:gd name="adj" fmla="val 6977"/>
            </a:avLst>
          </a:prstGeom>
          <a:solidFill>
            <a:srgbClr val="E0EEFF"/>
          </a:solidFill>
          <a:ln w="19050">
            <a:solidFill>
              <a:srgbClr val="164E7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949440" y="2441448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4E7A"/>
                </a:solidFill>
              </a:rPr>
              <a:t>SFCC OCAPI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6949440" y="2679192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5C3D6E"/>
                </a:solidFill>
              </a:rPr>
              <a:t>Salesforce Commerce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5C3D6E"/>
                </a:solidFill>
              </a:rPr>
              <a:t>DreamHaus catalog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5C3D6E"/>
                </a:solidFill>
              </a:rPr>
              <a:t>PATCH /products/{id}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5C3D6E"/>
                </a:solidFill>
              </a:rPr>
              <a:t>SFCC_INSTANCE_URL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384048" y="3657600"/>
            <a:ext cx="8284464" cy="475488"/>
          </a:xfrm>
          <a:prstGeom prst="roundRect">
            <a:avLst>
              <a:gd name="adj" fmla="val 13462"/>
            </a:avLst>
          </a:prstGeom>
          <a:solidFill>
            <a:srgbClr val="F5EDF9"/>
          </a:solidFill>
          <a:ln w="12700">
            <a:solidFill>
              <a:srgbClr val="D8C8F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12064" y="371246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026A8"/>
                </a:solidFill>
              </a:rPr>
              <a:t>DATA:</a:t>
            </a:r>
            <a:endParaRPr lang="en-US" sz="850" dirty="0"/>
          </a:p>
        </p:txBody>
      </p:sp>
      <p:sp>
        <p:nvSpPr>
          <p:cNvPr id="46" name="Text 44"/>
          <p:cNvSpPr txBox="1"/>
          <p:nvPr/>
        </p:nvSpPr>
        <p:spPr>
          <a:xfrm>
            <a:off x="1115568" y="3712464"/>
            <a:ext cx="7424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C3D6E"/>
                </a:solidFill>
              </a:rPr>
              <a:t>BBW Product Fixtures — 12 SKUs in-memory (candles · body_care · home_fragrance · soaps)     |     SFCC Commerce Cloud — live catalog via OCAPI (SFCC_CLIENT_ID / SFCC_CLIENT_SECRET)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0FC"/>
          </a:solidFill>
          <a:ln w="12700">
            <a:solidFill>
              <a:srgbClr val="F7F0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603504"/>
            <a:ext cx="8595360" cy="4315968"/>
          </a:xfrm>
          <a:prstGeom prst="roundRect">
            <a:avLst>
              <a:gd name="adj" fmla="val 2119"/>
            </a:avLst>
          </a:prstGeom>
          <a:solidFill>
            <a:srgbClr val="FFFFFF"/>
          </a:solidFill>
          <a:ln w="12700">
            <a:solidFill>
              <a:srgbClr val="DECCF2"/>
            </a:solidFill>
            <a:prstDash val="solid"/>
          </a:ln>
          <a:effectLst>
            <a:outerShdw sx="100000" sy="100000" kx="0" ky="0" algn="bl" rotWithShape="0" blurRad="101600" dist="25400" dir="5400000">
              <a:srgbClr val="C0A0DC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1480" y="192024"/>
            <a:ext cx="64008" cy="64008"/>
          </a:xfrm>
          <a:prstGeom prst="ellipse">
            <a:avLst/>
          </a:prstGeom>
          <a:solidFill>
            <a:srgbClr val="C45FA0"/>
          </a:solidFill>
          <a:ln w="12700">
            <a:solidFill>
              <a:srgbClr val="C45F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28016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10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8412480" cy="585216"/>
          </a:xfrm>
          <a:prstGeom prst="roundRect">
            <a:avLst>
              <a:gd name="adj" fmla="val 10938"/>
            </a:avLst>
          </a:prstGeom>
          <a:solidFill>
            <a:srgbClr val="6B2FA0"/>
          </a:solidFill>
          <a:ln w="12700">
            <a:solidFill>
              <a:srgbClr val="6B2FA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822960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PRESENTATION LAYER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104241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BEE8"/>
                </a:solidFill>
              </a:rPr>
              <a:t>Next.js Merchant Portal  ·  Merchandising Tab  ·  Enrich  /  SEO  /  Geo  /  Classify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481328"/>
            <a:ext cx="8412480" cy="585216"/>
          </a:xfrm>
          <a:prstGeom prst="roundRect">
            <a:avLst>
              <a:gd name="adj" fmla="val 10938"/>
            </a:avLst>
          </a:prstGeom>
          <a:solidFill>
            <a:srgbClr val="164E7A"/>
          </a:solidFill>
          <a:ln w="12700">
            <a:solidFill>
              <a:srgbClr val="164E7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1554480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API LAYER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177393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BEE8"/>
                </a:solidFill>
              </a:rPr>
              <a:t>FastAPI (gemini-merchant-api · Railway)  ·  /enrich  /seo  /geo  /classify  /products  /bulk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5760" y="2212848"/>
            <a:ext cx="8412480" cy="585216"/>
          </a:xfrm>
          <a:prstGeom prst="roundRect">
            <a:avLst>
              <a:gd name="adj" fmla="val 10938"/>
            </a:avLst>
          </a:prstGeom>
          <a:solidFill>
            <a:srgbClr val="0A6E60"/>
          </a:solidFill>
          <a:ln w="12700">
            <a:solidFill>
              <a:srgbClr val="0A6E6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2920" y="2286000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AGENT TOOLS LAYER  (Google ADK)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250545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BEE8"/>
                </a:solidFill>
              </a:rPr>
              <a:t>enrich_product  ·  generate_seo_content  ·  generate_geo_content  ·  classify_product_ontology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58284" y="1335024"/>
            <a:ext cx="27432" cy="73152"/>
          </a:xfrm>
          <a:prstGeom prst="rect">
            <a:avLst/>
          </a:prstGeom>
          <a:solidFill>
            <a:srgbClr val="BBAADD"/>
          </a:solidFill>
          <a:ln w="12700">
            <a:solidFill>
              <a:srgbClr val="BBAAD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407408" y="1389888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BAADD"/>
                </a:solidFill>
              </a:rPr>
              <a:t>▼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58284" y="2066544"/>
            <a:ext cx="27432" cy="73152"/>
          </a:xfrm>
          <a:prstGeom prst="rect">
            <a:avLst/>
          </a:prstGeom>
          <a:solidFill>
            <a:srgbClr val="BBAADD"/>
          </a:solidFill>
          <a:ln w="12700">
            <a:solidFill>
              <a:srgbClr val="BBAAD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407408" y="2121408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BAADD"/>
                </a:solidFill>
              </a:rPr>
              <a:t>▼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2194560" y="2807208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AADD"/>
                </a:solidFill>
              </a:rPr>
              <a:t>↙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2807208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AADD"/>
                </a:solidFill>
              </a:rPr>
              <a:t>↘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414016" y="2834640"/>
            <a:ext cx="4297680" cy="22860"/>
          </a:xfrm>
          <a:prstGeom prst="rect">
            <a:avLst/>
          </a:prstGeom>
          <a:solidFill>
            <a:srgbClr val="BBAADD"/>
          </a:solidFill>
          <a:ln w="12700">
            <a:solidFill>
              <a:srgbClr val="BBAA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2962656"/>
            <a:ext cx="3950208" cy="987552"/>
          </a:xfrm>
          <a:prstGeom prst="roundRect">
            <a:avLst>
              <a:gd name="adj" fmla="val 6481"/>
            </a:avLst>
          </a:prstGeom>
          <a:solidFill>
            <a:srgbClr val="B85215"/>
          </a:solidFill>
          <a:ln w="12700">
            <a:solidFill>
              <a:srgbClr val="B8521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02920" y="3035808"/>
            <a:ext cx="3675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AI LAYER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502920" y="3255264"/>
            <a:ext cx="3675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Gemini 2.0 Flash  (gemini-3.8-flash)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3465576"/>
            <a:ext cx="3675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D0BEE8"/>
                </a:solidFill>
              </a:rPr>
              <a:t>response_mime_type = "application/json"  ·  temp = 0.4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D0BEE8"/>
                </a:solidFill>
              </a:rPr>
              <a:t>Structured JSON output for schema-validated responses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462272" y="2962656"/>
            <a:ext cx="4315968" cy="548640"/>
          </a:xfrm>
          <a:prstGeom prst="roundRect">
            <a:avLst>
              <a:gd name="adj" fmla="val 11667"/>
            </a:avLst>
          </a:prstGeom>
          <a:solidFill>
            <a:srgbClr val="82268A"/>
          </a:solidFill>
          <a:ln w="12700">
            <a:solidFill>
              <a:srgbClr val="82268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72000" y="3035808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ONTOLOGY &amp; SEMANTIC LAYER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3255264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BEE8"/>
                </a:solidFill>
              </a:rPr>
              <a:t>ProductCategory · FragranceFamily · GEO_OCCASION_MAP · BENEFIT_VOCABULARY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606540" y="3511296"/>
            <a:ext cx="27432" cy="73152"/>
          </a:xfrm>
          <a:prstGeom prst="rect">
            <a:avLst/>
          </a:prstGeom>
          <a:solidFill>
            <a:srgbClr val="BBAADD"/>
          </a:solidFill>
          <a:ln w="12700">
            <a:solidFill>
              <a:srgbClr val="BBAAD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55664" y="3566160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BAADD"/>
                </a:solidFill>
              </a:rPr>
              <a:t>▼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462272" y="3675888"/>
            <a:ext cx="4315968" cy="365760"/>
          </a:xfrm>
          <a:prstGeom prst="roundRect">
            <a:avLst>
              <a:gd name="adj" fmla="val 17500"/>
            </a:avLst>
          </a:prstGeom>
          <a:solidFill>
            <a:srgbClr val="2E7060"/>
          </a:solidFill>
          <a:ln w="12700">
            <a:solidFill>
              <a:srgbClr val="2E706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572000" y="3721608"/>
            <a:ext cx="4096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DATA LAYER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0" y="3877056"/>
            <a:ext cx="4096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BEE8"/>
                </a:solidFill>
              </a:rPr>
              <a:t>12 BBW Product Fixtures  ·  SFCC Commerce Cloud Catalog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0FC"/>
          </a:solidFill>
          <a:ln w="12700">
            <a:solidFill>
              <a:srgbClr val="F7F0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603504"/>
            <a:ext cx="8595360" cy="4315968"/>
          </a:xfrm>
          <a:prstGeom prst="roundRect">
            <a:avLst>
              <a:gd name="adj" fmla="val 2119"/>
            </a:avLst>
          </a:prstGeom>
          <a:solidFill>
            <a:srgbClr val="FFFFFF"/>
          </a:solidFill>
          <a:ln w="12700">
            <a:solidFill>
              <a:srgbClr val="DECCF2"/>
            </a:solidFill>
            <a:prstDash val="solid"/>
          </a:ln>
          <a:effectLst>
            <a:outerShdw sx="100000" sy="100000" kx="0" ky="0" algn="bl" rotWithShape="0" blurRad="101600" dist="25400" dir="5400000">
              <a:srgbClr val="C0A0DC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1480" y="192024"/>
            <a:ext cx="64008" cy="64008"/>
          </a:xfrm>
          <a:prstGeom prst="ellipse">
            <a:avLst/>
          </a:prstGeom>
          <a:solidFill>
            <a:srgbClr val="C45FA0"/>
          </a:solidFill>
          <a:ln w="12700">
            <a:solidFill>
              <a:srgbClr val="C45F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28016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10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— Role of Each Layer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1737360" cy="658368"/>
          </a:xfrm>
          <a:prstGeom prst="roundRect">
            <a:avLst>
              <a:gd name="adj" fmla="val 8333"/>
            </a:avLst>
          </a:prstGeom>
          <a:solidFill>
            <a:srgbClr val="6B2FA0"/>
          </a:solidFill>
          <a:ln w="12700">
            <a:solidFill>
              <a:srgbClr val="6B2FA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82296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PRESENTATION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108813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0BEE8"/>
                </a:solidFill>
              </a:rPr>
              <a:t>Next.js · TypeScript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121408" y="822960"/>
            <a:ext cx="13716" cy="512064"/>
          </a:xfrm>
          <a:prstGeom prst="rect">
            <a:avLst/>
          </a:prstGeom>
          <a:solidFill>
            <a:srgbClr val="E0D0F0"/>
          </a:solidFill>
          <a:ln w="12700">
            <a:solidFill>
              <a:srgbClr val="E0D0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81344" y="822960"/>
            <a:ext cx="13716" cy="512064"/>
          </a:xfrm>
          <a:prstGeom prst="rect">
            <a:avLst/>
          </a:prstGeom>
          <a:solidFill>
            <a:srgbClr val="E0D0F0"/>
          </a:solidFill>
          <a:ln w="12700">
            <a:solidFill>
              <a:srgbClr val="E0D0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194560" y="80467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2FA0"/>
                </a:solidFill>
              </a:rPr>
              <a:t>Role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2194560" y="969264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C3D6E"/>
                </a:solidFill>
              </a:rPr>
              <a:t>User-facing portal. Merchants browse 12 BBW product fixtures, select a product, and trigger any of 4 merchandising capabilities via tabbed panels (Enrich / SEO / Geo / Classify).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6254496" y="804672"/>
            <a:ext cx="2432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2FA0"/>
                </a:solidFill>
              </a:rPr>
              <a:t>Key components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6254496" y="969264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C3D6E"/>
                </a:solidFill>
              </a:rPr>
              <a:t>MerchandisingView.tsx  ·  lib/api.ts  ·  BBW product list  ·  Stage Changes button  ·  result caching per product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65760" y="1481328"/>
            <a:ext cx="1737360" cy="658368"/>
          </a:xfrm>
          <a:prstGeom prst="roundRect">
            <a:avLst>
              <a:gd name="adj" fmla="val 8333"/>
            </a:avLst>
          </a:prstGeom>
          <a:solidFill>
            <a:srgbClr val="164E7A"/>
          </a:solidFill>
          <a:ln w="12700">
            <a:solidFill>
              <a:srgbClr val="164E7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65760" y="155448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API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365760" y="181965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0BEE8"/>
                </a:solidFill>
              </a:rPr>
              <a:t>FastAPI · Railway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121408" y="1554480"/>
            <a:ext cx="13716" cy="512064"/>
          </a:xfrm>
          <a:prstGeom prst="rect">
            <a:avLst/>
          </a:prstGeom>
          <a:solidFill>
            <a:srgbClr val="E0D0F0"/>
          </a:solidFill>
          <a:ln w="12700">
            <a:solidFill>
              <a:srgbClr val="E0D0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81344" y="1554480"/>
            <a:ext cx="13716" cy="512064"/>
          </a:xfrm>
          <a:prstGeom prst="rect">
            <a:avLst/>
          </a:prstGeom>
          <a:solidFill>
            <a:srgbClr val="E0D0F0"/>
          </a:solidFill>
          <a:ln w="12700">
            <a:solidFill>
              <a:srgbClr val="E0D0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194560" y="15361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4E7A"/>
                </a:solidFill>
              </a:rPr>
              <a:t>Role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2194560" y="1700784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C3D6E"/>
                </a:solidFill>
              </a:rPr>
              <a:t>HTTP interface. Each of 6 endpoints validates the X-Session-Id header, passes the request to a merchandising tool, and returns a Pydantic-serialized dict. No business logic lives here.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6254496" y="1536192"/>
            <a:ext cx="2432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4E7A"/>
                </a:solidFill>
              </a:rPr>
              <a:t>Key components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6254496" y="1700784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C3D6E"/>
                </a:solidFill>
              </a:rPr>
              <a:t>main.py  ·  EnrichRequest / SEORequest / GeoRequest  ·  /enrich /seo /geo /classify /bulk /products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65760" y="2212848"/>
            <a:ext cx="1737360" cy="658368"/>
          </a:xfrm>
          <a:prstGeom prst="roundRect">
            <a:avLst>
              <a:gd name="adj" fmla="val 8333"/>
            </a:avLst>
          </a:prstGeom>
          <a:solidFill>
            <a:srgbClr val="0A6E60"/>
          </a:solidFill>
          <a:ln w="12700">
            <a:solidFill>
              <a:srgbClr val="0A6E6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65760" y="228600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AGENT TOOLS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365760" y="255117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0BEE8"/>
                </a:solidFill>
              </a:rPr>
              <a:t>Google ADK · merchandising.py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2121408" y="2286000"/>
            <a:ext cx="13716" cy="512064"/>
          </a:xfrm>
          <a:prstGeom prst="rect">
            <a:avLst/>
          </a:prstGeom>
          <a:solidFill>
            <a:srgbClr val="E0D0F0"/>
          </a:solidFill>
          <a:ln w="12700">
            <a:solidFill>
              <a:srgbClr val="E0D0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81344" y="2286000"/>
            <a:ext cx="13716" cy="512064"/>
          </a:xfrm>
          <a:prstGeom prst="rect">
            <a:avLst/>
          </a:prstGeom>
          <a:solidFill>
            <a:srgbClr val="E0D0F0"/>
          </a:solidFill>
          <a:ln w="12700">
            <a:solidFill>
              <a:srgbClr val="E0D0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194560" y="226771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6E60"/>
                </a:solidFill>
              </a:rPr>
              <a:t>Role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2194560" y="2432304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C3D6E"/>
                </a:solidFill>
              </a:rPr>
              <a:t>Business logic and prompt engineering. Bulk operations run concurrently (asyncio.gather, 10 at a time, limit 1–500). Each tool seeds the Gemini prompt with ontology vocabulary and validates JSON output into Pydantic models.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6254496" y="2267712"/>
            <a:ext cx="2432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6E60"/>
                </a:solidFill>
              </a:rPr>
              <a:t>Key components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6254496" y="2432304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C3D6E"/>
                </a:solidFill>
              </a:rPr>
              <a:t>merchandising.py  ·  asyncio.gather (10 concurrent)  ·  ALL_TOOLS in tools.py  ·  limit: 1–500  ·  dual-path: REST + chat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65760" y="2944368"/>
            <a:ext cx="1737360" cy="658368"/>
          </a:xfrm>
          <a:prstGeom prst="roundRect">
            <a:avLst>
              <a:gd name="adj" fmla="val 8333"/>
            </a:avLst>
          </a:prstGeom>
          <a:solidFill>
            <a:srgbClr val="B85215"/>
          </a:solidFill>
          <a:ln w="12700">
            <a:solidFill>
              <a:srgbClr val="B8521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65760" y="301752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AI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365760" y="328269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0BEE8"/>
                </a:solidFill>
              </a:rPr>
              <a:t>Gemini 2.0 Flash · JSON mode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121408" y="3017520"/>
            <a:ext cx="13716" cy="512064"/>
          </a:xfrm>
          <a:prstGeom prst="rect">
            <a:avLst/>
          </a:prstGeom>
          <a:solidFill>
            <a:srgbClr val="E0D0F0"/>
          </a:solidFill>
          <a:ln w="12700">
            <a:solidFill>
              <a:srgbClr val="E0D0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81344" y="3017520"/>
            <a:ext cx="13716" cy="512064"/>
          </a:xfrm>
          <a:prstGeom prst="rect">
            <a:avLst/>
          </a:prstGeom>
          <a:solidFill>
            <a:srgbClr val="E0D0F0"/>
          </a:solidFill>
          <a:ln w="12700">
            <a:solidFill>
              <a:srgbClr val="E0D0F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194560" y="299923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85215"/>
                </a:solidFill>
              </a:rPr>
              <a:t>Role</a:t>
            </a:r>
            <a:endParaRPr lang="en-US" sz="800" dirty="0"/>
          </a:p>
        </p:txBody>
      </p:sp>
      <p:sp>
        <p:nvSpPr>
          <p:cNvPr id="39" name="Text 37"/>
          <p:cNvSpPr txBox="1"/>
          <p:nvPr/>
        </p:nvSpPr>
        <p:spPr>
          <a:xfrm>
            <a:off x="2194560" y="3163824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C3D6E"/>
                </a:solidFill>
              </a:rPr>
              <a:t>Content generation in structured JSON. Receives a rich prompt seeded with category vocab, fragrance families, and geo occasion maps. Returns schema-validated objects — never free-form text.</a:t>
            </a:r>
            <a:endParaRPr lang="en-US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6254496" y="2999232"/>
            <a:ext cx="2432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85215"/>
                </a:solidFill>
              </a:rPr>
              <a:t>Key components</a:t>
            </a:r>
            <a:endParaRPr lang="en-US" sz="800" dirty="0"/>
          </a:p>
        </p:txBody>
      </p:sp>
      <p:sp>
        <p:nvSpPr>
          <p:cNvPr id="41" name="Text 39"/>
          <p:cNvSpPr txBox="1"/>
          <p:nvPr/>
        </p:nvSpPr>
        <p:spPr>
          <a:xfrm>
            <a:off x="6254496" y="3163824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C3D6E"/>
                </a:solidFill>
              </a:rPr>
              <a:t>google.genai.Client.aio  ·  response_mime_type="application/json"  ·  temperature=0.4  ·  async calls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65760" y="3675888"/>
            <a:ext cx="1737360" cy="658368"/>
          </a:xfrm>
          <a:prstGeom prst="roundRect">
            <a:avLst>
              <a:gd name="adj" fmla="val 8333"/>
            </a:avLst>
          </a:prstGeom>
          <a:solidFill>
            <a:srgbClr val="82268A"/>
          </a:solidFill>
          <a:ln w="12700">
            <a:solidFill>
              <a:srgbClr val="82268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365760" y="374904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ONTOLOGY &amp; DATA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365760" y="401421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0BEE8"/>
                </a:solidFill>
              </a:rPr>
              <a:t>schema.py · taxonomy.py · bbw_products.py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2121408" y="3749040"/>
            <a:ext cx="13716" cy="512064"/>
          </a:xfrm>
          <a:prstGeom prst="rect">
            <a:avLst/>
          </a:prstGeom>
          <a:solidFill>
            <a:srgbClr val="E0D0F0"/>
          </a:solidFill>
          <a:ln w="12700">
            <a:solidFill>
              <a:srgbClr val="E0D0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181344" y="3749040"/>
            <a:ext cx="13716" cy="512064"/>
          </a:xfrm>
          <a:prstGeom prst="rect">
            <a:avLst/>
          </a:prstGeom>
          <a:solidFill>
            <a:srgbClr val="E0D0F0"/>
          </a:solidFill>
          <a:ln w="12700">
            <a:solidFill>
              <a:srgbClr val="E0D0F0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2194560" y="373075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2268A"/>
                </a:solidFill>
              </a:rPr>
              <a:t>Role</a:t>
            </a:r>
            <a:endParaRPr lang="en-US" sz="800" dirty="0"/>
          </a:p>
        </p:txBody>
      </p:sp>
      <p:sp>
        <p:nvSpPr>
          <p:cNvPr id="48" name="Text 46"/>
          <p:cNvSpPr txBox="1"/>
          <p:nvPr/>
        </p:nvSpPr>
        <p:spPr>
          <a:xfrm>
            <a:off x="2194560" y="3895344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C3D6E"/>
                </a:solidFill>
              </a:rPr>
              <a:t>B2C knowledge base. Defines what a product means — category, fragrance family, occasion, target persona. Seeds every Gemini prompt with approved benefit vocabulary before any content is generated.</a:t>
            </a:r>
            <a:endParaRPr lang="en-US" sz="850" dirty="0"/>
          </a:p>
        </p:txBody>
      </p:sp>
      <p:sp>
        <p:nvSpPr>
          <p:cNvPr id="49" name="Text 47"/>
          <p:cNvSpPr txBox="1"/>
          <p:nvPr/>
        </p:nvSpPr>
        <p:spPr>
          <a:xfrm>
            <a:off x="6254496" y="3730752"/>
            <a:ext cx="2432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2268A"/>
                </a:solidFill>
              </a:rPr>
              <a:t>Key components</a:t>
            </a:r>
            <a:endParaRPr lang="en-US" sz="800" dirty="0"/>
          </a:p>
        </p:txBody>
      </p:sp>
      <p:sp>
        <p:nvSpPr>
          <p:cNvPr id="50" name="Text 48"/>
          <p:cNvSpPr txBox="1"/>
          <p:nvPr/>
        </p:nvSpPr>
        <p:spPr>
          <a:xfrm>
            <a:off x="6254496" y="3895344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C3D6E"/>
                </a:solidFill>
              </a:rPr>
              <a:t>CATEGORY_TAXONOMY  ·  GEO_OCCASION_MAP  ·  BENEFIT_VOCABULARY  ·  12 BBW fixtures  ·  SFCC catalog fallback</a:t>
            </a:r>
            <a:endParaRPr lang="en-US" sz="800" dirty="0"/>
          </a:p>
        </p:txBody>
      </p:sp>
      <p:sp>
        <p:nvSpPr>
          <p:cNvPr id="51" name="Text 49"/>
          <p:cNvSpPr txBox="1"/>
          <p:nvPr/>
        </p:nvSpPr>
        <p:spPr>
          <a:xfrm>
            <a:off x="365760" y="621792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B8AAB"/>
                </a:solidFill>
              </a:rPr>
              <a:t>Layer</a:t>
            </a:r>
            <a:endParaRPr lang="en-US" sz="800" dirty="0"/>
          </a:p>
        </p:txBody>
      </p:sp>
      <p:sp>
        <p:nvSpPr>
          <p:cNvPr id="52" name="Text 50"/>
          <p:cNvSpPr txBox="1"/>
          <p:nvPr/>
        </p:nvSpPr>
        <p:spPr>
          <a:xfrm>
            <a:off x="2194560" y="621792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B8AAB"/>
                </a:solidFill>
              </a:rPr>
              <a:t>Role in the System</a:t>
            </a:r>
            <a:endParaRPr lang="en-US" sz="800" dirty="0"/>
          </a:p>
        </p:txBody>
      </p:sp>
      <p:sp>
        <p:nvSpPr>
          <p:cNvPr id="53" name="Text 51"/>
          <p:cNvSpPr txBox="1"/>
          <p:nvPr/>
        </p:nvSpPr>
        <p:spPr>
          <a:xfrm>
            <a:off x="6254496" y="621792"/>
            <a:ext cx="24323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B8AAB"/>
                </a:solidFill>
              </a:rPr>
              <a:t>Key Files &amp; Components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0FC"/>
          </a:solidFill>
          <a:ln w="12700">
            <a:solidFill>
              <a:srgbClr val="F7F0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603504"/>
            <a:ext cx="8595360" cy="4315968"/>
          </a:xfrm>
          <a:prstGeom prst="roundRect">
            <a:avLst>
              <a:gd name="adj" fmla="val 2119"/>
            </a:avLst>
          </a:prstGeom>
          <a:solidFill>
            <a:srgbClr val="FFFFFF"/>
          </a:solidFill>
          <a:ln w="12700">
            <a:solidFill>
              <a:srgbClr val="DECCF2"/>
            </a:solidFill>
            <a:prstDash val="solid"/>
          </a:ln>
          <a:effectLst>
            <a:outerShdw sx="100000" sy="100000" kx="0" ky="0" algn="bl" rotWithShape="0" blurRad="101600" dist="25400" dir="5400000">
              <a:srgbClr val="C0A0DC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1480" y="192024"/>
            <a:ext cx="64008" cy="64008"/>
          </a:xfrm>
          <a:prstGeom prst="ellipse">
            <a:avLst/>
          </a:prstGeom>
          <a:solidFill>
            <a:srgbClr val="C45FA0"/>
          </a:solidFill>
          <a:ln w="12700">
            <a:solidFill>
              <a:srgbClr val="C45F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28016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10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Reference Architecture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6784848" cy="329184"/>
          </a:xfrm>
          <a:prstGeom prst="roundRect">
            <a:avLst>
              <a:gd name="adj" fmla="val 16667"/>
            </a:avLst>
          </a:prstGeom>
          <a:solidFill>
            <a:srgbClr val="EDE8F8"/>
          </a:solidFill>
          <a:ln w="12700">
            <a:solidFill>
              <a:srgbClr val="C8B8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832104"/>
            <a:ext cx="2170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026A8"/>
                </a:solidFill>
              </a:rPr>
              <a:t>Next.js Merchant Portal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2741676" y="832104"/>
            <a:ext cx="2170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026A8"/>
                </a:solidFill>
              </a:rPr>
              <a:t>Mobile / PWA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4980432" y="832104"/>
            <a:ext cx="2170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026A8"/>
                </a:solidFill>
              </a:rPr>
              <a:t>API Partners / PIM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746297" y="1078992"/>
            <a:ext cx="23774" cy="137160"/>
          </a:xfrm>
          <a:prstGeom prst="rect">
            <a:avLst/>
          </a:prstGeom>
          <a:solidFill>
            <a:srgbClr val="BBA8D8"/>
          </a:solidFill>
          <a:ln w="12700">
            <a:solidFill>
              <a:srgbClr val="BBA8D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93592" y="1197864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BA8D8"/>
                </a:solidFill>
              </a:rPr>
              <a:t>▼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1216152"/>
            <a:ext cx="6784848" cy="329184"/>
          </a:xfrm>
          <a:prstGeom prst="roundRect">
            <a:avLst>
              <a:gd name="adj" fmla="val 16667"/>
            </a:avLst>
          </a:prstGeom>
          <a:solidFill>
            <a:srgbClr val="164E7A"/>
          </a:solidFill>
          <a:ln w="12700">
            <a:solidFill>
              <a:srgbClr val="164E7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3776" y="12801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API GATEWAY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773936" y="1298448"/>
            <a:ext cx="5266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BEE8"/>
                </a:solidFill>
              </a:rPr>
              <a:t>Rate limiting  ·  JWT auth  ·  Load balancing  ·  Sync vs async routing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454201" y="1545336"/>
            <a:ext cx="23774" cy="74066"/>
          </a:xfrm>
          <a:prstGeom prst="rect">
            <a:avLst/>
          </a:prstGeom>
          <a:solidFill>
            <a:srgbClr val="BBA8D8"/>
          </a:solidFill>
          <a:ln w="12700">
            <a:solidFill>
              <a:srgbClr val="BBA8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466088" y="1607515"/>
            <a:ext cx="4584192" cy="23774"/>
          </a:xfrm>
          <a:prstGeom prst="rect">
            <a:avLst/>
          </a:prstGeom>
          <a:solidFill>
            <a:srgbClr val="BBA8D8"/>
          </a:solidFill>
          <a:ln w="12700">
            <a:solidFill>
              <a:srgbClr val="BBA8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54201" y="1619402"/>
            <a:ext cx="23774" cy="72238"/>
          </a:xfrm>
          <a:prstGeom prst="rect">
            <a:avLst/>
          </a:prstGeom>
          <a:solidFill>
            <a:srgbClr val="BBA8D8"/>
          </a:solidFill>
          <a:ln w="12700">
            <a:solidFill>
              <a:srgbClr val="BBA8D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301496" y="1691640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BA8D8"/>
                </a:solidFill>
              </a:rPr>
              <a:t>▼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746297" y="1619402"/>
            <a:ext cx="23774" cy="72238"/>
          </a:xfrm>
          <a:prstGeom prst="rect">
            <a:avLst/>
          </a:prstGeom>
          <a:solidFill>
            <a:srgbClr val="BBA8D8"/>
          </a:solidFill>
          <a:ln w="12700">
            <a:solidFill>
              <a:srgbClr val="BBA8D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593592" y="1691640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BA8D8"/>
                </a:solidFill>
              </a:rPr>
              <a:t>▼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038393" y="1619402"/>
            <a:ext cx="23774" cy="72238"/>
          </a:xfrm>
          <a:prstGeom prst="rect">
            <a:avLst/>
          </a:prstGeom>
          <a:solidFill>
            <a:srgbClr val="BBA8D8"/>
          </a:solidFill>
          <a:ln w="12700">
            <a:solidFill>
              <a:srgbClr val="BBA8D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885688" y="1691640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BA8D8"/>
                </a:solidFill>
              </a:rPr>
              <a:t>▼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65760" y="1709928"/>
            <a:ext cx="2200656" cy="566928"/>
          </a:xfrm>
          <a:prstGeom prst="roundRect">
            <a:avLst>
              <a:gd name="adj" fmla="val 9677"/>
            </a:avLst>
          </a:prstGeom>
          <a:solidFill>
            <a:srgbClr val="6B2FA0"/>
          </a:solidFill>
          <a:ln w="12700">
            <a:solidFill>
              <a:srgbClr val="6B2FA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75488" y="1773936"/>
            <a:ext cx="198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Sync REST API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1984248"/>
            <a:ext cx="20177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D0BEE8"/>
                </a:solidFill>
              </a:rPr>
              <a:t>FastAPI · single product</a:t>
            </a:r>
            <a:endParaRPr lang="en-US" sz="7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D0BEE8"/>
                </a:solidFill>
              </a:rPr>
              <a:t>real-time · &lt;2 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657856" y="1709928"/>
            <a:ext cx="2200656" cy="566928"/>
          </a:xfrm>
          <a:prstGeom prst="roundRect">
            <a:avLst>
              <a:gd name="adj" fmla="val 9677"/>
            </a:avLst>
          </a:prstGeom>
          <a:solidFill>
            <a:srgbClr val="0E6B5A"/>
          </a:solidFill>
          <a:ln w="12700">
            <a:solidFill>
              <a:srgbClr val="0E6B5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767584" y="1773936"/>
            <a:ext cx="198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Async Job Queue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2749296" y="1984248"/>
            <a:ext cx="20177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D0BEE8"/>
                </a:solidFill>
              </a:rPr>
              <a:t>Cloud Tasks / SQS</a:t>
            </a:r>
            <a:endParaRPr lang="en-US" sz="7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D0BEE8"/>
                </a:solidFill>
              </a:rPr>
              <a:t>bulk · retry · backoff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949952" y="1709928"/>
            <a:ext cx="2200656" cy="566928"/>
          </a:xfrm>
          <a:prstGeom prst="roundRect">
            <a:avLst>
              <a:gd name="adj" fmla="val 9677"/>
            </a:avLst>
          </a:prstGeom>
          <a:solidFill>
            <a:srgbClr val="1A5F9E"/>
          </a:solidFill>
          <a:ln w="12700">
            <a:solidFill>
              <a:srgbClr val="1A5F9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059680" y="1773936"/>
            <a:ext cx="198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Event Bus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5041392" y="1984248"/>
            <a:ext cx="20177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D0BEE8"/>
                </a:solidFill>
              </a:rPr>
              <a:t>Pub/Sub · Kafka</a:t>
            </a:r>
            <a:endParaRPr lang="en-US" sz="7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D0BEE8"/>
                </a:solidFill>
              </a:rPr>
              <a:t>auto-enrich on publish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1454201" y="2276856"/>
            <a:ext cx="23774" cy="74066"/>
          </a:xfrm>
          <a:prstGeom prst="rect">
            <a:avLst/>
          </a:prstGeom>
          <a:solidFill>
            <a:srgbClr val="BBA8D8"/>
          </a:solidFill>
          <a:ln w="12700">
            <a:solidFill>
              <a:srgbClr val="BBA8D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466088" y="2339035"/>
            <a:ext cx="4584192" cy="23774"/>
          </a:xfrm>
          <a:prstGeom prst="rect">
            <a:avLst/>
          </a:prstGeom>
          <a:solidFill>
            <a:srgbClr val="BBA8D8"/>
          </a:solidFill>
          <a:ln w="12700">
            <a:solidFill>
              <a:srgbClr val="BBA8D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454201" y="2350922"/>
            <a:ext cx="23774" cy="72238"/>
          </a:xfrm>
          <a:prstGeom prst="rect">
            <a:avLst/>
          </a:prstGeom>
          <a:solidFill>
            <a:srgbClr val="BBA8D8"/>
          </a:solidFill>
          <a:ln w="12700">
            <a:solidFill>
              <a:srgbClr val="BBA8D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301496" y="2423160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BA8D8"/>
                </a:solidFill>
              </a:rPr>
              <a:t>▼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746297" y="2350922"/>
            <a:ext cx="23774" cy="72238"/>
          </a:xfrm>
          <a:prstGeom prst="rect">
            <a:avLst/>
          </a:prstGeom>
          <a:solidFill>
            <a:srgbClr val="BBA8D8"/>
          </a:solidFill>
          <a:ln w="12700">
            <a:solidFill>
              <a:srgbClr val="BBA8D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593592" y="2423160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BA8D8"/>
                </a:solidFill>
              </a:rPr>
              <a:t>▼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038393" y="2350922"/>
            <a:ext cx="23774" cy="72238"/>
          </a:xfrm>
          <a:prstGeom prst="rect">
            <a:avLst/>
          </a:prstGeom>
          <a:solidFill>
            <a:srgbClr val="BBA8D8"/>
          </a:solidFill>
          <a:ln w="12700">
            <a:solidFill>
              <a:srgbClr val="BBA8D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885688" y="2423160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BA8D8"/>
                </a:solidFill>
              </a:rPr>
              <a:t>▼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65760" y="2441448"/>
            <a:ext cx="6784848" cy="329184"/>
          </a:xfrm>
          <a:prstGeom prst="roundRect">
            <a:avLst>
              <a:gd name="adj" fmla="val 16667"/>
            </a:avLst>
          </a:prstGeom>
          <a:solidFill>
            <a:srgbClr val="0A6E60"/>
          </a:solidFill>
          <a:ln w="12700">
            <a:solidFill>
              <a:srgbClr val="0A6E6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93776" y="250545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WORKER POOL  (Cloud Run / Lambda — auto-scale)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3127248" y="2523744"/>
            <a:ext cx="3913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BEE8"/>
                </a:solidFill>
              </a:rPr>
              <a:t>asyncio.gather · 10–50 concurrent Gemini calls · batch size configurable · dead-letter queue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1454201" y="2770632"/>
            <a:ext cx="23774" cy="74066"/>
          </a:xfrm>
          <a:prstGeom prst="rect">
            <a:avLst/>
          </a:prstGeom>
          <a:solidFill>
            <a:srgbClr val="BBA8D8"/>
          </a:solidFill>
          <a:ln w="12700">
            <a:solidFill>
              <a:srgbClr val="BBA8D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466088" y="2832811"/>
            <a:ext cx="4584192" cy="23774"/>
          </a:xfrm>
          <a:prstGeom prst="rect">
            <a:avLst/>
          </a:prstGeom>
          <a:solidFill>
            <a:srgbClr val="BBA8D8"/>
          </a:solidFill>
          <a:ln w="12700">
            <a:solidFill>
              <a:srgbClr val="BBA8D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454201" y="2844698"/>
            <a:ext cx="23774" cy="72238"/>
          </a:xfrm>
          <a:prstGeom prst="rect">
            <a:avLst/>
          </a:prstGeom>
          <a:solidFill>
            <a:srgbClr val="BBA8D8"/>
          </a:solidFill>
          <a:ln w="12700">
            <a:solidFill>
              <a:srgbClr val="BBA8D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301496" y="2916936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BA8D8"/>
                </a:solidFill>
              </a:rPr>
              <a:t>▼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746297" y="2844698"/>
            <a:ext cx="23774" cy="72238"/>
          </a:xfrm>
          <a:prstGeom prst="rect">
            <a:avLst/>
          </a:prstGeom>
          <a:solidFill>
            <a:srgbClr val="BBA8D8"/>
          </a:solidFill>
          <a:ln w="12700">
            <a:solidFill>
              <a:srgbClr val="BBA8D8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3593592" y="2916936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BA8D8"/>
                </a:solidFill>
              </a:rPr>
              <a:t>▼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038393" y="2844698"/>
            <a:ext cx="23774" cy="72238"/>
          </a:xfrm>
          <a:prstGeom prst="rect">
            <a:avLst/>
          </a:prstGeom>
          <a:solidFill>
            <a:srgbClr val="BBA8D8"/>
          </a:solidFill>
          <a:ln w="12700">
            <a:solidFill>
              <a:srgbClr val="BBA8D8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5885688" y="2916936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BA8D8"/>
                </a:solidFill>
              </a:rPr>
              <a:t>▼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365760" y="2935224"/>
            <a:ext cx="2200656" cy="585216"/>
          </a:xfrm>
          <a:prstGeom prst="roundRect">
            <a:avLst>
              <a:gd name="adj" fmla="val 9375"/>
            </a:avLst>
          </a:prstGeom>
          <a:solidFill>
            <a:srgbClr val="B85215"/>
          </a:solidFill>
          <a:ln w="12700">
            <a:solidFill>
              <a:srgbClr val="B85215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475488" y="2999232"/>
            <a:ext cx="198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Gemini AI</a:t>
            </a:r>
            <a:endParaRPr lang="en-US" sz="900" dirty="0"/>
          </a:p>
        </p:txBody>
      </p:sp>
      <p:sp>
        <p:nvSpPr>
          <p:cNvPr id="53" name="Text 51"/>
          <p:cNvSpPr txBox="1"/>
          <p:nvPr/>
        </p:nvSpPr>
        <p:spPr>
          <a:xfrm>
            <a:off x="457200" y="3209544"/>
            <a:ext cx="20177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D0BEE8"/>
                </a:solidFill>
              </a:rPr>
              <a:t>Flash / Pro · JSON mode</a:t>
            </a:r>
            <a:endParaRPr lang="en-US" sz="7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D0BEE8"/>
                </a:solidFill>
              </a:rPr>
              <a:t>Prompt caching · $-per-SKU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2657856" y="2935224"/>
            <a:ext cx="2200656" cy="585216"/>
          </a:xfrm>
          <a:prstGeom prst="roundRect">
            <a:avLst>
              <a:gd name="adj" fmla="val 9375"/>
            </a:avLst>
          </a:prstGeom>
          <a:solidFill>
            <a:srgbClr val="82268A"/>
          </a:solidFill>
          <a:ln w="12700">
            <a:solidFill>
              <a:srgbClr val="82268A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2767584" y="2999232"/>
            <a:ext cx="198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Ontology + Vector</a:t>
            </a:r>
            <a:endParaRPr lang="en-US" sz="900" dirty="0"/>
          </a:p>
        </p:txBody>
      </p:sp>
      <p:sp>
        <p:nvSpPr>
          <p:cNvPr id="56" name="Text 54"/>
          <p:cNvSpPr txBox="1"/>
          <p:nvPr/>
        </p:nvSpPr>
        <p:spPr>
          <a:xfrm>
            <a:off x="2749296" y="3209544"/>
            <a:ext cx="20177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D0BEE8"/>
                </a:solidFill>
              </a:rPr>
              <a:t>Taxonomy · GEO map</a:t>
            </a:r>
            <a:endParaRPr lang="en-US" sz="7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D0BEE8"/>
                </a:solidFill>
              </a:rPr>
              <a:t>Embedding similarity search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4949952" y="2935224"/>
            <a:ext cx="2200656" cy="585216"/>
          </a:xfrm>
          <a:prstGeom prst="roundRect">
            <a:avLst>
              <a:gd name="adj" fmla="val 9375"/>
            </a:avLst>
          </a:prstGeom>
          <a:solidFill>
            <a:srgbClr val="2E7060"/>
          </a:solidFill>
          <a:ln w="12700">
            <a:solidFill>
              <a:srgbClr val="2E7060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5059680" y="2999232"/>
            <a:ext cx="198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Product Catalog</a:t>
            </a:r>
            <a:endParaRPr lang="en-US" sz="900" dirty="0"/>
          </a:p>
        </p:txBody>
      </p:sp>
      <p:sp>
        <p:nvSpPr>
          <p:cNvPr id="59" name="Text 57"/>
          <p:cNvSpPr txBox="1"/>
          <p:nvPr/>
        </p:nvSpPr>
        <p:spPr>
          <a:xfrm>
            <a:off x="5041392" y="3209544"/>
            <a:ext cx="20177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D0BEE8"/>
                </a:solidFill>
              </a:rPr>
              <a:t>SFCC / PIM · OCAPI</a:t>
            </a:r>
            <a:endParaRPr lang="en-US" sz="7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D0BEE8"/>
                </a:solidFill>
              </a:rPr>
              <a:t>Paginated · live pricing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1454201" y="3520440"/>
            <a:ext cx="23774" cy="74066"/>
          </a:xfrm>
          <a:prstGeom prst="rect">
            <a:avLst/>
          </a:prstGeom>
          <a:solidFill>
            <a:srgbClr val="BBA8D8"/>
          </a:solidFill>
          <a:ln w="12700">
            <a:solidFill>
              <a:srgbClr val="BBA8D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466088" y="3582619"/>
            <a:ext cx="4584192" cy="23774"/>
          </a:xfrm>
          <a:prstGeom prst="rect">
            <a:avLst/>
          </a:prstGeom>
          <a:solidFill>
            <a:srgbClr val="BBA8D8"/>
          </a:solidFill>
          <a:ln w="12700">
            <a:solidFill>
              <a:srgbClr val="BBA8D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454201" y="3594506"/>
            <a:ext cx="23774" cy="72238"/>
          </a:xfrm>
          <a:prstGeom prst="rect">
            <a:avLst/>
          </a:prstGeom>
          <a:solidFill>
            <a:srgbClr val="BBA8D8"/>
          </a:solidFill>
          <a:ln w="12700">
            <a:solidFill>
              <a:srgbClr val="BBA8D8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1301496" y="3666744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BA8D8"/>
                </a:solidFill>
              </a:rPr>
              <a:t>▼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3746297" y="3594506"/>
            <a:ext cx="23774" cy="72238"/>
          </a:xfrm>
          <a:prstGeom prst="rect">
            <a:avLst/>
          </a:prstGeom>
          <a:solidFill>
            <a:srgbClr val="BBA8D8"/>
          </a:solidFill>
          <a:ln w="12700">
            <a:solidFill>
              <a:srgbClr val="BBA8D8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3593592" y="3666744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BA8D8"/>
                </a:solidFill>
              </a:rPr>
              <a:t>▼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6038393" y="3594506"/>
            <a:ext cx="23774" cy="72238"/>
          </a:xfrm>
          <a:prstGeom prst="rect">
            <a:avLst/>
          </a:prstGeom>
          <a:solidFill>
            <a:srgbClr val="BBA8D8"/>
          </a:solidFill>
          <a:ln w="12700">
            <a:solidFill>
              <a:srgbClr val="BBA8D8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5885688" y="3666744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BA8D8"/>
                </a:solidFill>
              </a:rPr>
              <a:t>▼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365760" y="3685032"/>
            <a:ext cx="2200656" cy="384048"/>
          </a:xfrm>
          <a:prstGeom prst="roundRect">
            <a:avLst>
              <a:gd name="adj" fmla="val 14286"/>
            </a:avLst>
          </a:prstGeom>
          <a:solidFill>
            <a:srgbClr val="1A6B5A"/>
          </a:solidFill>
          <a:ln w="12700">
            <a:solidFill>
              <a:srgbClr val="1A6B5A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475488" y="3749040"/>
            <a:ext cx="198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Redis Cache</a:t>
            </a:r>
            <a:endParaRPr lang="en-US" sz="900" dirty="0"/>
          </a:p>
        </p:txBody>
      </p:sp>
      <p:sp>
        <p:nvSpPr>
          <p:cNvPr id="70" name="Text 68"/>
          <p:cNvSpPr txBox="1"/>
          <p:nvPr/>
        </p:nvSpPr>
        <p:spPr>
          <a:xfrm>
            <a:off x="457200" y="3959352"/>
            <a:ext cx="2017776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D0BEE8"/>
                </a:solidFill>
              </a:rPr>
              <a:t>Hot enriched content</a:t>
            </a:r>
            <a:endParaRPr lang="en-US" sz="7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D0BEE8"/>
                </a:solidFill>
              </a:rPr>
              <a:t>&lt;5 ms read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2657856" y="3685032"/>
            <a:ext cx="2200656" cy="384048"/>
          </a:xfrm>
          <a:prstGeom prst="roundRect">
            <a:avLst>
              <a:gd name="adj" fmla="val 14286"/>
            </a:avLst>
          </a:prstGeom>
          <a:solidFill>
            <a:srgbClr val="14497A"/>
          </a:solidFill>
          <a:ln w="12700">
            <a:solidFill>
              <a:srgbClr val="14497A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2767584" y="3749040"/>
            <a:ext cx="198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Postgres Store</a:t>
            </a:r>
            <a:endParaRPr lang="en-US" sz="900" dirty="0"/>
          </a:p>
        </p:txBody>
      </p:sp>
      <p:sp>
        <p:nvSpPr>
          <p:cNvPr id="73" name="Text 71"/>
          <p:cNvSpPr txBox="1"/>
          <p:nvPr/>
        </p:nvSpPr>
        <p:spPr>
          <a:xfrm>
            <a:off x="2749296" y="3959352"/>
            <a:ext cx="2017776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D0BEE8"/>
                </a:solidFill>
              </a:rPr>
              <a:t>Full history · audit trail</a:t>
            </a:r>
            <a:endParaRPr lang="en-US" sz="7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D0BEE8"/>
                </a:solidFill>
              </a:rPr>
              <a:t>diff tracking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4949952" y="3685032"/>
            <a:ext cx="2200656" cy="384048"/>
          </a:xfrm>
          <a:prstGeom prst="roundRect">
            <a:avLst>
              <a:gd name="adj" fmla="val 14286"/>
            </a:avLst>
          </a:prstGeom>
          <a:solidFill>
            <a:srgbClr val="5A4A8A"/>
          </a:solidFill>
          <a:ln w="12700">
            <a:solidFill>
              <a:srgbClr val="5A4A8A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5059680" y="3749040"/>
            <a:ext cx="198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CDN / Edge</a:t>
            </a:r>
            <a:endParaRPr lang="en-US" sz="900" dirty="0"/>
          </a:p>
        </p:txBody>
      </p:sp>
      <p:sp>
        <p:nvSpPr>
          <p:cNvPr id="76" name="Text 74"/>
          <p:cNvSpPr txBox="1"/>
          <p:nvPr/>
        </p:nvSpPr>
        <p:spPr>
          <a:xfrm>
            <a:off x="5041392" y="3959352"/>
            <a:ext cx="2017776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D0BEE8"/>
                </a:solidFill>
              </a:rPr>
              <a:t>Static enriched copy</a:t>
            </a:r>
            <a:endParaRPr lang="en-US" sz="7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D0BEE8"/>
                </a:solidFill>
              </a:rPr>
              <a:t>global delivery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3746297" y="4069080"/>
            <a:ext cx="23774" cy="128016"/>
          </a:xfrm>
          <a:prstGeom prst="rect">
            <a:avLst/>
          </a:prstGeom>
          <a:solidFill>
            <a:srgbClr val="BBA8D8"/>
          </a:solidFill>
          <a:ln w="12700">
            <a:solidFill>
              <a:srgbClr val="BBA8D8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3593592" y="4178808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BA8D8"/>
                </a:solidFill>
              </a:rPr>
              <a:t>▼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365760" y="4197096"/>
            <a:ext cx="6784848" cy="329184"/>
          </a:xfrm>
          <a:prstGeom prst="roundRect">
            <a:avLst>
              <a:gd name="adj" fmla="val 16667"/>
            </a:avLst>
          </a:prstGeom>
          <a:solidFill>
            <a:srgbClr val="2E2848"/>
          </a:solidFill>
          <a:ln w="12700">
            <a:solidFill>
              <a:srgbClr val="2E2848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493776" y="426110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0BEE8"/>
                </a:solidFill>
              </a:rPr>
              <a:t>OBSERVABILITY</a:t>
            </a:r>
            <a:endParaRPr lang="en-US" sz="900" dirty="0"/>
          </a:p>
        </p:txBody>
      </p:sp>
      <p:sp>
        <p:nvSpPr>
          <p:cNvPr id="81" name="Text 79"/>
          <p:cNvSpPr txBox="1"/>
          <p:nvPr/>
        </p:nvSpPr>
        <p:spPr>
          <a:xfrm>
            <a:off x="1810512" y="4279392"/>
            <a:ext cx="5230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90A8"/>
                </a:solidFill>
              </a:rPr>
              <a:t>OpenTelemetry traces  ·  Gemini cost per SKU  ·  Content quality scores  ·  Enrichment latency P95  ·  Cache hit rate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7360920" y="749808"/>
            <a:ext cx="1444752" cy="3776472"/>
          </a:xfrm>
          <a:prstGeom prst="roundRect">
            <a:avLst>
              <a:gd name="adj" fmla="val 5063"/>
            </a:avLst>
          </a:prstGeom>
          <a:solidFill>
            <a:srgbClr val="F5F0FF"/>
          </a:solidFill>
          <a:ln w="12700">
            <a:solidFill>
              <a:srgbClr val="D8C8F0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7360920" y="841248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7026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 Current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7026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7443216" y="1225296"/>
            <a:ext cx="1280160" cy="431074"/>
          </a:xfrm>
          <a:prstGeom prst="roundRect">
            <a:avLst>
              <a:gd name="adj" fmla="val 10606"/>
            </a:avLst>
          </a:prstGeom>
          <a:solidFill>
            <a:srgbClr val="EBE4FA"/>
          </a:solidFill>
          <a:ln w="12700">
            <a:solidFill>
              <a:srgbClr val="D0C0EE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7488936" y="1252728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026A8"/>
                </a:solidFill>
              </a:rPr>
              <a:t>API Gateway</a:t>
            </a:r>
            <a:endParaRPr lang="en-US" sz="750" dirty="0"/>
          </a:p>
        </p:txBody>
      </p:sp>
      <p:sp>
        <p:nvSpPr>
          <p:cNvPr id="86" name="Text 84"/>
          <p:cNvSpPr txBox="1"/>
          <p:nvPr/>
        </p:nvSpPr>
        <p:spPr>
          <a:xfrm>
            <a:off x="7488936" y="1399032"/>
            <a:ext cx="1188720" cy="229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5C3D6E"/>
                </a:solidFill>
              </a:rPr>
              <a:t>Added: rate limiting</a:t>
            </a:r>
            <a:endParaRPr lang="en-US" sz="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5C3D6E"/>
                </a:solidFill>
              </a:rPr>
              <a:t>&amp; auth routing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7443216" y="1692946"/>
            <a:ext cx="1280160" cy="431074"/>
          </a:xfrm>
          <a:prstGeom prst="roundRect">
            <a:avLst>
              <a:gd name="adj" fmla="val 10606"/>
            </a:avLst>
          </a:prstGeom>
          <a:solidFill>
            <a:srgbClr val="EBE4FA"/>
          </a:solidFill>
          <a:ln w="12700">
            <a:solidFill>
              <a:srgbClr val="D0C0EE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7488936" y="1720378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026A8"/>
                </a:solidFill>
              </a:rPr>
              <a:t>Async Queue</a:t>
            </a:r>
            <a:endParaRPr lang="en-US" sz="750" dirty="0"/>
          </a:p>
        </p:txBody>
      </p:sp>
      <p:sp>
        <p:nvSpPr>
          <p:cNvPr id="89" name="Text 87"/>
          <p:cNvSpPr txBox="1"/>
          <p:nvPr/>
        </p:nvSpPr>
        <p:spPr>
          <a:xfrm>
            <a:off x="7488936" y="1866682"/>
            <a:ext cx="1188720" cy="229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5C3D6E"/>
                </a:solidFill>
              </a:rPr>
              <a:t>Added: decouple bulk</a:t>
            </a:r>
            <a:endParaRPr lang="en-US" sz="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5C3D6E"/>
                </a:solidFill>
              </a:rPr>
              <a:t>from API thread</a:t>
            </a:r>
            <a:endParaRPr lang="en-US" sz="700" dirty="0"/>
          </a:p>
        </p:txBody>
      </p:sp>
      <p:sp>
        <p:nvSpPr>
          <p:cNvPr id="90" name="Shape 88"/>
          <p:cNvSpPr/>
          <p:nvPr/>
        </p:nvSpPr>
        <p:spPr>
          <a:xfrm>
            <a:off x="7443216" y="2160597"/>
            <a:ext cx="1280160" cy="431074"/>
          </a:xfrm>
          <a:prstGeom prst="roundRect">
            <a:avLst>
              <a:gd name="adj" fmla="val 10606"/>
            </a:avLst>
          </a:prstGeom>
          <a:solidFill>
            <a:srgbClr val="EBE4FA"/>
          </a:solidFill>
          <a:ln w="12700">
            <a:solidFill>
              <a:srgbClr val="D0C0EE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7488936" y="2188029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026A8"/>
                </a:solidFill>
              </a:rPr>
              <a:t>Event Bus</a:t>
            </a:r>
            <a:endParaRPr lang="en-US" sz="750" dirty="0"/>
          </a:p>
        </p:txBody>
      </p:sp>
      <p:sp>
        <p:nvSpPr>
          <p:cNvPr id="92" name="Text 90"/>
          <p:cNvSpPr txBox="1"/>
          <p:nvPr/>
        </p:nvSpPr>
        <p:spPr>
          <a:xfrm>
            <a:off x="7488936" y="2334333"/>
            <a:ext cx="1188720" cy="229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5C3D6E"/>
                </a:solidFill>
              </a:rPr>
              <a:t>Added: auto-enrich</a:t>
            </a:r>
            <a:endParaRPr lang="en-US" sz="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5C3D6E"/>
                </a:solidFill>
              </a:rPr>
              <a:t>on catalog publish</a:t>
            </a:r>
            <a:endParaRPr lang="en-US" sz="700" dirty="0"/>
          </a:p>
        </p:txBody>
      </p:sp>
      <p:sp>
        <p:nvSpPr>
          <p:cNvPr id="93" name="Shape 91"/>
          <p:cNvSpPr/>
          <p:nvPr/>
        </p:nvSpPr>
        <p:spPr>
          <a:xfrm>
            <a:off x="7443216" y="2628247"/>
            <a:ext cx="1280160" cy="431074"/>
          </a:xfrm>
          <a:prstGeom prst="roundRect">
            <a:avLst>
              <a:gd name="adj" fmla="val 10606"/>
            </a:avLst>
          </a:prstGeom>
          <a:solidFill>
            <a:srgbClr val="EBE4FA"/>
          </a:solidFill>
          <a:ln w="12700">
            <a:solidFill>
              <a:srgbClr val="D0C0EE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7488936" y="2655679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026A8"/>
                </a:solidFill>
              </a:rPr>
              <a:t>Worker Pool</a:t>
            </a:r>
            <a:endParaRPr lang="en-US" sz="750" dirty="0"/>
          </a:p>
        </p:txBody>
      </p:sp>
      <p:sp>
        <p:nvSpPr>
          <p:cNvPr id="95" name="Text 93"/>
          <p:cNvSpPr txBox="1"/>
          <p:nvPr/>
        </p:nvSpPr>
        <p:spPr>
          <a:xfrm>
            <a:off x="7488936" y="2801983"/>
            <a:ext cx="1188720" cy="229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5C3D6E"/>
                </a:solidFill>
              </a:rPr>
              <a:t>Demo: 1 container</a:t>
            </a:r>
            <a:endParaRPr lang="en-US" sz="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5C3D6E"/>
                </a:solidFill>
              </a:rPr>
              <a:t>Prod: auto-scale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7443216" y="3095897"/>
            <a:ext cx="1280160" cy="431074"/>
          </a:xfrm>
          <a:prstGeom prst="roundRect">
            <a:avLst>
              <a:gd name="adj" fmla="val 10606"/>
            </a:avLst>
          </a:prstGeom>
          <a:solidFill>
            <a:srgbClr val="EBE4FA"/>
          </a:solidFill>
          <a:ln w="12700">
            <a:solidFill>
              <a:srgbClr val="D0C0EE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7488936" y="3123329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026A8"/>
                </a:solidFill>
              </a:rPr>
              <a:t>Vector Search</a:t>
            </a:r>
            <a:endParaRPr lang="en-US" sz="750" dirty="0"/>
          </a:p>
        </p:txBody>
      </p:sp>
      <p:sp>
        <p:nvSpPr>
          <p:cNvPr id="98" name="Text 96"/>
          <p:cNvSpPr txBox="1"/>
          <p:nvPr/>
        </p:nvSpPr>
        <p:spPr>
          <a:xfrm>
            <a:off x="7488936" y="3269633"/>
            <a:ext cx="1188720" cy="229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5C3D6E"/>
                </a:solidFill>
              </a:rPr>
              <a:t>Added: semantic</a:t>
            </a:r>
            <a:endParaRPr lang="en-US" sz="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5C3D6E"/>
                </a:solidFill>
              </a:rPr>
              <a:t>product matching</a:t>
            </a:r>
            <a:endParaRPr lang="en-US" sz="700" dirty="0"/>
          </a:p>
        </p:txBody>
      </p:sp>
      <p:sp>
        <p:nvSpPr>
          <p:cNvPr id="99" name="Shape 97"/>
          <p:cNvSpPr/>
          <p:nvPr/>
        </p:nvSpPr>
        <p:spPr>
          <a:xfrm>
            <a:off x="7443216" y="3563547"/>
            <a:ext cx="1280160" cy="431074"/>
          </a:xfrm>
          <a:prstGeom prst="roundRect">
            <a:avLst>
              <a:gd name="adj" fmla="val 10606"/>
            </a:avLst>
          </a:prstGeom>
          <a:solidFill>
            <a:srgbClr val="EBE4FA"/>
          </a:solidFill>
          <a:ln w="12700">
            <a:solidFill>
              <a:srgbClr val="D0C0EE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7488936" y="3590979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026A8"/>
                </a:solidFill>
              </a:rPr>
              <a:t>Storage Tiers</a:t>
            </a:r>
            <a:endParaRPr lang="en-US" sz="750" dirty="0"/>
          </a:p>
        </p:txBody>
      </p:sp>
      <p:sp>
        <p:nvSpPr>
          <p:cNvPr id="101" name="Text 99"/>
          <p:cNvSpPr txBox="1"/>
          <p:nvPr/>
        </p:nvSpPr>
        <p:spPr>
          <a:xfrm>
            <a:off x="7488936" y="3737283"/>
            <a:ext cx="1188720" cy="229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5C3D6E"/>
                </a:solidFill>
              </a:rPr>
              <a:t>Added: Redis + PG</a:t>
            </a:r>
            <a:endParaRPr lang="en-US" sz="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5C3D6E"/>
                </a:solidFill>
              </a:rPr>
              <a:t>+ CDN cache</a:t>
            </a:r>
            <a:endParaRPr lang="en-US" sz="700" dirty="0"/>
          </a:p>
        </p:txBody>
      </p:sp>
      <p:sp>
        <p:nvSpPr>
          <p:cNvPr id="102" name="Shape 100"/>
          <p:cNvSpPr/>
          <p:nvPr/>
        </p:nvSpPr>
        <p:spPr>
          <a:xfrm>
            <a:off x="7443216" y="4031198"/>
            <a:ext cx="1280160" cy="431074"/>
          </a:xfrm>
          <a:prstGeom prst="roundRect">
            <a:avLst>
              <a:gd name="adj" fmla="val 10606"/>
            </a:avLst>
          </a:prstGeom>
          <a:solidFill>
            <a:srgbClr val="EBE4FA"/>
          </a:solidFill>
          <a:ln w="12700">
            <a:solidFill>
              <a:srgbClr val="D0C0EE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7488936" y="4058630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026A8"/>
                </a:solidFill>
              </a:rPr>
              <a:t>Observability</a:t>
            </a:r>
            <a:endParaRPr lang="en-US" sz="750" dirty="0"/>
          </a:p>
        </p:txBody>
      </p:sp>
      <p:sp>
        <p:nvSpPr>
          <p:cNvPr id="104" name="Text 102"/>
          <p:cNvSpPr txBox="1"/>
          <p:nvPr/>
        </p:nvSpPr>
        <p:spPr>
          <a:xfrm>
            <a:off x="7488936" y="4204934"/>
            <a:ext cx="1188720" cy="229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5C3D6E"/>
                </a:solidFill>
              </a:rPr>
              <a:t>Added: cost, quality</a:t>
            </a:r>
            <a:endParaRPr lang="en-US" sz="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5C3D6E"/>
                </a:solidFill>
              </a:rPr>
              <a:t>&amp; latency tracking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0FC"/>
          </a:solidFill>
          <a:ln w="12700">
            <a:solidFill>
              <a:srgbClr val="F7F0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603504"/>
            <a:ext cx="8595360" cy="4315968"/>
          </a:xfrm>
          <a:prstGeom prst="roundRect">
            <a:avLst>
              <a:gd name="adj" fmla="val 2119"/>
            </a:avLst>
          </a:prstGeom>
          <a:solidFill>
            <a:srgbClr val="FFFFFF"/>
          </a:solidFill>
          <a:ln w="12700">
            <a:solidFill>
              <a:srgbClr val="DECCF2"/>
            </a:solidFill>
            <a:prstDash val="solid"/>
          </a:ln>
          <a:effectLst>
            <a:outerShdw sx="100000" sy="100000" kx="0" ky="0" algn="bl" rotWithShape="0" blurRad="101600" dist="25400" dir="5400000">
              <a:srgbClr val="C0A0DC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1480" y="192024"/>
            <a:ext cx="64008" cy="64008"/>
          </a:xfrm>
          <a:prstGeom prst="ellipse">
            <a:avLst/>
          </a:prstGeom>
          <a:solidFill>
            <a:srgbClr val="C45FA0"/>
          </a:solidFill>
          <a:ln w="12700">
            <a:solidFill>
              <a:srgbClr val="C45F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28016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10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Ontology &amp; Semantic Layer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804672"/>
            <a:ext cx="4005072" cy="1298448"/>
          </a:xfrm>
          <a:prstGeom prst="roundRect">
            <a:avLst>
              <a:gd name="adj" fmla="val 5634"/>
            </a:avLst>
          </a:prstGeom>
          <a:solidFill>
            <a:srgbClr val="F5EDF9"/>
          </a:solidFill>
          <a:ln w="12700">
            <a:solidFill>
              <a:srgbClr val="DDB8F0"/>
            </a:solidFill>
            <a:prstDash val="solid"/>
          </a:ln>
          <a:effectLst>
            <a:outerShdw sx="100000" sy="100000" kx="0" ky="0" algn="bl" rotWithShape="0" blurRad="63500" dist="25400" dir="5400000">
              <a:srgbClr val="C4A8E0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94360" y="896112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026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ProductCategory  (StrEnum)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" y="1188720"/>
            <a:ext cx="864108" cy="237744"/>
          </a:xfrm>
          <a:prstGeom prst="roundRect">
            <a:avLst>
              <a:gd name="adj" fmla="val 19231"/>
            </a:avLst>
          </a:prstGeom>
          <a:solidFill>
            <a:srgbClr val="7026A8"/>
          </a:solidFill>
          <a:ln w="12700">
            <a:solidFill>
              <a:srgbClr val="7026A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1188720"/>
            <a:ext cx="8641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candles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540764" y="1188720"/>
            <a:ext cx="864108" cy="237744"/>
          </a:xfrm>
          <a:prstGeom prst="roundRect">
            <a:avLst>
              <a:gd name="adj" fmla="val 19231"/>
            </a:avLst>
          </a:prstGeom>
          <a:solidFill>
            <a:srgbClr val="7026A8"/>
          </a:solidFill>
          <a:ln w="12700">
            <a:solidFill>
              <a:srgbClr val="7026A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540764" y="1188720"/>
            <a:ext cx="8641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body care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459736" y="1188720"/>
            <a:ext cx="864108" cy="237744"/>
          </a:xfrm>
          <a:prstGeom prst="roundRect">
            <a:avLst>
              <a:gd name="adj" fmla="val 19231"/>
            </a:avLst>
          </a:prstGeom>
          <a:solidFill>
            <a:srgbClr val="7026A8"/>
          </a:solidFill>
          <a:ln w="12700">
            <a:solidFill>
              <a:srgbClr val="7026A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459736" y="1188720"/>
            <a:ext cx="8641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home fragrance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378708" y="1188720"/>
            <a:ext cx="864108" cy="237744"/>
          </a:xfrm>
          <a:prstGeom prst="roundRect">
            <a:avLst>
              <a:gd name="adj" fmla="val 19231"/>
            </a:avLst>
          </a:prstGeom>
          <a:solidFill>
            <a:srgbClr val="7026A8"/>
          </a:solidFill>
          <a:ln w="12700">
            <a:solidFill>
              <a:srgbClr val="7026A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378708" y="1188720"/>
            <a:ext cx="8641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soaps</a:t>
            </a:r>
            <a:endParaRPr lang="en-US" sz="75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1508760"/>
            <a:ext cx="3730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3D6E"/>
                </a:solidFill>
              </a:rPr>
              <a:t>Plus: jewelry  ·  accessories  ·  other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1691640"/>
            <a:ext cx="3730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8AAB"/>
                </a:solidFill>
              </a:rPr>
              <a:t>BBW-focused categories with subcategory taxonomy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194560"/>
            <a:ext cx="4005072" cy="1024128"/>
          </a:xfrm>
          <a:prstGeom prst="roundRect">
            <a:avLst>
              <a:gd name="adj" fmla="val 7143"/>
            </a:avLst>
          </a:prstGeom>
          <a:solidFill>
            <a:srgbClr val="FFF0F7"/>
          </a:solidFill>
          <a:ln w="12700">
            <a:solidFill>
              <a:srgbClr val="F5C0E2"/>
            </a:solidFill>
            <a:prstDash val="solid"/>
          </a:ln>
          <a:effectLst>
            <a:outerShdw sx="100000" sy="100000" kx="0" ky="0" algn="bl" rotWithShape="0" blurRad="63500" dist="25400" dir="5400000">
              <a:srgbClr val="C4A8E0">
                <a:alpha val="1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594360" y="2276856"/>
            <a:ext cx="3730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5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FragranceFamily  (StrEnum)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" y="2560320"/>
            <a:ext cx="873252" cy="237744"/>
          </a:xfrm>
          <a:prstGeom prst="roundRect">
            <a:avLst>
              <a:gd name="adj" fmla="val 19231"/>
            </a:avLst>
          </a:prstGeom>
          <a:solidFill>
            <a:srgbClr val="D65FA0"/>
          </a:solidFill>
          <a:ln w="12700">
            <a:solidFill>
              <a:srgbClr val="D65FA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1792" y="2560320"/>
            <a:ext cx="8732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floral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1540764" y="2560320"/>
            <a:ext cx="873252" cy="237744"/>
          </a:xfrm>
          <a:prstGeom prst="roundRect">
            <a:avLst>
              <a:gd name="adj" fmla="val 19231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540764" y="2560320"/>
            <a:ext cx="8732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fresh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459736" y="2560320"/>
            <a:ext cx="873252" cy="237744"/>
          </a:xfrm>
          <a:prstGeom prst="roundRect">
            <a:avLst>
              <a:gd name="adj" fmla="val 19231"/>
            </a:avLst>
          </a:prstGeom>
          <a:solidFill>
            <a:srgbClr val="C05020"/>
          </a:solidFill>
          <a:ln w="12700">
            <a:solidFill>
              <a:srgbClr val="C0502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459736" y="2560320"/>
            <a:ext cx="8732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warm spicy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378708" y="2560320"/>
            <a:ext cx="873252" cy="237744"/>
          </a:xfrm>
          <a:prstGeom prst="roundRect">
            <a:avLst>
              <a:gd name="adj" fmla="val 19231"/>
            </a:avLst>
          </a:prstGeom>
          <a:solidFill>
            <a:srgbClr val="7A5230"/>
          </a:solidFill>
          <a:ln w="12700">
            <a:solidFill>
              <a:srgbClr val="7A523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378708" y="2560320"/>
            <a:ext cx="8732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woody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21792" y="2852928"/>
            <a:ext cx="873252" cy="237744"/>
          </a:xfrm>
          <a:prstGeom prst="roundRect">
            <a:avLst>
              <a:gd name="adj" fmla="val 19231"/>
            </a:avLst>
          </a:prstGeom>
          <a:solidFill>
            <a:srgbClr val="C0601A"/>
          </a:solidFill>
          <a:ln w="12700">
            <a:solidFill>
              <a:srgbClr val="C0601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1792" y="2852928"/>
            <a:ext cx="8732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fruity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1540764" y="2852928"/>
            <a:ext cx="873252" cy="237744"/>
          </a:xfrm>
          <a:prstGeom prst="roundRect">
            <a:avLst>
              <a:gd name="adj" fmla="val 19231"/>
            </a:avLst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540764" y="2852928"/>
            <a:ext cx="8732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gourmand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459736" y="2852928"/>
            <a:ext cx="873252" cy="237744"/>
          </a:xfrm>
          <a:prstGeom prst="roundRect">
            <a:avLst>
              <a:gd name="adj" fmla="val 19231"/>
            </a:avLst>
          </a:prstGeom>
          <a:solidFill>
            <a:srgbClr val="D4820A"/>
          </a:solidFill>
          <a:ln w="12700">
            <a:solidFill>
              <a:srgbClr val="D4820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459736" y="2852928"/>
            <a:ext cx="8732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citrus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57200" y="3310128"/>
            <a:ext cx="4005072" cy="841248"/>
          </a:xfrm>
          <a:prstGeom prst="roundRect">
            <a:avLst>
              <a:gd name="adj" fmla="val 8696"/>
            </a:avLst>
          </a:prstGeom>
          <a:solidFill>
            <a:srgbClr val="F0F5FF"/>
          </a:solidFill>
          <a:ln w="12700">
            <a:solidFill>
              <a:srgbClr val="C8D8F0"/>
            </a:solidFill>
            <a:prstDash val="solid"/>
          </a:ln>
          <a:effectLst>
            <a:outerShdw sx="100000" sy="100000" kx="0" ky="0" algn="bl" rotWithShape="0" blurRad="63500" dist="25400" dir="5400000">
              <a:srgbClr val="C4A8E0">
                <a:alpha val="10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594360" y="3392424"/>
            <a:ext cx="3730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4E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SemanticAttribute  (Pydantic)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594360" y="3639312"/>
            <a:ext cx="3730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C3D6E"/>
                </a:solidFill>
              </a:rPr>
              <a:t>key · value · confidence (0–1.0) · source = "ai_generated"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63440" y="804672"/>
            <a:ext cx="3858768" cy="1600200"/>
          </a:xfrm>
          <a:prstGeom prst="roundRect">
            <a:avLst>
              <a:gd name="adj" fmla="val 4571"/>
            </a:avLst>
          </a:prstGeom>
          <a:solidFill>
            <a:srgbClr val="F2FBF8"/>
          </a:solidFill>
          <a:ln w="12700">
            <a:solidFill>
              <a:srgbClr val="B8E8D8"/>
            </a:solidFill>
            <a:prstDash val="solid"/>
          </a:ln>
          <a:effectLst>
            <a:outerShdw sx="100000" sy="100000" kx="0" ky="0" algn="bl" rotWithShape="0" blurRad="63500" dist="25400" dir="5400000">
              <a:srgbClr val="C4A8E0">
                <a:alpha val="10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4800600" y="886968"/>
            <a:ext cx="3584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GEO_OCCASION_MAP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4800600" y="11887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</a:rPr>
              <a:t>US-northeast: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5870448" y="1188720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3D6E"/>
                </a:solidFill>
              </a:rPr>
              <a:t>holiday gifting  ·  cozy home  ·  fall candles</a:t>
            </a:r>
            <a:endParaRPr lang="en-US" sz="850" dirty="0"/>
          </a:p>
        </p:txBody>
      </p:sp>
      <p:sp>
        <p:nvSpPr>
          <p:cNvPr id="41" name="Text 39"/>
          <p:cNvSpPr txBox="1"/>
          <p:nvPr/>
        </p:nvSpPr>
        <p:spPr>
          <a:xfrm>
            <a:off x="4800600" y="14630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</a:rPr>
              <a:t>US-south: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5870448" y="1463040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3D6E"/>
                </a:solidFill>
              </a:rPr>
              <a:t>summer refresh  ·  outdoor entertaining</a:t>
            </a:r>
            <a:endParaRPr lang="en-US" sz="850" dirty="0"/>
          </a:p>
        </p:txBody>
      </p:sp>
      <p:sp>
        <p:nvSpPr>
          <p:cNvPr id="43" name="Text 41"/>
          <p:cNvSpPr txBox="1"/>
          <p:nvPr/>
        </p:nvSpPr>
        <p:spPr>
          <a:xfrm>
            <a:off x="4800600" y="17373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</a:rPr>
              <a:t>UK: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5870448" y="1737360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3D6E"/>
                </a:solidFill>
              </a:rPr>
              <a:t>autumn warmth  ·  gift sets  ·  self-care</a:t>
            </a:r>
            <a:endParaRPr lang="en-US" sz="850" dirty="0"/>
          </a:p>
        </p:txBody>
      </p:sp>
      <p:sp>
        <p:nvSpPr>
          <p:cNvPr id="45" name="Text 43"/>
          <p:cNvSpPr txBox="1"/>
          <p:nvPr/>
        </p:nvSpPr>
        <p:spPr>
          <a:xfrm>
            <a:off x="4800600" y="201168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</a:rPr>
              <a:t>CA: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5870448" y="2011680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3D6E"/>
                </a:solidFill>
              </a:rPr>
              <a:t>winter wellness  ·  hygge  ·  spa gifting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663440" y="2496312"/>
            <a:ext cx="3858768" cy="1188720"/>
          </a:xfrm>
          <a:prstGeom prst="roundRect">
            <a:avLst>
              <a:gd name="adj" fmla="val 6154"/>
            </a:avLst>
          </a:prstGeom>
          <a:solidFill>
            <a:srgbClr val="FFF8F0"/>
          </a:solidFill>
          <a:ln w="12700">
            <a:solidFill>
              <a:srgbClr val="F5D8B8"/>
            </a:solidFill>
            <a:prstDash val="solid"/>
          </a:ln>
          <a:effectLst>
            <a:outerShdw sx="100000" sy="100000" kx="0" ky="0" algn="bl" rotWithShape="0" blurRad="63500" dist="25400" dir="5400000">
              <a:srgbClr val="C4A8E0">
                <a:alpha val="10000"/>
              </a:srgbClr>
            </a:outerShdw>
          </a:effectLst>
        </p:spPr>
      </p:sp>
      <p:sp>
        <p:nvSpPr>
          <p:cNvPr id="48" name="Text 46"/>
          <p:cNvSpPr txBox="1"/>
          <p:nvPr/>
        </p:nvSpPr>
        <p:spPr>
          <a:xfrm>
            <a:off x="4800600" y="2578608"/>
            <a:ext cx="3584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6C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BENEFIT_VOCABULARY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4800600" y="2862072"/>
            <a:ext cx="3584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3D6E"/>
                </a:solidFill>
              </a:rPr>
              <a:t>candles: 45-hour burn  ·  hand-poured  ·  paraffin-free</a:t>
            </a:r>
            <a:endParaRPr lang="en-US" sz="850" dirty="0"/>
          </a:p>
        </p:txBody>
      </p:sp>
      <p:sp>
        <p:nvSpPr>
          <p:cNvPr id="50" name="Text 48"/>
          <p:cNvSpPr txBox="1"/>
          <p:nvPr/>
        </p:nvSpPr>
        <p:spPr>
          <a:xfrm>
            <a:off x="4800600" y="3044952"/>
            <a:ext cx="3584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3D6E"/>
                </a:solidFill>
              </a:rPr>
              <a:t>body_care: 24-hour moisture  ·  dermatologist-tested  ·  shea-enriched</a:t>
            </a:r>
            <a:endParaRPr lang="en-US" sz="850" dirty="0"/>
          </a:p>
        </p:txBody>
      </p:sp>
      <p:sp>
        <p:nvSpPr>
          <p:cNvPr id="51" name="Text 49"/>
          <p:cNvSpPr txBox="1"/>
          <p:nvPr/>
        </p:nvSpPr>
        <p:spPr>
          <a:xfrm>
            <a:off x="4800600" y="3227832"/>
            <a:ext cx="3584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3D6E"/>
                </a:solidFill>
              </a:rPr>
              <a:t>soaps: antibacterial  ·  pH-balanced  ·  gentle foaming</a:t>
            </a:r>
            <a:endParaRPr lang="en-US" sz="850" dirty="0"/>
          </a:p>
        </p:txBody>
      </p:sp>
      <p:sp>
        <p:nvSpPr>
          <p:cNvPr id="52" name="Text 50"/>
          <p:cNvSpPr txBox="1"/>
          <p:nvPr/>
        </p:nvSpPr>
        <p:spPr>
          <a:xfrm>
            <a:off x="4800600" y="3410712"/>
            <a:ext cx="3584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3D6E"/>
                </a:solidFill>
              </a:rPr>
              <a:t>home_fragrance: long-lasting  ·  plug-in refill  ·  room-filling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663440" y="3776472"/>
            <a:ext cx="3858768" cy="731520"/>
          </a:xfrm>
          <a:prstGeom prst="roundRect">
            <a:avLst>
              <a:gd name="adj" fmla="val 10000"/>
            </a:avLst>
          </a:prstGeom>
          <a:solidFill>
            <a:srgbClr val="F9F5FF"/>
          </a:solidFill>
          <a:ln w="12700">
            <a:solidFill>
              <a:srgbClr val="DDD0F5"/>
            </a:solidFill>
            <a:prstDash val="solid"/>
          </a:ln>
          <a:effectLst>
            <a:outerShdw sx="100000" sy="100000" kx="0" ky="0" algn="bl" rotWithShape="0" blurRad="63500" dist="25400" dir="5400000">
              <a:srgbClr val="C4A8E0">
                <a:alpha val="10000"/>
              </a:srgbClr>
            </a:outerShdw>
          </a:effectLst>
        </p:spPr>
      </p:sp>
      <p:sp>
        <p:nvSpPr>
          <p:cNvPr id="54" name="Text 52"/>
          <p:cNvSpPr txBox="1"/>
          <p:nvPr/>
        </p:nvSpPr>
        <p:spPr>
          <a:xfrm>
            <a:off x="4800600" y="3858768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026A8"/>
                </a:solidFill>
              </a:rPr>
              <a:t>MerchandisingResult  (output schema)</a:t>
            </a:r>
            <a:endParaRPr lang="en-US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4800600" y="4069080"/>
            <a:ext cx="3584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C3D6E"/>
                </a:solidFill>
              </a:rPr>
              <a:t>enriched_description  ·  benefits_bullets  ·  ontology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C3D6E"/>
                </a:solidFill>
              </a:rPr>
              <a:t>seo (SEOContent)  ·  geo_variants  ·  staged_change_id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0FC"/>
          </a:solidFill>
          <a:ln w="12700">
            <a:solidFill>
              <a:srgbClr val="F7F0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603504"/>
            <a:ext cx="8595360" cy="4315968"/>
          </a:xfrm>
          <a:prstGeom prst="roundRect">
            <a:avLst>
              <a:gd name="adj" fmla="val 2119"/>
            </a:avLst>
          </a:prstGeom>
          <a:solidFill>
            <a:srgbClr val="FFFFFF"/>
          </a:solidFill>
          <a:ln w="12700">
            <a:solidFill>
              <a:srgbClr val="DECCF2"/>
            </a:solidFill>
            <a:prstDash val="solid"/>
          </a:ln>
          <a:effectLst>
            <a:outerShdw sx="100000" sy="100000" kx="0" ky="0" algn="bl" rotWithShape="0" blurRad="101600" dist="25400" dir="5400000">
              <a:srgbClr val="C0A0DC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1480" y="192024"/>
            <a:ext cx="64008" cy="64008"/>
          </a:xfrm>
          <a:prstGeom prst="ellipse">
            <a:avLst/>
          </a:prstGeom>
          <a:solidFill>
            <a:srgbClr val="C45FA0"/>
          </a:solidFill>
          <a:ln w="12700">
            <a:solidFill>
              <a:srgbClr val="C45F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28016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10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Ontology Schema — schema.py Pydantic Data Contracts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4041648" cy="640080"/>
          </a:xfrm>
          <a:prstGeom prst="roundRect">
            <a:avLst>
              <a:gd name="adj" fmla="val 11429"/>
            </a:avLst>
          </a:prstGeom>
          <a:solidFill>
            <a:srgbClr val="F5EDF9"/>
          </a:solidFill>
          <a:ln w="12700">
            <a:solidFill>
              <a:srgbClr val="DDB8F0"/>
            </a:solidFill>
            <a:prstDash val="solid"/>
          </a:ln>
          <a:effectLst>
            <a:outerShdw sx="100000" sy="100000" kx="0" ky="0" algn="bl" rotWithShape="0" blurRad="63500" dist="25400" dir="5400000">
              <a:srgbClr val="C4A8E0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93776" y="822960"/>
            <a:ext cx="3785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02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ProductCategory  (StrEnum)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12064" y="1097280"/>
            <a:ext cx="499001" cy="219456"/>
          </a:xfrm>
          <a:prstGeom prst="roundRect">
            <a:avLst>
              <a:gd name="adj" fmla="val 20833"/>
            </a:avLst>
          </a:prstGeom>
          <a:solidFill>
            <a:srgbClr val="7026A8"/>
          </a:solidFill>
          <a:ln w="12700">
            <a:solidFill>
              <a:srgbClr val="7026A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12064" y="1097280"/>
            <a:ext cx="49900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candles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1047641" y="1097280"/>
            <a:ext cx="499001" cy="219456"/>
          </a:xfrm>
          <a:prstGeom prst="roundRect">
            <a:avLst>
              <a:gd name="adj" fmla="val 20833"/>
            </a:avLst>
          </a:prstGeom>
          <a:solidFill>
            <a:srgbClr val="7026A8"/>
          </a:solidFill>
          <a:ln w="12700">
            <a:solidFill>
              <a:srgbClr val="7026A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47641" y="1097280"/>
            <a:ext cx="49900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body_care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1583218" y="1097280"/>
            <a:ext cx="499001" cy="219456"/>
          </a:xfrm>
          <a:prstGeom prst="roundRect">
            <a:avLst>
              <a:gd name="adj" fmla="val 20833"/>
            </a:avLst>
          </a:prstGeom>
          <a:solidFill>
            <a:srgbClr val="7026A8"/>
          </a:solidFill>
          <a:ln w="12700">
            <a:solidFill>
              <a:srgbClr val="7026A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83218" y="1097280"/>
            <a:ext cx="49900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home_fragrance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2118795" y="1097280"/>
            <a:ext cx="499001" cy="219456"/>
          </a:xfrm>
          <a:prstGeom prst="roundRect">
            <a:avLst>
              <a:gd name="adj" fmla="val 20833"/>
            </a:avLst>
          </a:prstGeom>
          <a:solidFill>
            <a:srgbClr val="7026A8"/>
          </a:solidFill>
          <a:ln w="12700">
            <a:solidFill>
              <a:srgbClr val="7026A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118795" y="1097280"/>
            <a:ext cx="49900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soaps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2654373" y="1097280"/>
            <a:ext cx="499001" cy="219456"/>
          </a:xfrm>
          <a:prstGeom prst="roundRect">
            <a:avLst>
              <a:gd name="adj" fmla="val 20833"/>
            </a:avLst>
          </a:prstGeom>
          <a:solidFill>
            <a:srgbClr val="7026A8"/>
          </a:solidFill>
          <a:ln w="12700">
            <a:solidFill>
              <a:srgbClr val="7026A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654373" y="1097280"/>
            <a:ext cx="49900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jewelry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3189950" y="1097280"/>
            <a:ext cx="499001" cy="219456"/>
          </a:xfrm>
          <a:prstGeom prst="roundRect">
            <a:avLst>
              <a:gd name="adj" fmla="val 20833"/>
            </a:avLst>
          </a:prstGeom>
          <a:solidFill>
            <a:srgbClr val="7026A8"/>
          </a:solidFill>
          <a:ln w="12700">
            <a:solidFill>
              <a:srgbClr val="7026A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189950" y="1097280"/>
            <a:ext cx="49900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accessories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3725527" y="1097280"/>
            <a:ext cx="499001" cy="219456"/>
          </a:xfrm>
          <a:prstGeom prst="roundRect">
            <a:avLst>
              <a:gd name="adj" fmla="val 20833"/>
            </a:avLst>
          </a:prstGeom>
          <a:solidFill>
            <a:srgbClr val="7026A8"/>
          </a:solidFill>
          <a:ln w="12700">
            <a:solidFill>
              <a:srgbClr val="7026A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725527" y="1097280"/>
            <a:ext cx="49900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other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4498848" y="749808"/>
            <a:ext cx="4315968" cy="640080"/>
          </a:xfrm>
          <a:prstGeom prst="roundRect">
            <a:avLst>
              <a:gd name="adj" fmla="val 11429"/>
            </a:avLst>
          </a:prstGeom>
          <a:solidFill>
            <a:srgbClr val="FFF0F7"/>
          </a:solidFill>
          <a:ln w="12700">
            <a:solidFill>
              <a:srgbClr val="F5C0E2"/>
            </a:solidFill>
            <a:prstDash val="solid"/>
          </a:ln>
          <a:effectLst>
            <a:outerShdw sx="100000" sy="100000" kx="0" ky="0" algn="bl" rotWithShape="0" blurRad="63500" dist="25400" dir="5400000">
              <a:srgbClr val="C4A8E0">
                <a:alpha val="10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4626864" y="822960"/>
            <a:ext cx="4059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45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FragranceFamily  (StrEnum)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45152" y="1097280"/>
            <a:ext cx="538190" cy="219456"/>
          </a:xfrm>
          <a:prstGeom prst="roundRect">
            <a:avLst>
              <a:gd name="adj" fmla="val 20833"/>
            </a:avLst>
          </a:prstGeom>
          <a:solidFill>
            <a:srgbClr val="D65FA0"/>
          </a:solidFill>
          <a:ln w="12700">
            <a:solidFill>
              <a:srgbClr val="D65FA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645152" y="1097280"/>
            <a:ext cx="5381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floral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5219918" y="1097280"/>
            <a:ext cx="538190" cy="219456"/>
          </a:xfrm>
          <a:prstGeom prst="roundRect">
            <a:avLst>
              <a:gd name="adj" fmla="val 20833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219918" y="1097280"/>
            <a:ext cx="5381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fresh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5794683" y="1097280"/>
            <a:ext cx="538190" cy="219456"/>
          </a:xfrm>
          <a:prstGeom prst="roundRect">
            <a:avLst>
              <a:gd name="adj" fmla="val 20833"/>
            </a:avLst>
          </a:prstGeom>
          <a:solidFill>
            <a:srgbClr val="C05020"/>
          </a:solidFill>
          <a:ln w="12700">
            <a:solidFill>
              <a:srgbClr val="C0502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794683" y="1097280"/>
            <a:ext cx="5381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warm_spicy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6369449" y="1097280"/>
            <a:ext cx="538190" cy="219456"/>
          </a:xfrm>
          <a:prstGeom prst="roundRect">
            <a:avLst>
              <a:gd name="adj" fmla="val 20833"/>
            </a:avLst>
          </a:prstGeom>
          <a:solidFill>
            <a:srgbClr val="7A5230"/>
          </a:solidFill>
          <a:ln w="12700">
            <a:solidFill>
              <a:srgbClr val="7A523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369449" y="1097280"/>
            <a:ext cx="5381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woody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6944215" y="1097280"/>
            <a:ext cx="538190" cy="219456"/>
          </a:xfrm>
          <a:prstGeom prst="roundRect">
            <a:avLst>
              <a:gd name="adj" fmla="val 20833"/>
            </a:avLst>
          </a:prstGeom>
          <a:solidFill>
            <a:srgbClr val="C0601A"/>
          </a:solidFill>
          <a:ln w="12700">
            <a:solidFill>
              <a:srgbClr val="C0601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944215" y="1097280"/>
            <a:ext cx="5381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fruity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7518981" y="1097280"/>
            <a:ext cx="538190" cy="219456"/>
          </a:xfrm>
          <a:prstGeom prst="roundRect">
            <a:avLst>
              <a:gd name="adj" fmla="val 20833"/>
            </a:avLst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518981" y="1097280"/>
            <a:ext cx="5381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gourmand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8093746" y="1097280"/>
            <a:ext cx="538190" cy="219456"/>
          </a:xfrm>
          <a:prstGeom prst="roundRect">
            <a:avLst>
              <a:gd name="adj" fmla="val 20833"/>
            </a:avLst>
          </a:prstGeom>
          <a:solidFill>
            <a:srgbClr val="D4820A"/>
          </a:solidFill>
          <a:ln w="12700">
            <a:solidFill>
              <a:srgbClr val="D4820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093746" y="1097280"/>
            <a:ext cx="5381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citrus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365760" y="1444752"/>
            <a:ext cx="8449056" cy="402336"/>
          </a:xfrm>
          <a:prstGeom prst="roundRect">
            <a:avLst>
              <a:gd name="adj" fmla="val 18182"/>
            </a:avLst>
          </a:prstGeom>
          <a:solidFill>
            <a:srgbClr val="E8F0FF"/>
          </a:solidFill>
          <a:ln w="12700">
            <a:solidFill>
              <a:srgbClr val="B4CCEE"/>
            </a:solidFill>
            <a:prstDash val="solid"/>
          </a:ln>
          <a:effectLst>
            <a:outerShdw sx="100000" sy="100000" kx="0" ky="0" algn="bl" rotWithShape="0" blurRad="63500" dist="25400" dir="5400000">
              <a:srgbClr val="C4A8E0">
                <a:alpha val="10000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>
            <a:off x="493776" y="151790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4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SemanticAttribute  (BaseModel)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3236976" y="1499616"/>
            <a:ext cx="1316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4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key: str</a:t>
            </a:r>
            <a:endParaRPr lang="en-US" sz="800" dirty="0"/>
          </a:p>
        </p:txBody>
      </p:sp>
      <p:sp>
        <p:nvSpPr>
          <p:cNvPr id="41" name="Text 39"/>
          <p:cNvSpPr txBox="1"/>
          <p:nvPr/>
        </p:nvSpPr>
        <p:spPr>
          <a:xfrm>
            <a:off x="3236976" y="1673352"/>
            <a:ext cx="1316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8AAB"/>
                </a:solidFill>
              </a:rPr>
              <a:t>e.g. "fragrance_family"</a:t>
            </a:r>
            <a:endParaRPr lang="en-US" sz="750" dirty="0"/>
          </a:p>
        </p:txBody>
      </p:sp>
      <p:sp>
        <p:nvSpPr>
          <p:cNvPr id="42" name="Text 40"/>
          <p:cNvSpPr txBox="1"/>
          <p:nvPr/>
        </p:nvSpPr>
        <p:spPr>
          <a:xfrm>
            <a:off x="4608576" y="1499616"/>
            <a:ext cx="1316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4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value: str</a:t>
            </a:r>
            <a:endParaRPr lang="en-US" sz="800" dirty="0"/>
          </a:p>
        </p:txBody>
      </p:sp>
      <p:sp>
        <p:nvSpPr>
          <p:cNvPr id="43" name="Text 41"/>
          <p:cNvSpPr txBox="1"/>
          <p:nvPr/>
        </p:nvSpPr>
        <p:spPr>
          <a:xfrm>
            <a:off x="4608576" y="1673352"/>
            <a:ext cx="1316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8AAB"/>
                </a:solidFill>
              </a:rPr>
              <a:t>e.g. "woody"</a:t>
            </a:r>
            <a:endParaRPr lang="en-US" sz="750" dirty="0"/>
          </a:p>
        </p:txBody>
      </p:sp>
      <p:sp>
        <p:nvSpPr>
          <p:cNvPr id="44" name="Text 42"/>
          <p:cNvSpPr txBox="1"/>
          <p:nvPr/>
        </p:nvSpPr>
        <p:spPr>
          <a:xfrm>
            <a:off x="5980176" y="1499616"/>
            <a:ext cx="1316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4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confidence: float</a:t>
            </a:r>
            <a:endParaRPr lang="en-US" sz="800" dirty="0"/>
          </a:p>
        </p:txBody>
      </p:sp>
      <p:sp>
        <p:nvSpPr>
          <p:cNvPr id="45" name="Text 43"/>
          <p:cNvSpPr txBox="1"/>
          <p:nvPr/>
        </p:nvSpPr>
        <p:spPr>
          <a:xfrm>
            <a:off x="5980176" y="1673352"/>
            <a:ext cx="1316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8AAB"/>
                </a:solidFill>
              </a:rPr>
              <a:t>0.0 – 1.0  (default 1.0)</a:t>
            </a:r>
            <a:endParaRPr lang="en-US" sz="750" dirty="0"/>
          </a:p>
        </p:txBody>
      </p:sp>
      <p:sp>
        <p:nvSpPr>
          <p:cNvPr id="46" name="Text 44"/>
          <p:cNvSpPr txBox="1"/>
          <p:nvPr/>
        </p:nvSpPr>
        <p:spPr>
          <a:xfrm>
            <a:off x="7351776" y="1499616"/>
            <a:ext cx="1316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4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str</a:t>
            </a:r>
            <a:endParaRPr lang="en-US" sz="800" dirty="0"/>
          </a:p>
        </p:txBody>
      </p:sp>
      <p:sp>
        <p:nvSpPr>
          <p:cNvPr id="47" name="Text 45"/>
          <p:cNvSpPr txBox="1"/>
          <p:nvPr/>
        </p:nvSpPr>
        <p:spPr>
          <a:xfrm>
            <a:off x="7351776" y="1673352"/>
            <a:ext cx="1316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8AAB"/>
                </a:solidFill>
              </a:rPr>
              <a:t>"ai_generated" | "product_data"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365760" y="1901952"/>
            <a:ext cx="2633472" cy="2944368"/>
          </a:xfrm>
          <a:prstGeom prst="roundRect">
            <a:avLst>
              <a:gd name="adj" fmla="val 2778"/>
            </a:avLst>
          </a:prstGeom>
          <a:solidFill>
            <a:srgbClr val="F5EDF9"/>
          </a:solidFill>
          <a:ln w="12700">
            <a:solidFill>
              <a:srgbClr val="DDB8F0"/>
            </a:solidFill>
            <a:prstDash val="solid"/>
          </a:ln>
          <a:effectLst>
            <a:outerShdw sx="100000" sy="100000" kx="0" ky="0" algn="bl" rotWithShape="0" blurRad="63500" dist="25400" dir="5400000">
              <a:srgbClr val="C4A8E0">
                <a:alpha val="10000"/>
              </a:srgbClr>
            </a:outerShdw>
          </a:effectLst>
        </p:spPr>
      </p:sp>
      <p:sp>
        <p:nvSpPr>
          <p:cNvPr id="49" name="Text 47"/>
          <p:cNvSpPr txBox="1"/>
          <p:nvPr/>
        </p:nvSpPr>
        <p:spPr>
          <a:xfrm>
            <a:off x="493776" y="197510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02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ProductOntology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493776" y="2249424"/>
            <a:ext cx="1152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02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listing_id:</a:t>
            </a:r>
            <a:endParaRPr lang="en-US" sz="750" dirty="0"/>
          </a:p>
        </p:txBody>
      </p:sp>
      <p:sp>
        <p:nvSpPr>
          <p:cNvPr id="51" name="Text 49"/>
          <p:cNvSpPr txBox="1"/>
          <p:nvPr/>
        </p:nvSpPr>
        <p:spPr>
          <a:xfrm>
            <a:off x="1682496" y="2249424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3D6E"/>
                </a:solidFill>
              </a:rPr>
              <a:t>str</a:t>
            </a:r>
            <a:endParaRPr lang="en-US" sz="750" dirty="0"/>
          </a:p>
        </p:txBody>
      </p:sp>
      <p:sp>
        <p:nvSpPr>
          <p:cNvPr id="52" name="Text 50"/>
          <p:cNvSpPr txBox="1"/>
          <p:nvPr/>
        </p:nvSpPr>
        <p:spPr>
          <a:xfrm>
            <a:off x="493776" y="2560320"/>
            <a:ext cx="1152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02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category:</a:t>
            </a:r>
            <a:endParaRPr lang="en-US" sz="750" dirty="0"/>
          </a:p>
        </p:txBody>
      </p:sp>
      <p:sp>
        <p:nvSpPr>
          <p:cNvPr id="53" name="Text 51"/>
          <p:cNvSpPr txBox="1"/>
          <p:nvPr/>
        </p:nvSpPr>
        <p:spPr>
          <a:xfrm>
            <a:off x="1682496" y="2560320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3D6E"/>
                </a:solidFill>
              </a:rPr>
              <a:t>ProductCategory | None</a:t>
            </a:r>
            <a:endParaRPr lang="en-US" sz="750" dirty="0"/>
          </a:p>
        </p:txBody>
      </p:sp>
      <p:sp>
        <p:nvSpPr>
          <p:cNvPr id="54" name="Text 52"/>
          <p:cNvSpPr txBox="1"/>
          <p:nvPr/>
        </p:nvSpPr>
        <p:spPr>
          <a:xfrm>
            <a:off x="493776" y="2871216"/>
            <a:ext cx="1152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02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subcategory:</a:t>
            </a:r>
            <a:endParaRPr lang="en-US" sz="750" dirty="0"/>
          </a:p>
        </p:txBody>
      </p:sp>
      <p:sp>
        <p:nvSpPr>
          <p:cNvPr id="55" name="Text 53"/>
          <p:cNvSpPr txBox="1"/>
          <p:nvPr/>
        </p:nvSpPr>
        <p:spPr>
          <a:xfrm>
            <a:off x="1682496" y="2871216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3D6E"/>
                </a:solidFill>
              </a:rPr>
              <a:t>str | None</a:t>
            </a:r>
            <a:endParaRPr lang="en-US" sz="750" dirty="0"/>
          </a:p>
        </p:txBody>
      </p:sp>
      <p:sp>
        <p:nvSpPr>
          <p:cNvPr id="56" name="Text 54"/>
          <p:cNvSpPr txBox="1"/>
          <p:nvPr/>
        </p:nvSpPr>
        <p:spPr>
          <a:xfrm>
            <a:off x="493776" y="3182112"/>
            <a:ext cx="1152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02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style_tags:</a:t>
            </a:r>
            <a:endParaRPr lang="en-US" sz="750" dirty="0"/>
          </a:p>
        </p:txBody>
      </p:sp>
      <p:sp>
        <p:nvSpPr>
          <p:cNvPr id="57" name="Text 55"/>
          <p:cNvSpPr txBox="1"/>
          <p:nvPr/>
        </p:nvSpPr>
        <p:spPr>
          <a:xfrm>
            <a:off x="1682496" y="3182112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3D6E"/>
                </a:solidFill>
              </a:rPr>
              <a:t>list[str]  — ["cozy","festive"]</a:t>
            </a:r>
            <a:endParaRPr lang="en-US" sz="750" dirty="0"/>
          </a:p>
        </p:txBody>
      </p:sp>
      <p:sp>
        <p:nvSpPr>
          <p:cNvPr id="58" name="Text 56"/>
          <p:cNvSpPr txBox="1"/>
          <p:nvPr/>
        </p:nvSpPr>
        <p:spPr>
          <a:xfrm>
            <a:off x="493776" y="3493008"/>
            <a:ext cx="1152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02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occasions:</a:t>
            </a:r>
            <a:endParaRPr lang="en-US" sz="750" dirty="0"/>
          </a:p>
        </p:txBody>
      </p:sp>
      <p:sp>
        <p:nvSpPr>
          <p:cNvPr id="59" name="Text 57"/>
          <p:cNvSpPr txBox="1"/>
          <p:nvPr/>
        </p:nvSpPr>
        <p:spPr>
          <a:xfrm>
            <a:off x="1682496" y="3493008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3D6E"/>
                </a:solidFill>
              </a:rPr>
              <a:t>list[str]  — ["gifting","holiday"]</a:t>
            </a:r>
            <a:endParaRPr lang="en-US" sz="750" dirty="0"/>
          </a:p>
        </p:txBody>
      </p:sp>
      <p:sp>
        <p:nvSpPr>
          <p:cNvPr id="60" name="Text 58"/>
          <p:cNvSpPr txBox="1"/>
          <p:nvPr/>
        </p:nvSpPr>
        <p:spPr>
          <a:xfrm>
            <a:off x="493776" y="3803904"/>
            <a:ext cx="1152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02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benefits:</a:t>
            </a:r>
            <a:endParaRPr lang="en-US" sz="750" dirty="0"/>
          </a:p>
        </p:txBody>
      </p:sp>
      <p:sp>
        <p:nvSpPr>
          <p:cNvPr id="61" name="Text 59"/>
          <p:cNvSpPr txBox="1"/>
          <p:nvPr/>
        </p:nvSpPr>
        <p:spPr>
          <a:xfrm>
            <a:off x="1682496" y="3803904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3D6E"/>
                </a:solidFill>
              </a:rPr>
              <a:t>list[str]  — ["45-hr burn",...]</a:t>
            </a:r>
            <a:endParaRPr lang="en-US" sz="750" dirty="0"/>
          </a:p>
        </p:txBody>
      </p:sp>
      <p:sp>
        <p:nvSpPr>
          <p:cNvPr id="62" name="Text 60"/>
          <p:cNvSpPr txBox="1"/>
          <p:nvPr/>
        </p:nvSpPr>
        <p:spPr>
          <a:xfrm>
            <a:off x="493776" y="4114800"/>
            <a:ext cx="1152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02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target_persona:</a:t>
            </a:r>
            <a:endParaRPr lang="en-US" sz="750" dirty="0"/>
          </a:p>
        </p:txBody>
      </p:sp>
      <p:sp>
        <p:nvSpPr>
          <p:cNvPr id="63" name="Text 61"/>
          <p:cNvSpPr txBox="1"/>
          <p:nvPr/>
        </p:nvSpPr>
        <p:spPr>
          <a:xfrm>
            <a:off x="1682496" y="4114800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3D6E"/>
                </a:solidFill>
              </a:rPr>
              <a:t>str | None  — "self-gifter"</a:t>
            </a:r>
            <a:endParaRPr lang="en-US" sz="750" dirty="0"/>
          </a:p>
        </p:txBody>
      </p:sp>
      <p:sp>
        <p:nvSpPr>
          <p:cNvPr id="64" name="Text 62"/>
          <p:cNvSpPr txBox="1"/>
          <p:nvPr/>
        </p:nvSpPr>
        <p:spPr>
          <a:xfrm>
            <a:off x="493776" y="4425696"/>
            <a:ext cx="1152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02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semantic_attributes:</a:t>
            </a:r>
            <a:endParaRPr lang="en-US" sz="750" dirty="0"/>
          </a:p>
        </p:txBody>
      </p:sp>
      <p:sp>
        <p:nvSpPr>
          <p:cNvPr id="65" name="Text 63"/>
          <p:cNvSpPr txBox="1"/>
          <p:nvPr/>
        </p:nvSpPr>
        <p:spPr>
          <a:xfrm>
            <a:off x="1682496" y="4425696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3D6E"/>
                </a:solidFill>
              </a:rPr>
              <a:t>list[SemanticAttribute]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3090672" y="1901952"/>
            <a:ext cx="2633472" cy="1435608"/>
          </a:xfrm>
          <a:prstGeom prst="roundRect">
            <a:avLst>
              <a:gd name="adj" fmla="val 5096"/>
            </a:avLst>
          </a:prstGeom>
          <a:solidFill>
            <a:srgbClr val="F2FBF8"/>
          </a:solidFill>
          <a:ln w="12700">
            <a:solidFill>
              <a:srgbClr val="A8DAC8"/>
            </a:solidFill>
            <a:prstDash val="solid"/>
          </a:ln>
          <a:effectLst>
            <a:outerShdw sx="100000" sy="100000" kx="0" ky="0" algn="bl" rotWithShape="0" blurRad="63500" dist="25400" dir="5400000">
              <a:srgbClr val="C4A8E0">
                <a:alpha val="10000"/>
              </a:srgbClr>
            </a:outerShdw>
          </a:effectLst>
        </p:spPr>
      </p:sp>
      <p:sp>
        <p:nvSpPr>
          <p:cNvPr id="67" name="Text 65"/>
          <p:cNvSpPr txBox="1"/>
          <p:nvPr/>
        </p:nvSpPr>
        <p:spPr>
          <a:xfrm>
            <a:off x="3218688" y="197510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SEOContent</a:t>
            </a:r>
            <a:endParaRPr lang="en-US" sz="950" dirty="0"/>
          </a:p>
        </p:txBody>
      </p:sp>
      <p:sp>
        <p:nvSpPr>
          <p:cNvPr id="68" name="Text 66"/>
          <p:cNvSpPr txBox="1"/>
          <p:nvPr/>
        </p:nvSpPr>
        <p:spPr>
          <a:xfrm>
            <a:off x="3218688" y="2231136"/>
            <a:ext cx="1042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title:</a:t>
            </a:r>
            <a:endParaRPr lang="en-US" sz="750" dirty="0"/>
          </a:p>
        </p:txBody>
      </p:sp>
      <p:sp>
        <p:nvSpPr>
          <p:cNvPr id="69" name="Text 67"/>
          <p:cNvSpPr txBox="1"/>
          <p:nvPr/>
        </p:nvSpPr>
        <p:spPr>
          <a:xfrm>
            <a:off x="4297680" y="2231136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3D6E"/>
                </a:solidFill>
              </a:rPr>
              <a:t>str — ≤60 chars, keyword-first</a:t>
            </a:r>
            <a:endParaRPr lang="en-US" sz="750" dirty="0"/>
          </a:p>
        </p:txBody>
      </p:sp>
      <p:sp>
        <p:nvSpPr>
          <p:cNvPr id="70" name="Text 68"/>
          <p:cNvSpPr txBox="1"/>
          <p:nvPr/>
        </p:nvSpPr>
        <p:spPr>
          <a:xfrm>
            <a:off x="3218688" y="2441448"/>
            <a:ext cx="1042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meta_description:</a:t>
            </a:r>
            <a:endParaRPr lang="en-US" sz="750" dirty="0"/>
          </a:p>
        </p:txBody>
      </p:sp>
      <p:sp>
        <p:nvSpPr>
          <p:cNvPr id="71" name="Text 69"/>
          <p:cNvSpPr txBox="1"/>
          <p:nvPr/>
        </p:nvSpPr>
        <p:spPr>
          <a:xfrm>
            <a:off x="4297680" y="2441448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3D6E"/>
                </a:solidFill>
              </a:rPr>
              <a:t>str — ≤155 chars</a:t>
            </a:r>
            <a:endParaRPr lang="en-US" sz="750" dirty="0"/>
          </a:p>
        </p:txBody>
      </p:sp>
      <p:sp>
        <p:nvSpPr>
          <p:cNvPr id="72" name="Text 70"/>
          <p:cNvSpPr txBox="1"/>
          <p:nvPr/>
        </p:nvSpPr>
        <p:spPr>
          <a:xfrm>
            <a:off x="3218688" y="2651760"/>
            <a:ext cx="1042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h1:</a:t>
            </a:r>
            <a:endParaRPr lang="en-US" sz="750" dirty="0"/>
          </a:p>
        </p:txBody>
      </p:sp>
      <p:sp>
        <p:nvSpPr>
          <p:cNvPr id="73" name="Text 71"/>
          <p:cNvSpPr txBox="1"/>
          <p:nvPr/>
        </p:nvSpPr>
        <p:spPr>
          <a:xfrm>
            <a:off x="4297680" y="2651760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3D6E"/>
                </a:solidFill>
              </a:rPr>
              <a:t>str — can be longer than title</a:t>
            </a:r>
            <a:endParaRPr lang="en-US" sz="750" dirty="0"/>
          </a:p>
        </p:txBody>
      </p:sp>
      <p:sp>
        <p:nvSpPr>
          <p:cNvPr id="74" name="Text 72"/>
          <p:cNvSpPr txBox="1"/>
          <p:nvPr/>
        </p:nvSpPr>
        <p:spPr>
          <a:xfrm>
            <a:off x="3218688" y="2862072"/>
            <a:ext cx="1042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keywords:</a:t>
            </a:r>
            <a:endParaRPr lang="en-US" sz="750" dirty="0"/>
          </a:p>
        </p:txBody>
      </p:sp>
      <p:sp>
        <p:nvSpPr>
          <p:cNvPr id="75" name="Text 73"/>
          <p:cNvSpPr txBox="1"/>
          <p:nvPr/>
        </p:nvSpPr>
        <p:spPr>
          <a:xfrm>
            <a:off x="4297680" y="286207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3D6E"/>
                </a:solidFill>
              </a:rPr>
              <a:t>list[str] — primary + 4–6 secondary</a:t>
            </a:r>
            <a:endParaRPr lang="en-US" sz="750" dirty="0"/>
          </a:p>
        </p:txBody>
      </p:sp>
      <p:sp>
        <p:nvSpPr>
          <p:cNvPr id="76" name="Text 74"/>
          <p:cNvSpPr txBox="1"/>
          <p:nvPr/>
        </p:nvSpPr>
        <p:spPr>
          <a:xfrm>
            <a:off x="3218688" y="3072384"/>
            <a:ext cx="1042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slug:</a:t>
            </a:r>
            <a:endParaRPr lang="en-US" sz="750" dirty="0"/>
          </a:p>
        </p:txBody>
      </p:sp>
      <p:sp>
        <p:nvSpPr>
          <p:cNvPr id="77" name="Text 75"/>
          <p:cNvSpPr txBox="1"/>
          <p:nvPr/>
        </p:nvSpPr>
        <p:spPr>
          <a:xfrm>
            <a:off x="4297680" y="3072384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3D6E"/>
                </a:solidFill>
              </a:rPr>
              <a:t>str — url-friendly, lowercase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3090672" y="3410712"/>
            <a:ext cx="2633472" cy="1435608"/>
          </a:xfrm>
          <a:prstGeom prst="roundRect">
            <a:avLst>
              <a:gd name="adj" fmla="val 5096"/>
            </a:avLst>
          </a:prstGeom>
          <a:solidFill>
            <a:srgbClr val="F0EBF8"/>
          </a:solidFill>
          <a:ln w="12700">
            <a:solidFill>
              <a:srgbClr val="C8A8E8"/>
            </a:solidFill>
            <a:prstDash val="solid"/>
          </a:ln>
          <a:effectLst>
            <a:outerShdw sx="100000" sy="100000" kx="0" ky="0" algn="bl" rotWithShape="0" blurRad="63500" dist="25400" dir="5400000">
              <a:srgbClr val="C4A8E0">
                <a:alpha val="10000"/>
              </a:srgbClr>
            </a:outerShdw>
          </a:effectLst>
        </p:spPr>
      </p:sp>
      <p:sp>
        <p:nvSpPr>
          <p:cNvPr id="79" name="Text 77"/>
          <p:cNvSpPr txBox="1"/>
          <p:nvPr/>
        </p:nvSpPr>
        <p:spPr>
          <a:xfrm>
            <a:off x="3218688" y="348386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22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GeoContent</a:t>
            </a:r>
            <a:endParaRPr lang="en-US" sz="950" dirty="0"/>
          </a:p>
        </p:txBody>
      </p:sp>
      <p:sp>
        <p:nvSpPr>
          <p:cNvPr id="80" name="Text 78"/>
          <p:cNvSpPr txBox="1"/>
          <p:nvPr/>
        </p:nvSpPr>
        <p:spPr>
          <a:xfrm>
            <a:off x="3218688" y="3739896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22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region:</a:t>
            </a:r>
            <a:endParaRPr lang="en-US" sz="750" dirty="0"/>
          </a:p>
        </p:txBody>
      </p:sp>
      <p:sp>
        <p:nvSpPr>
          <p:cNvPr id="81" name="Text 79"/>
          <p:cNvSpPr txBox="1"/>
          <p:nvPr/>
        </p:nvSpPr>
        <p:spPr>
          <a:xfrm>
            <a:off x="4498848" y="3739896"/>
            <a:ext cx="1152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3D6E"/>
                </a:solidFill>
              </a:rPr>
              <a:t>str — US-northeast | US-south | US-west | UK | CA</a:t>
            </a:r>
            <a:endParaRPr lang="en-US" sz="750" dirty="0"/>
          </a:p>
        </p:txBody>
      </p:sp>
      <p:sp>
        <p:nvSpPr>
          <p:cNvPr id="82" name="Text 80"/>
          <p:cNvSpPr txBox="1"/>
          <p:nvPr/>
        </p:nvSpPr>
        <p:spPr>
          <a:xfrm>
            <a:off x="3218688" y="3950208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22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title_variant:</a:t>
            </a:r>
            <a:endParaRPr lang="en-US" sz="750" dirty="0"/>
          </a:p>
        </p:txBody>
      </p:sp>
      <p:sp>
        <p:nvSpPr>
          <p:cNvPr id="83" name="Text 81"/>
          <p:cNvSpPr txBox="1"/>
          <p:nvPr/>
        </p:nvSpPr>
        <p:spPr>
          <a:xfrm>
            <a:off x="4498848" y="3950208"/>
            <a:ext cx="1152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3D6E"/>
                </a:solidFill>
              </a:rPr>
              <a:t>str | None — region title</a:t>
            </a:r>
            <a:endParaRPr lang="en-US" sz="750" dirty="0"/>
          </a:p>
        </p:txBody>
      </p:sp>
      <p:sp>
        <p:nvSpPr>
          <p:cNvPr id="84" name="Text 82"/>
          <p:cNvSpPr txBox="1"/>
          <p:nvPr/>
        </p:nvSpPr>
        <p:spPr>
          <a:xfrm>
            <a:off x="3218688" y="4160520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22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description_variant:</a:t>
            </a:r>
            <a:endParaRPr lang="en-US" sz="750" dirty="0"/>
          </a:p>
        </p:txBody>
      </p:sp>
      <p:sp>
        <p:nvSpPr>
          <p:cNvPr id="85" name="Text 83"/>
          <p:cNvSpPr txBox="1"/>
          <p:nvPr/>
        </p:nvSpPr>
        <p:spPr>
          <a:xfrm>
            <a:off x="4498848" y="4160520"/>
            <a:ext cx="1152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3D6E"/>
                </a:solidFill>
              </a:rPr>
              <a:t>str — 2-3 sentences ≤150 words</a:t>
            </a:r>
            <a:endParaRPr lang="en-US" sz="750" dirty="0"/>
          </a:p>
        </p:txBody>
      </p:sp>
      <p:sp>
        <p:nvSpPr>
          <p:cNvPr id="86" name="Text 84"/>
          <p:cNvSpPr txBox="1"/>
          <p:nvPr/>
        </p:nvSpPr>
        <p:spPr>
          <a:xfrm>
            <a:off x="3218688" y="4370832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22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occasion_tags:</a:t>
            </a:r>
            <a:endParaRPr lang="en-US" sz="750" dirty="0"/>
          </a:p>
        </p:txBody>
      </p:sp>
      <p:sp>
        <p:nvSpPr>
          <p:cNvPr id="87" name="Text 85"/>
          <p:cNvSpPr txBox="1"/>
          <p:nvPr/>
        </p:nvSpPr>
        <p:spPr>
          <a:xfrm>
            <a:off x="4498848" y="4370832"/>
            <a:ext cx="1152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3D6E"/>
                </a:solidFill>
              </a:rPr>
              <a:t>list[str] — 2-4 regional occasions</a:t>
            </a:r>
            <a:endParaRPr lang="en-US" sz="750" dirty="0"/>
          </a:p>
        </p:txBody>
      </p:sp>
      <p:sp>
        <p:nvSpPr>
          <p:cNvPr id="88" name="Text 86"/>
          <p:cNvSpPr txBox="1"/>
          <p:nvPr/>
        </p:nvSpPr>
        <p:spPr>
          <a:xfrm>
            <a:off x="3218688" y="4581144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22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seasonal_notes:</a:t>
            </a:r>
            <a:endParaRPr lang="en-US" sz="750" dirty="0"/>
          </a:p>
        </p:txBody>
      </p:sp>
      <p:sp>
        <p:nvSpPr>
          <p:cNvPr id="89" name="Text 87"/>
          <p:cNvSpPr txBox="1"/>
          <p:nvPr/>
        </p:nvSpPr>
        <p:spPr>
          <a:xfrm>
            <a:off x="4498848" y="4581144"/>
            <a:ext cx="1152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3D6E"/>
                </a:solidFill>
              </a:rPr>
              <a:t>str | None — seasonal relevance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5815584" y="1901952"/>
            <a:ext cx="2816352" cy="2944368"/>
          </a:xfrm>
          <a:prstGeom prst="roundRect">
            <a:avLst>
              <a:gd name="adj" fmla="val 2597"/>
            </a:avLst>
          </a:prstGeom>
          <a:solidFill>
            <a:srgbClr val="FFF4EE"/>
          </a:solidFill>
          <a:ln w="12700">
            <a:solidFill>
              <a:srgbClr val="F5D8B8"/>
            </a:solidFill>
            <a:prstDash val="solid"/>
          </a:ln>
          <a:effectLst>
            <a:outerShdw sx="100000" sy="100000" kx="0" ky="0" algn="bl" rotWithShape="0" blurRad="63500" dist="25400" dir="5400000">
              <a:srgbClr val="C4A8E0">
                <a:alpha val="10000"/>
              </a:srgbClr>
            </a:outerShdw>
          </a:effectLst>
        </p:spPr>
      </p:sp>
      <p:sp>
        <p:nvSpPr>
          <p:cNvPr id="91" name="Text 89"/>
          <p:cNvSpPr txBox="1"/>
          <p:nvPr/>
        </p:nvSpPr>
        <p:spPr>
          <a:xfrm>
            <a:off x="5943600" y="197510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6C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MerchandisingResult</a:t>
            </a:r>
            <a:endParaRPr lang="en-US" sz="950" dirty="0"/>
          </a:p>
        </p:txBody>
      </p:sp>
      <p:sp>
        <p:nvSpPr>
          <p:cNvPr id="92" name="Text 90"/>
          <p:cNvSpPr txBox="1"/>
          <p:nvPr/>
        </p:nvSpPr>
        <p:spPr>
          <a:xfrm>
            <a:off x="5943600" y="217627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B8AAB"/>
                </a:solidFill>
              </a:rPr>
              <a:t>← master output for all 4 tools</a:t>
            </a:r>
            <a:endParaRPr lang="en-US" sz="750" dirty="0"/>
          </a:p>
        </p:txBody>
      </p:sp>
      <p:sp>
        <p:nvSpPr>
          <p:cNvPr id="93" name="Text 91"/>
          <p:cNvSpPr txBox="1"/>
          <p:nvPr/>
        </p:nvSpPr>
        <p:spPr>
          <a:xfrm>
            <a:off x="5943600" y="2377440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6C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listing_id:</a:t>
            </a:r>
            <a:endParaRPr lang="en-US" sz="750" dirty="0"/>
          </a:p>
        </p:txBody>
      </p:sp>
      <p:sp>
        <p:nvSpPr>
          <p:cNvPr id="94" name="Text 92"/>
          <p:cNvSpPr txBox="1"/>
          <p:nvPr/>
        </p:nvSpPr>
        <p:spPr>
          <a:xfrm>
            <a:off x="7296912" y="2377440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3D6E"/>
                </a:solidFill>
              </a:rPr>
              <a:t>str</a:t>
            </a:r>
            <a:endParaRPr lang="en-US" sz="750" dirty="0"/>
          </a:p>
        </p:txBody>
      </p:sp>
      <p:sp>
        <p:nvSpPr>
          <p:cNvPr id="95" name="Text 93"/>
          <p:cNvSpPr txBox="1"/>
          <p:nvPr/>
        </p:nvSpPr>
        <p:spPr>
          <a:xfrm>
            <a:off x="5943600" y="2688336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6C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original_title:</a:t>
            </a:r>
            <a:endParaRPr lang="en-US" sz="750" dirty="0"/>
          </a:p>
        </p:txBody>
      </p:sp>
      <p:sp>
        <p:nvSpPr>
          <p:cNvPr id="96" name="Text 94"/>
          <p:cNvSpPr txBox="1"/>
          <p:nvPr/>
        </p:nvSpPr>
        <p:spPr>
          <a:xfrm>
            <a:off x="7296912" y="2688336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3D6E"/>
                </a:solidFill>
              </a:rPr>
              <a:t>str</a:t>
            </a:r>
            <a:endParaRPr lang="en-US" sz="750" dirty="0"/>
          </a:p>
        </p:txBody>
      </p:sp>
      <p:sp>
        <p:nvSpPr>
          <p:cNvPr id="97" name="Text 95"/>
          <p:cNvSpPr txBox="1"/>
          <p:nvPr/>
        </p:nvSpPr>
        <p:spPr>
          <a:xfrm>
            <a:off x="5943600" y="2999232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6C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enriched_description:</a:t>
            </a:r>
            <a:endParaRPr lang="en-US" sz="750" dirty="0"/>
          </a:p>
        </p:txBody>
      </p:sp>
      <p:sp>
        <p:nvSpPr>
          <p:cNvPr id="98" name="Text 96"/>
          <p:cNvSpPr txBox="1"/>
          <p:nvPr/>
        </p:nvSpPr>
        <p:spPr>
          <a:xfrm>
            <a:off x="7296912" y="2999232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3D6E"/>
                </a:solidFill>
              </a:rPr>
              <a:t>str — ≤200 words, benefit-led</a:t>
            </a:r>
            <a:endParaRPr lang="en-US" sz="750" dirty="0"/>
          </a:p>
        </p:txBody>
      </p:sp>
      <p:sp>
        <p:nvSpPr>
          <p:cNvPr id="99" name="Text 97"/>
          <p:cNvSpPr txBox="1"/>
          <p:nvPr/>
        </p:nvSpPr>
        <p:spPr>
          <a:xfrm>
            <a:off x="5943600" y="3310128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6C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benefits_bullets:</a:t>
            </a:r>
            <a:endParaRPr lang="en-US" sz="750" dirty="0"/>
          </a:p>
        </p:txBody>
      </p:sp>
      <p:sp>
        <p:nvSpPr>
          <p:cNvPr id="100" name="Text 98"/>
          <p:cNvSpPr txBox="1"/>
          <p:nvPr/>
        </p:nvSpPr>
        <p:spPr>
          <a:xfrm>
            <a:off x="7296912" y="3310128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3D6E"/>
                </a:solidFill>
              </a:rPr>
              <a:t>list[str] — 3–5 scannable bullets</a:t>
            </a:r>
            <a:endParaRPr lang="en-US" sz="750" dirty="0"/>
          </a:p>
        </p:txBody>
      </p:sp>
      <p:sp>
        <p:nvSpPr>
          <p:cNvPr id="101" name="Text 99"/>
          <p:cNvSpPr txBox="1"/>
          <p:nvPr/>
        </p:nvSpPr>
        <p:spPr>
          <a:xfrm>
            <a:off x="5943600" y="3621024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6C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ontology:</a:t>
            </a:r>
            <a:endParaRPr lang="en-US" sz="750" dirty="0"/>
          </a:p>
        </p:txBody>
      </p:sp>
      <p:sp>
        <p:nvSpPr>
          <p:cNvPr id="102" name="Text 100"/>
          <p:cNvSpPr txBox="1"/>
          <p:nvPr/>
        </p:nvSpPr>
        <p:spPr>
          <a:xfrm>
            <a:off x="7296912" y="3621024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3D6E"/>
                </a:solidFill>
              </a:rPr>
              <a:t>ProductOntology</a:t>
            </a:r>
            <a:endParaRPr lang="en-US" sz="750" dirty="0"/>
          </a:p>
        </p:txBody>
      </p:sp>
      <p:sp>
        <p:nvSpPr>
          <p:cNvPr id="103" name="Text 101"/>
          <p:cNvSpPr txBox="1"/>
          <p:nvPr/>
        </p:nvSpPr>
        <p:spPr>
          <a:xfrm>
            <a:off x="5943600" y="3931920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6C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seo:</a:t>
            </a:r>
            <a:endParaRPr lang="en-US" sz="750" dirty="0"/>
          </a:p>
        </p:txBody>
      </p:sp>
      <p:sp>
        <p:nvSpPr>
          <p:cNvPr id="104" name="Text 102"/>
          <p:cNvSpPr txBox="1"/>
          <p:nvPr/>
        </p:nvSpPr>
        <p:spPr>
          <a:xfrm>
            <a:off x="7296912" y="3931920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3D6E"/>
                </a:solidFill>
              </a:rPr>
              <a:t>SEOContent | None</a:t>
            </a:r>
            <a:endParaRPr lang="en-US" sz="750" dirty="0"/>
          </a:p>
        </p:txBody>
      </p:sp>
      <p:sp>
        <p:nvSpPr>
          <p:cNvPr id="105" name="Text 103"/>
          <p:cNvSpPr txBox="1"/>
          <p:nvPr/>
        </p:nvSpPr>
        <p:spPr>
          <a:xfrm>
            <a:off x="5943600" y="4242816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6C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geo_variants:</a:t>
            </a:r>
            <a:endParaRPr lang="en-US" sz="750" dirty="0"/>
          </a:p>
        </p:txBody>
      </p:sp>
      <p:sp>
        <p:nvSpPr>
          <p:cNvPr id="106" name="Text 104"/>
          <p:cNvSpPr txBox="1"/>
          <p:nvPr/>
        </p:nvSpPr>
        <p:spPr>
          <a:xfrm>
            <a:off x="7296912" y="4242816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3D6E"/>
                </a:solidFill>
              </a:rPr>
              <a:t>list[GeoContent] — one per region</a:t>
            </a:r>
            <a:endParaRPr lang="en-US" sz="750" dirty="0"/>
          </a:p>
        </p:txBody>
      </p:sp>
      <p:sp>
        <p:nvSpPr>
          <p:cNvPr id="107" name="Text 105"/>
          <p:cNvSpPr txBox="1"/>
          <p:nvPr/>
        </p:nvSpPr>
        <p:spPr>
          <a:xfrm>
            <a:off x="5943600" y="4553712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6C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staged_change_id:</a:t>
            </a:r>
            <a:endParaRPr lang="en-US" sz="750" dirty="0"/>
          </a:p>
        </p:txBody>
      </p:sp>
      <p:sp>
        <p:nvSpPr>
          <p:cNvPr id="108" name="Text 106"/>
          <p:cNvSpPr txBox="1"/>
          <p:nvPr/>
        </p:nvSpPr>
        <p:spPr>
          <a:xfrm>
            <a:off x="7296912" y="4553712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3D6E"/>
                </a:solidFill>
              </a:rPr>
              <a:t>str | None — set after staging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0FC"/>
          </a:solidFill>
          <a:ln w="12700">
            <a:solidFill>
              <a:srgbClr val="F7F0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603504"/>
            <a:ext cx="8595360" cy="4315968"/>
          </a:xfrm>
          <a:prstGeom prst="roundRect">
            <a:avLst>
              <a:gd name="adj" fmla="val 2119"/>
            </a:avLst>
          </a:prstGeom>
          <a:solidFill>
            <a:srgbClr val="FFFFFF"/>
          </a:solidFill>
          <a:ln w="12700">
            <a:solidFill>
              <a:srgbClr val="DECCF2"/>
            </a:solidFill>
            <a:prstDash val="solid"/>
          </a:ln>
          <a:effectLst>
            <a:outerShdw sx="100000" sy="100000" kx="0" ky="0" algn="bl" rotWithShape="0" blurRad="101600" dist="25400" dir="5400000">
              <a:srgbClr val="C0A0DC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1480" y="192024"/>
            <a:ext cx="64008" cy="64008"/>
          </a:xfrm>
          <a:prstGeom prst="ellipse">
            <a:avLst/>
          </a:prstGeom>
          <a:solidFill>
            <a:srgbClr val="C45FA0"/>
          </a:solidFill>
          <a:ln w="12700">
            <a:solidFill>
              <a:srgbClr val="C45F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28016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10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Taxonomy Reference Data — taxonomy.py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4242816" cy="256032"/>
          </a:xfrm>
          <a:prstGeom prst="roundRect">
            <a:avLst>
              <a:gd name="adj" fmla="val 17857"/>
            </a:avLst>
          </a:prstGeom>
          <a:solidFill>
            <a:srgbClr val="1C1034"/>
          </a:solidFill>
          <a:ln w="12700">
            <a:solidFill>
              <a:srgbClr val="1C103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" y="768096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0BEE8"/>
                </a:solidFill>
              </a:rPr>
              <a:t>Family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1353312" y="76809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0BEE8"/>
                </a:solidFill>
              </a:rPr>
              <a:t>Key Notes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2633472" y="768096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0BEE8"/>
                </a:solidFill>
              </a:rPr>
              <a:t>Moods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76809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0BEE8"/>
                </a:solidFill>
              </a:rPr>
              <a:t>Occasions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65760" y="1005840"/>
            <a:ext cx="4242816" cy="512064"/>
          </a:xfrm>
          <a:prstGeom prst="rect">
            <a:avLst/>
          </a:prstGeom>
          <a:solidFill>
            <a:srgbClr val="F9F5FF"/>
          </a:solidFill>
          <a:ln w="12700">
            <a:solidFill>
              <a:srgbClr val="E8D8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" y="1097280"/>
            <a:ext cx="804672" cy="201168"/>
          </a:xfrm>
          <a:prstGeom prst="roundRect">
            <a:avLst>
              <a:gd name="adj" fmla="val 22727"/>
            </a:avLst>
          </a:prstGeom>
          <a:solidFill>
            <a:srgbClr val="D65FA0"/>
          </a:solidFill>
          <a:ln w="12700">
            <a:solidFill>
              <a:srgbClr val="D65FA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8912" y="1097280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floral</a:t>
            </a:r>
            <a:endParaRPr lang="en-US" sz="700" dirty="0"/>
          </a:p>
        </p:txBody>
      </p:sp>
      <p:sp>
        <p:nvSpPr>
          <p:cNvPr id="14" name="Text 12"/>
          <p:cNvSpPr txBox="1"/>
          <p:nvPr/>
        </p:nvSpPr>
        <p:spPr>
          <a:xfrm>
            <a:off x="1335024" y="1042416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5C3D6E"/>
                </a:solidFill>
              </a:rPr>
              <a:t>rose · cherry blossom · jasmine</a:t>
            </a:r>
            <a:endParaRPr lang="en-US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2633472" y="1042416"/>
            <a:ext cx="786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5C3D6E"/>
                </a:solidFill>
              </a:rPr>
              <a:t>romantic · uplifting</a:t>
            </a:r>
            <a:endParaRPr lang="en-US" sz="750" dirty="0"/>
          </a:p>
        </p:txBody>
      </p:sp>
      <p:sp>
        <p:nvSpPr>
          <p:cNvPr id="16" name="Text 14"/>
          <p:cNvSpPr txBox="1"/>
          <p:nvPr/>
        </p:nvSpPr>
        <p:spPr>
          <a:xfrm>
            <a:off x="3456432" y="1042416"/>
            <a:ext cx="1078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5C3D6E"/>
                </a:solidFill>
              </a:rPr>
              <a:t>gifting · spring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65760" y="1506931"/>
            <a:ext cx="4242816" cy="10973"/>
          </a:xfrm>
          <a:prstGeom prst="rect">
            <a:avLst/>
          </a:prstGeom>
          <a:solidFill>
            <a:srgbClr val="E8D8F8"/>
          </a:solidFill>
          <a:ln w="12700">
            <a:solidFill>
              <a:srgbClr val="E8D8F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1554480"/>
            <a:ext cx="4242816" cy="512064"/>
          </a:xfrm>
          <a:prstGeom prst="rect">
            <a:avLst/>
          </a:prstGeom>
          <a:solidFill>
            <a:srgbClr val="FDFBFF"/>
          </a:solidFill>
          <a:ln w="12700">
            <a:solidFill>
              <a:srgbClr val="E8D8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8912" y="1645920"/>
            <a:ext cx="804672" cy="201168"/>
          </a:xfrm>
          <a:prstGeom prst="roundRect">
            <a:avLst>
              <a:gd name="adj" fmla="val 2272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38912" y="1645920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fresh</a:t>
            </a:r>
            <a:endParaRPr lang="en-US" sz="700" dirty="0"/>
          </a:p>
        </p:txBody>
      </p:sp>
      <p:sp>
        <p:nvSpPr>
          <p:cNvPr id="21" name="Text 19"/>
          <p:cNvSpPr txBox="1"/>
          <p:nvPr/>
        </p:nvSpPr>
        <p:spPr>
          <a:xfrm>
            <a:off x="1335024" y="1591056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5C3D6E"/>
                </a:solidFill>
              </a:rPr>
              <a:t>cucumber · green tea · ocean mist</a:t>
            </a:r>
            <a:endParaRPr lang="en-US" sz="750" dirty="0"/>
          </a:p>
        </p:txBody>
      </p:sp>
      <p:sp>
        <p:nvSpPr>
          <p:cNvPr id="22" name="Text 20"/>
          <p:cNvSpPr txBox="1"/>
          <p:nvPr/>
        </p:nvSpPr>
        <p:spPr>
          <a:xfrm>
            <a:off x="2633472" y="1591056"/>
            <a:ext cx="786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5C3D6E"/>
                </a:solidFill>
              </a:rPr>
              <a:t>clean · invigorating</a:t>
            </a:r>
            <a:endParaRPr lang="en-US" sz="750" dirty="0"/>
          </a:p>
        </p:txBody>
      </p:sp>
      <p:sp>
        <p:nvSpPr>
          <p:cNvPr id="23" name="Text 21"/>
          <p:cNvSpPr txBox="1"/>
          <p:nvPr/>
        </p:nvSpPr>
        <p:spPr>
          <a:xfrm>
            <a:off x="3456432" y="1591056"/>
            <a:ext cx="1078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5C3D6E"/>
                </a:solidFill>
              </a:rPr>
              <a:t>everyday · summer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65760" y="2055571"/>
            <a:ext cx="4242816" cy="10973"/>
          </a:xfrm>
          <a:prstGeom prst="rect">
            <a:avLst/>
          </a:prstGeom>
          <a:solidFill>
            <a:srgbClr val="E8D8F8"/>
          </a:solidFill>
          <a:ln w="12700">
            <a:solidFill>
              <a:srgbClr val="E8D8F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2103120"/>
            <a:ext cx="4242816" cy="512064"/>
          </a:xfrm>
          <a:prstGeom prst="rect">
            <a:avLst/>
          </a:prstGeom>
          <a:solidFill>
            <a:srgbClr val="F9F5FF"/>
          </a:solidFill>
          <a:ln w="12700">
            <a:solidFill>
              <a:srgbClr val="E8D8F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8912" y="2194560"/>
            <a:ext cx="804672" cy="201168"/>
          </a:xfrm>
          <a:prstGeom prst="roundRect">
            <a:avLst>
              <a:gd name="adj" fmla="val 22727"/>
            </a:avLst>
          </a:prstGeom>
          <a:solidFill>
            <a:srgbClr val="C05020"/>
          </a:solidFill>
          <a:ln w="12700">
            <a:solidFill>
              <a:srgbClr val="C0502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38912" y="2194560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warm_spicy</a:t>
            </a:r>
            <a:endParaRPr lang="en-US" sz="700" dirty="0"/>
          </a:p>
        </p:txBody>
      </p:sp>
      <p:sp>
        <p:nvSpPr>
          <p:cNvPr id="28" name="Text 26"/>
          <p:cNvSpPr txBox="1"/>
          <p:nvPr/>
        </p:nvSpPr>
        <p:spPr>
          <a:xfrm>
            <a:off x="1335024" y="2139696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5C3D6E"/>
                </a:solidFill>
              </a:rPr>
              <a:t>cinnamon · amber · cardamom · vanilla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633472" y="2139696"/>
            <a:ext cx="786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5C3D6E"/>
                </a:solidFill>
              </a:rPr>
              <a:t>cozy · festive</a:t>
            </a:r>
            <a:endParaRPr lang="en-US" sz="750" dirty="0"/>
          </a:p>
        </p:txBody>
      </p:sp>
      <p:sp>
        <p:nvSpPr>
          <p:cNvPr id="30" name="Text 28"/>
          <p:cNvSpPr txBox="1"/>
          <p:nvPr/>
        </p:nvSpPr>
        <p:spPr>
          <a:xfrm>
            <a:off x="3456432" y="2139696"/>
            <a:ext cx="1078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5C3D6E"/>
                </a:solidFill>
              </a:rPr>
              <a:t>fall · holiday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65760" y="2604211"/>
            <a:ext cx="4242816" cy="10973"/>
          </a:xfrm>
          <a:prstGeom prst="rect">
            <a:avLst/>
          </a:prstGeom>
          <a:solidFill>
            <a:srgbClr val="E8D8F8"/>
          </a:solidFill>
          <a:ln w="12700">
            <a:solidFill>
              <a:srgbClr val="E8D8F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2651760"/>
            <a:ext cx="4242816" cy="512064"/>
          </a:xfrm>
          <a:prstGeom prst="rect">
            <a:avLst/>
          </a:prstGeom>
          <a:solidFill>
            <a:srgbClr val="FDFBFF"/>
          </a:solidFill>
          <a:ln w="12700">
            <a:solidFill>
              <a:srgbClr val="E8D8F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8912" y="2743200"/>
            <a:ext cx="804672" cy="201168"/>
          </a:xfrm>
          <a:prstGeom prst="roundRect">
            <a:avLst>
              <a:gd name="adj" fmla="val 22727"/>
            </a:avLst>
          </a:prstGeom>
          <a:solidFill>
            <a:srgbClr val="7A5230"/>
          </a:solidFill>
          <a:ln w="12700">
            <a:solidFill>
              <a:srgbClr val="7A523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38912" y="2743200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woody</a:t>
            </a:r>
            <a:endParaRPr lang="en-US" sz="700" dirty="0"/>
          </a:p>
        </p:txBody>
      </p:sp>
      <p:sp>
        <p:nvSpPr>
          <p:cNvPr id="35" name="Text 33"/>
          <p:cNvSpPr txBox="1"/>
          <p:nvPr/>
        </p:nvSpPr>
        <p:spPr>
          <a:xfrm>
            <a:off x="1335024" y="2688336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5C3D6E"/>
                </a:solidFill>
              </a:rPr>
              <a:t>mahogany · teakwood · sandalwood</a:t>
            </a:r>
            <a:endParaRPr lang="en-US" sz="750" dirty="0"/>
          </a:p>
        </p:txBody>
      </p:sp>
      <p:sp>
        <p:nvSpPr>
          <p:cNvPr id="36" name="Text 34"/>
          <p:cNvSpPr txBox="1"/>
          <p:nvPr/>
        </p:nvSpPr>
        <p:spPr>
          <a:xfrm>
            <a:off x="2633472" y="2688336"/>
            <a:ext cx="786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5C3D6E"/>
                </a:solidFill>
              </a:rPr>
              <a:t>grounding · sophisticated</a:t>
            </a:r>
            <a:endParaRPr lang="en-US" sz="750" dirty="0"/>
          </a:p>
        </p:txBody>
      </p:sp>
      <p:sp>
        <p:nvSpPr>
          <p:cNvPr id="37" name="Text 35"/>
          <p:cNvSpPr txBox="1"/>
          <p:nvPr/>
        </p:nvSpPr>
        <p:spPr>
          <a:xfrm>
            <a:off x="3456432" y="2688336"/>
            <a:ext cx="1078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5C3D6E"/>
                </a:solidFill>
              </a:rPr>
              <a:t>everyday · gifting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365760" y="3152851"/>
            <a:ext cx="4242816" cy="10973"/>
          </a:xfrm>
          <a:prstGeom prst="rect">
            <a:avLst/>
          </a:prstGeom>
          <a:solidFill>
            <a:srgbClr val="E8D8F8"/>
          </a:solidFill>
          <a:ln w="12700">
            <a:solidFill>
              <a:srgbClr val="E8D8F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65760" y="3200400"/>
            <a:ext cx="4242816" cy="512064"/>
          </a:xfrm>
          <a:prstGeom prst="rect">
            <a:avLst/>
          </a:prstGeom>
          <a:solidFill>
            <a:srgbClr val="F9F5FF"/>
          </a:solidFill>
          <a:ln w="12700">
            <a:solidFill>
              <a:srgbClr val="E8D8F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38912" y="3291840"/>
            <a:ext cx="804672" cy="201168"/>
          </a:xfrm>
          <a:prstGeom prst="roundRect">
            <a:avLst>
              <a:gd name="adj" fmla="val 22727"/>
            </a:avLst>
          </a:prstGeom>
          <a:solidFill>
            <a:srgbClr val="C0601A"/>
          </a:solidFill>
          <a:ln w="12700">
            <a:solidFill>
              <a:srgbClr val="C0601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38912" y="3291840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fruity</a:t>
            </a:r>
            <a:endParaRPr lang="en-US" sz="700" dirty="0"/>
          </a:p>
        </p:txBody>
      </p:sp>
      <p:sp>
        <p:nvSpPr>
          <p:cNvPr id="42" name="Text 40"/>
          <p:cNvSpPr txBox="1"/>
          <p:nvPr/>
        </p:nvSpPr>
        <p:spPr>
          <a:xfrm>
            <a:off x="1335024" y="3236976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5C3D6E"/>
                </a:solidFill>
              </a:rPr>
              <a:t>strawberry · mango · pineapple</a:t>
            </a:r>
            <a:endParaRPr lang="en-US" sz="750" dirty="0"/>
          </a:p>
        </p:txBody>
      </p:sp>
      <p:sp>
        <p:nvSpPr>
          <p:cNvPr id="43" name="Text 41"/>
          <p:cNvSpPr txBox="1"/>
          <p:nvPr/>
        </p:nvSpPr>
        <p:spPr>
          <a:xfrm>
            <a:off x="2633472" y="3236976"/>
            <a:ext cx="786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5C3D6E"/>
                </a:solidFill>
              </a:rPr>
              <a:t>playful · energetic</a:t>
            </a:r>
            <a:endParaRPr lang="en-US" sz="750" dirty="0"/>
          </a:p>
        </p:txBody>
      </p:sp>
      <p:sp>
        <p:nvSpPr>
          <p:cNvPr id="44" name="Text 42"/>
          <p:cNvSpPr txBox="1"/>
          <p:nvPr/>
        </p:nvSpPr>
        <p:spPr>
          <a:xfrm>
            <a:off x="3456432" y="3236976"/>
            <a:ext cx="1078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5C3D6E"/>
                </a:solidFill>
              </a:rPr>
              <a:t>summer · teens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365760" y="3701491"/>
            <a:ext cx="4242816" cy="10973"/>
          </a:xfrm>
          <a:prstGeom prst="rect">
            <a:avLst/>
          </a:prstGeom>
          <a:solidFill>
            <a:srgbClr val="E8D8F8"/>
          </a:solidFill>
          <a:ln w="12700">
            <a:solidFill>
              <a:srgbClr val="E8D8F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65760" y="3749040"/>
            <a:ext cx="4242816" cy="512064"/>
          </a:xfrm>
          <a:prstGeom prst="rect">
            <a:avLst/>
          </a:prstGeom>
          <a:solidFill>
            <a:srgbClr val="FDFBFF"/>
          </a:solidFill>
          <a:ln w="12700">
            <a:solidFill>
              <a:srgbClr val="E8D8F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38912" y="3840480"/>
            <a:ext cx="804672" cy="201168"/>
          </a:xfrm>
          <a:prstGeom prst="roundRect">
            <a:avLst>
              <a:gd name="adj" fmla="val 22727"/>
            </a:avLst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438912" y="3840480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gourmand</a:t>
            </a:r>
            <a:endParaRPr lang="en-US" sz="700" dirty="0"/>
          </a:p>
        </p:txBody>
      </p:sp>
      <p:sp>
        <p:nvSpPr>
          <p:cNvPr id="49" name="Text 47"/>
          <p:cNvSpPr txBox="1"/>
          <p:nvPr/>
        </p:nvSpPr>
        <p:spPr>
          <a:xfrm>
            <a:off x="1335024" y="3785616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5C3D6E"/>
                </a:solidFill>
              </a:rPr>
              <a:t>vanilla · caramel · brown sugar</a:t>
            </a:r>
            <a:endParaRPr lang="en-US" sz="750" dirty="0"/>
          </a:p>
        </p:txBody>
      </p:sp>
      <p:sp>
        <p:nvSpPr>
          <p:cNvPr id="50" name="Text 48"/>
          <p:cNvSpPr txBox="1"/>
          <p:nvPr/>
        </p:nvSpPr>
        <p:spPr>
          <a:xfrm>
            <a:off x="2633472" y="3785616"/>
            <a:ext cx="786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5C3D6E"/>
                </a:solidFill>
              </a:rPr>
              <a:t>sweet · indulgent</a:t>
            </a:r>
            <a:endParaRPr lang="en-US" sz="750" dirty="0"/>
          </a:p>
        </p:txBody>
      </p:sp>
      <p:sp>
        <p:nvSpPr>
          <p:cNvPr id="51" name="Text 49"/>
          <p:cNvSpPr txBox="1"/>
          <p:nvPr/>
        </p:nvSpPr>
        <p:spPr>
          <a:xfrm>
            <a:off x="3456432" y="3785616"/>
            <a:ext cx="1078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5C3D6E"/>
                </a:solidFill>
              </a:rPr>
              <a:t>fall · self-care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365760" y="4250131"/>
            <a:ext cx="4242816" cy="10973"/>
          </a:xfrm>
          <a:prstGeom prst="rect">
            <a:avLst/>
          </a:prstGeom>
          <a:solidFill>
            <a:srgbClr val="E8D8F8"/>
          </a:solidFill>
          <a:ln w="12700">
            <a:solidFill>
              <a:srgbClr val="E8D8F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65760" y="4297680"/>
            <a:ext cx="4242816" cy="512064"/>
          </a:xfrm>
          <a:prstGeom prst="rect">
            <a:avLst/>
          </a:prstGeom>
          <a:solidFill>
            <a:srgbClr val="F9F5FF"/>
          </a:solidFill>
          <a:ln w="12700">
            <a:solidFill>
              <a:srgbClr val="E8D8F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38912" y="4389120"/>
            <a:ext cx="804672" cy="201168"/>
          </a:xfrm>
          <a:prstGeom prst="roundRect">
            <a:avLst>
              <a:gd name="adj" fmla="val 22727"/>
            </a:avLst>
          </a:prstGeom>
          <a:solidFill>
            <a:srgbClr val="D4820A"/>
          </a:solidFill>
          <a:ln w="12700">
            <a:solidFill>
              <a:srgbClr val="D4820A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438912" y="4389120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citrus</a:t>
            </a:r>
            <a:endParaRPr lang="en-US" sz="700" dirty="0"/>
          </a:p>
        </p:txBody>
      </p:sp>
      <p:sp>
        <p:nvSpPr>
          <p:cNvPr id="56" name="Text 54"/>
          <p:cNvSpPr txBox="1"/>
          <p:nvPr/>
        </p:nvSpPr>
        <p:spPr>
          <a:xfrm>
            <a:off x="1335024" y="4334256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5C3D6E"/>
                </a:solidFill>
              </a:rPr>
              <a:t>lemon · grapefruit · bergamot</a:t>
            </a:r>
            <a:endParaRPr lang="en-US" sz="750" dirty="0"/>
          </a:p>
        </p:txBody>
      </p:sp>
      <p:sp>
        <p:nvSpPr>
          <p:cNvPr id="57" name="Text 55"/>
          <p:cNvSpPr txBox="1"/>
          <p:nvPr/>
        </p:nvSpPr>
        <p:spPr>
          <a:xfrm>
            <a:off x="2633472" y="4334256"/>
            <a:ext cx="786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5C3D6E"/>
                </a:solidFill>
              </a:rPr>
              <a:t>energizing · vibrant</a:t>
            </a:r>
            <a:endParaRPr lang="en-US" sz="750" dirty="0"/>
          </a:p>
        </p:txBody>
      </p:sp>
      <p:sp>
        <p:nvSpPr>
          <p:cNvPr id="58" name="Text 56"/>
          <p:cNvSpPr txBox="1"/>
          <p:nvPr/>
        </p:nvSpPr>
        <p:spPr>
          <a:xfrm>
            <a:off x="3456432" y="4334256"/>
            <a:ext cx="1078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5C3D6E"/>
                </a:solidFill>
              </a:rPr>
              <a:t>morning · gym</a:t>
            </a:r>
            <a:endParaRPr lang="en-US" sz="750" dirty="0"/>
          </a:p>
        </p:txBody>
      </p:sp>
      <p:sp>
        <p:nvSpPr>
          <p:cNvPr id="59" name="Text 57"/>
          <p:cNvSpPr txBox="1"/>
          <p:nvPr/>
        </p:nvSpPr>
        <p:spPr>
          <a:xfrm>
            <a:off x="365760" y="4882896"/>
            <a:ext cx="4242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8AAB"/>
                </a:solidFill>
              </a:rPr>
              <a:t>FRAGRANCE_PROFILES  — 7 families, each with notes · moods · occasions used to seed Gemini prompts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4700016" y="749808"/>
            <a:ext cx="4114800" cy="256032"/>
          </a:xfrm>
          <a:prstGeom prst="roundRect">
            <a:avLst>
              <a:gd name="adj" fmla="val 17857"/>
            </a:avLst>
          </a:prstGeom>
          <a:solidFill>
            <a:srgbClr val="1C1034"/>
          </a:solidFill>
          <a:ln w="12700">
            <a:solidFill>
              <a:srgbClr val="1C1034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4773168" y="768096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0BEE8"/>
                </a:solidFill>
              </a:rPr>
              <a:t>Region</a:t>
            </a:r>
            <a:endParaRPr lang="en-US" sz="800" dirty="0"/>
          </a:p>
        </p:txBody>
      </p:sp>
      <p:sp>
        <p:nvSpPr>
          <p:cNvPr id="62" name="Text 60"/>
          <p:cNvSpPr txBox="1"/>
          <p:nvPr/>
        </p:nvSpPr>
        <p:spPr>
          <a:xfrm>
            <a:off x="5650992" y="768096"/>
            <a:ext cx="7635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0BEE8"/>
                </a:solidFill>
              </a:rPr>
              <a:t>Winter</a:t>
            </a:r>
            <a:endParaRPr lang="en-US" sz="800" dirty="0"/>
          </a:p>
        </p:txBody>
      </p:sp>
      <p:sp>
        <p:nvSpPr>
          <p:cNvPr id="63" name="Text 61"/>
          <p:cNvSpPr txBox="1"/>
          <p:nvPr/>
        </p:nvSpPr>
        <p:spPr>
          <a:xfrm>
            <a:off x="6451092" y="768096"/>
            <a:ext cx="7635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0BEE8"/>
                </a:solidFill>
              </a:rPr>
              <a:t>Spring</a:t>
            </a:r>
            <a:endParaRPr lang="en-US" sz="800" dirty="0"/>
          </a:p>
        </p:txBody>
      </p:sp>
      <p:sp>
        <p:nvSpPr>
          <p:cNvPr id="64" name="Text 62"/>
          <p:cNvSpPr txBox="1"/>
          <p:nvPr/>
        </p:nvSpPr>
        <p:spPr>
          <a:xfrm>
            <a:off x="7251192" y="768096"/>
            <a:ext cx="7635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0BEE8"/>
                </a:solidFill>
              </a:rPr>
              <a:t>Summer</a:t>
            </a:r>
            <a:endParaRPr lang="en-US" sz="800" dirty="0"/>
          </a:p>
        </p:txBody>
      </p:sp>
      <p:sp>
        <p:nvSpPr>
          <p:cNvPr id="65" name="Text 63"/>
          <p:cNvSpPr txBox="1"/>
          <p:nvPr/>
        </p:nvSpPr>
        <p:spPr>
          <a:xfrm>
            <a:off x="8051292" y="768096"/>
            <a:ext cx="7635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0BEE8"/>
                </a:solidFill>
              </a:rPr>
              <a:t>Fall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4700016" y="1005840"/>
            <a:ext cx="4114800" cy="731520"/>
          </a:xfrm>
          <a:prstGeom prst="rect">
            <a:avLst/>
          </a:prstGeom>
          <a:solidFill>
            <a:srgbClr val="F9F5FF"/>
          </a:solidFill>
          <a:ln w="12700">
            <a:solidFill>
              <a:srgbClr val="E8D8F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745736" y="1060704"/>
            <a:ext cx="822960" cy="201168"/>
          </a:xfrm>
          <a:prstGeom prst="roundRect">
            <a:avLst>
              <a:gd name="adj" fmla="val 22727"/>
            </a:avLst>
          </a:prstGeom>
          <a:solidFill>
            <a:srgbClr val="7026A8"/>
          </a:solidFill>
          <a:ln w="12700">
            <a:solidFill>
              <a:srgbClr val="7026A8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4745736" y="106070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US-northeast</a:t>
            </a:r>
            <a:endParaRPr lang="en-US" sz="650" dirty="0"/>
          </a:p>
        </p:txBody>
      </p:sp>
      <p:sp>
        <p:nvSpPr>
          <p:cNvPr id="69" name="Text 67"/>
          <p:cNvSpPr txBox="1"/>
          <p:nvPr/>
        </p:nvSpPr>
        <p:spPr>
          <a:xfrm>
            <a:off x="5650992" y="1024128"/>
            <a:ext cx="7269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00" dirty="0">
                <a:solidFill>
                  <a:srgbClr val="5C3D6E"/>
                </a:solidFill>
              </a:rPr>
              <a:t>holiday gifting · cozy home · stocking stuffer</a:t>
            </a:r>
            <a:endParaRPr lang="en-US" sz="700" dirty="0"/>
          </a:p>
        </p:txBody>
      </p:sp>
      <p:sp>
        <p:nvSpPr>
          <p:cNvPr id="70" name="Text 68"/>
          <p:cNvSpPr txBox="1"/>
          <p:nvPr/>
        </p:nvSpPr>
        <p:spPr>
          <a:xfrm>
            <a:off x="6451092" y="1024128"/>
            <a:ext cx="7269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00" dirty="0">
                <a:solidFill>
                  <a:srgbClr val="5C3D6E"/>
                </a:solidFill>
              </a:rPr>
              <a:t>Easter gift · spring refresh · Mother's Day</a:t>
            </a:r>
            <a:endParaRPr lang="en-US" sz="700" dirty="0"/>
          </a:p>
        </p:txBody>
      </p:sp>
      <p:sp>
        <p:nvSpPr>
          <p:cNvPr id="71" name="Text 69"/>
          <p:cNvSpPr txBox="1"/>
          <p:nvPr/>
        </p:nvSpPr>
        <p:spPr>
          <a:xfrm>
            <a:off x="7251192" y="1024128"/>
            <a:ext cx="7269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00" dirty="0">
                <a:solidFill>
                  <a:srgbClr val="5C3D6E"/>
                </a:solidFill>
              </a:rPr>
              <a:t>beach bag essential · summer entertaining</a:t>
            </a:r>
            <a:endParaRPr lang="en-US" sz="700" dirty="0"/>
          </a:p>
        </p:txBody>
      </p:sp>
      <p:sp>
        <p:nvSpPr>
          <p:cNvPr id="72" name="Text 70"/>
          <p:cNvSpPr txBox="1"/>
          <p:nvPr/>
        </p:nvSpPr>
        <p:spPr>
          <a:xfrm>
            <a:off x="8051292" y="1024128"/>
            <a:ext cx="7269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00" dirty="0">
                <a:solidFill>
                  <a:srgbClr val="5C3D6E"/>
                </a:solidFill>
              </a:rPr>
              <a:t>pumpkin patch · harvest gifting · Thanksgiving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4700016" y="1726387"/>
            <a:ext cx="4114800" cy="10973"/>
          </a:xfrm>
          <a:prstGeom prst="rect">
            <a:avLst/>
          </a:prstGeom>
          <a:solidFill>
            <a:srgbClr val="E8D8F8"/>
          </a:solidFill>
          <a:ln w="12700">
            <a:solidFill>
              <a:srgbClr val="E8D8F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700016" y="1773936"/>
            <a:ext cx="4114800" cy="731520"/>
          </a:xfrm>
          <a:prstGeom prst="rect">
            <a:avLst/>
          </a:prstGeom>
          <a:solidFill>
            <a:srgbClr val="FDFBFF"/>
          </a:solidFill>
          <a:ln w="12700">
            <a:solidFill>
              <a:srgbClr val="E8D8F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745736" y="1828800"/>
            <a:ext cx="822960" cy="201168"/>
          </a:xfrm>
          <a:prstGeom prst="roundRect">
            <a:avLst>
              <a:gd name="adj" fmla="val 2272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4745736" y="182880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US-south</a:t>
            </a:r>
            <a:endParaRPr lang="en-US" sz="650" dirty="0"/>
          </a:p>
        </p:txBody>
      </p:sp>
      <p:sp>
        <p:nvSpPr>
          <p:cNvPr id="77" name="Text 75"/>
          <p:cNvSpPr txBox="1"/>
          <p:nvPr/>
        </p:nvSpPr>
        <p:spPr>
          <a:xfrm>
            <a:off x="5650992" y="1792224"/>
            <a:ext cx="7269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00" dirty="0">
                <a:solidFill>
                  <a:srgbClr val="5C3D6E"/>
                </a:solidFill>
              </a:rPr>
              <a:t>holiday gifting · warm weather winter</a:t>
            </a:r>
            <a:endParaRPr lang="en-US" sz="700" dirty="0"/>
          </a:p>
        </p:txBody>
      </p:sp>
      <p:sp>
        <p:nvSpPr>
          <p:cNvPr id="78" name="Text 76"/>
          <p:cNvSpPr txBox="1"/>
          <p:nvPr/>
        </p:nvSpPr>
        <p:spPr>
          <a:xfrm>
            <a:off x="6451092" y="1792224"/>
            <a:ext cx="7269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00" dirty="0">
                <a:solidFill>
                  <a:srgbClr val="5C3D6E"/>
                </a:solidFill>
              </a:rPr>
              <a:t>garden party · Easter brunch · Derby season</a:t>
            </a:r>
            <a:endParaRPr lang="en-US" sz="700" dirty="0"/>
          </a:p>
        </p:txBody>
      </p:sp>
      <p:sp>
        <p:nvSpPr>
          <p:cNvPr id="79" name="Text 77"/>
          <p:cNvSpPr txBox="1"/>
          <p:nvPr/>
        </p:nvSpPr>
        <p:spPr>
          <a:xfrm>
            <a:off x="7251192" y="1792224"/>
            <a:ext cx="7269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00" dirty="0">
                <a:solidFill>
                  <a:srgbClr val="5C3D6E"/>
                </a:solidFill>
              </a:rPr>
              <a:t>pool day · barbecue entertaining</a:t>
            </a:r>
            <a:endParaRPr lang="en-US" sz="700" dirty="0"/>
          </a:p>
        </p:txBody>
      </p:sp>
      <p:sp>
        <p:nvSpPr>
          <p:cNvPr id="80" name="Text 78"/>
          <p:cNvSpPr txBox="1"/>
          <p:nvPr/>
        </p:nvSpPr>
        <p:spPr>
          <a:xfrm>
            <a:off x="8051292" y="1792224"/>
            <a:ext cx="7269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00" dirty="0">
                <a:solidFill>
                  <a:srgbClr val="5C3D6E"/>
                </a:solidFill>
              </a:rPr>
              <a:t>tailgate season · Thanksgiving hosting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4700016" y="2494483"/>
            <a:ext cx="4114800" cy="10973"/>
          </a:xfrm>
          <a:prstGeom prst="rect">
            <a:avLst/>
          </a:prstGeom>
          <a:solidFill>
            <a:srgbClr val="E8D8F8"/>
          </a:solidFill>
          <a:ln w="12700">
            <a:solidFill>
              <a:srgbClr val="E8D8F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700016" y="2542032"/>
            <a:ext cx="4114800" cy="731520"/>
          </a:xfrm>
          <a:prstGeom prst="rect">
            <a:avLst/>
          </a:prstGeom>
          <a:solidFill>
            <a:srgbClr val="F9F5FF"/>
          </a:solidFill>
          <a:ln w="12700">
            <a:solidFill>
              <a:srgbClr val="E8D8F8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745736" y="2596896"/>
            <a:ext cx="822960" cy="201168"/>
          </a:xfrm>
          <a:prstGeom prst="roundRect">
            <a:avLst>
              <a:gd name="adj" fmla="val 22727"/>
            </a:avLst>
          </a:prstGeom>
          <a:solidFill>
            <a:srgbClr val="DC6C38"/>
          </a:solidFill>
          <a:ln w="12700">
            <a:solidFill>
              <a:srgbClr val="DC6C38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4745736" y="259689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US-west</a:t>
            </a:r>
            <a:endParaRPr lang="en-US" sz="650" dirty="0"/>
          </a:p>
        </p:txBody>
      </p:sp>
      <p:sp>
        <p:nvSpPr>
          <p:cNvPr id="85" name="Text 83"/>
          <p:cNvSpPr txBox="1"/>
          <p:nvPr/>
        </p:nvSpPr>
        <p:spPr>
          <a:xfrm>
            <a:off x="5650992" y="2560320"/>
            <a:ext cx="7269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00" dirty="0">
                <a:solidFill>
                  <a:srgbClr val="5C3D6E"/>
                </a:solidFill>
              </a:rPr>
              <a:t>holiday gifting · ski weekend · hygge at home</a:t>
            </a:r>
            <a:endParaRPr lang="en-US" sz="700" dirty="0"/>
          </a:p>
        </p:txBody>
      </p:sp>
      <p:sp>
        <p:nvSpPr>
          <p:cNvPr id="86" name="Text 84"/>
          <p:cNvSpPr txBox="1"/>
          <p:nvPr/>
        </p:nvSpPr>
        <p:spPr>
          <a:xfrm>
            <a:off x="6451092" y="2560320"/>
            <a:ext cx="7269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00" dirty="0">
                <a:solidFill>
                  <a:srgbClr val="5C3D6E"/>
                </a:solidFill>
              </a:rPr>
              <a:t>farmers market · outdoor entertaining</a:t>
            </a:r>
            <a:endParaRPr lang="en-US" sz="700" dirty="0"/>
          </a:p>
        </p:txBody>
      </p:sp>
      <p:sp>
        <p:nvSpPr>
          <p:cNvPr id="87" name="Text 85"/>
          <p:cNvSpPr txBox="1"/>
          <p:nvPr/>
        </p:nvSpPr>
        <p:spPr>
          <a:xfrm>
            <a:off x="7251192" y="2560320"/>
            <a:ext cx="7269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00" dirty="0">
                <a:solidFill>
                  <a:srgbClr val="5C3D6E"/>
                </a:solidFill>
              </a:rPr>
              <a:t>hiking essential · beach day · yoga retreat</a:t>
            </a:r>
            <a:endParaRPr lang="en-US" sz="700" dirty="0"/>
          </a:p>
        </p:txBody>
      </p:sp>
      <p:sp>
        <p:nvSpPr>
          <p:cNvPr id="88" name="Text 86"/>
          <p:cNvSpPr txBox="1"/>
          <p:nvPr/>
        </p:nvSpPr>
        <p:spPr>
          <a:xfrm>
            <a:off x="8051292" y="2560320"/>
            <a:ext cx="7269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00" dirty="0">
                <a:solidFill>
                  <a:srgbClr val="5C3D6E"/>
                </a:solidFill>
              </a:rPr>
              <a:t>wine country · harvest season · wellness ritual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4700016" y="3262579"/>
            <a:ext cx="4114800" cy="10973"/>
          </a:xfrm>
          <a:prstGeom prst="rect">
            <a:avLst/>
          </a:prstGeom>
          <a:solidFill>
            <a:srgbClr val="E8D8F8"/>
          </a:solidFill>
          <a:ln w="12700">
            <a:solidFill>
              <a:srgbClr val="E8D8F8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700016" y="3310128"/>
            <a:ext cx="4114800" cy="731520"/>
          </a:xfrm>
          <a:prstGeom prst="rect">
            <a:avLst/>
          </a:prstGeom>
          <a:solidFill>
            <a:srgbClr val="FDFBFF"/>
          </a:solidFill>
          <a:ln w="12700">
            <a:solidFill>
              <a:srgbClr val="E8D8F8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745736" y="3364992"/>
            <a:ext cx="822960" cy="201168"/>
          </a:xfrm>
          <a:prstGeom prst="roundRect">
            <a:avLst>
              <a:gd name="adj" fmla="val 22727"/>
            </a:avLst>
          </a:prstGeom>
          <a:solidFill>
            <a:srgbClr val="C45FA0"/>
          </a:solidFill>
          <a:ln w="12700">
            <a:solidFill>
              <a:srgbClr val="C45FA0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4745736" y="336499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UK</a:t>
            </a:r>
            <a:endParaRPr lang="en-US" sz="650" dirty="0"/>
          </a:p>
        </p:txBody>
      </p:sp>
      <p:sp>
        <p:nvSpPr>
          <p:cNvPr id="93" name="Text 91"/>
          <p:cNvSpPr txBox="1"/>
          <p:nvPr/>
        </p:nvSpPr>
        <p:spPr>
          <a:xfrm>
            <a:off x="5650992" y="3328416"/>
            <a:ext cx="7269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00" dirty="0">
                <a:solidFill>
                  <a:srgbClr val="5C3D6E"/>
                </a:solidFill>
              </a:rPr>
              <a:t>Christmas gifting · Boxing Day treat · cosy night in</a:t>
            </a:r>
            <a:endParaRPr lang="en-US" sz="700" dirty="0"/>
          </a:p>
        </p:txBody>
      </p:sp>
      <p:sp>
        <p:nvSpPr>
          <p:cNvPr id="94" name="Text 92"/>
          <p:cNvSpPr txBox="1"/>
          <p:nvPr/>
        </p:nvSpPr>
        <p:spPr>
          <a:xfrm>
            <a:off x="6451092" y="3328416"/>
            <a:ext cx="7269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00" dirty="0">
                <a:solidFill>
                  <a:srgbClr val="5C3D6E"/>
                </a:solidFill>
              </a:rPr>
              <a:t>Mother's Day · Easter pressie · spring bank holiday</a:t>
            </a:r>
            <a:endParaRPr lang="en-US" sz="700" dirty="0"/>
          </a:p>
        </p:txBody>
      </p:sp>
      <p:sp>
        <p:nvSpPr>
          <p:cNvPr id="95" name="Text 93"/>
          <p:cNvSpPr txBox="1"/>
          <p:nvPr/>
        </p:nvSpPr>
        <p:spPr>
          <a:xfrm>
            <a:off x="7251192" y="3328416"/>
            <a:ext cx="7269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00" dirty="0">
                <a:solidFill>
                  <a:srgbClr val="5C3D6E"/>
                </a:solidFill>
              </a:rPr>
              <a:t>garden party · Wimbledon treat · summer hols</a:t>
            </a:r>
            <a:endParaRPr lang="en-US" sz="700" dirty="0"/>
          </a:p>
        </p:txBody>
      </p:sp>
      <p:sp>
        <p:nvSpPr>
          <p:cNvPr id="96" name="Text 94"/>
          <p:cNvSpPr txBox="1"/>
          <p:nvPr/>
        </p:nvSpPr>
        <p:spPr>
          <a:xfrm>
            <a:off x="8051292" y="3328416"/>
            <a:ext cx="7269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00" dirty="0">
                <a:solidFill>
                  <a:srgbClr val="5C3D6E"/>
                </a:solidFill>
              </a:rPr>
              <a:t>bonfire night · autumn refresh · back to school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4700016" y="4030675"/>
            <a:ext cx="4114800" cy="10973"/>
          </a:xfrm>
          <a:prstGeom prst="rect">
            <a:avLst/>
          </a:prstGeom>
          <a:solidFill>
            <a:srgbClr val="E8D8F8"/>
          </a:solidFill>
          <a:ln w="12700">
            <a:solidFill>
              <a:srgbClr val="E8D8F8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4700016" y="4078224"/>
            <a:ext cx="4114800" cy="731520"/>
          </a:xfrm>
          <a:prstGeom prst="rect">
            <a:avLst/>
          </a:prstGeom>
          <a:solidFill>
            <a:srgbClr val="F9F5FF"/>
          </a:solidFill>
          <a:ln w="12700">
            <a:solidFill>
              <a:srgbClr val="E8D8F8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4745736" y="4133088"/>
            <a:ext cx="822960" cy="201168"/>
          </a:xfrm>
          <a:prstGeom prst="roundRect">
            <a:avLst>
              <a:gd name="adj" fmla="val 22727"/>
            </a:avLst>
          </a:prstGeom>
          <a:solidFill>
            <a:srgbClr val="164E7A"/>
          </a:solidFill>
          <a:ln w="12700">
            <a:solidFill>
              <a:srgbClr val="164E7A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4745736" y="413308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CA</a:t>
            </a:r>
            <a:endParaRPr lang="en-US" sz="650" dirty="0"/>
          </a:p>
        </p:txBody>
      </p:sp>
      <p:sp>
        <p:nvSpPr>
          <p:cNvPr id="101" name="Text 99"/>
          <p:cNvSpPr txBox="1"/>
          <p:nvPr/>
        </p:nvSpPr>
        <p:spPr>
          <a:xfrm>
            <a:off x="5650992" y="4096512"/>
            <a:ext cx="7269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00" dirty="0">
                <a:solidFill>
                  <a:srgbClr val="5C3D6E"/>
                </a:solidFill>
              </a:rPr>
              <a:t>holiday gifting · après-ski · stocking stuffer</a:t>
            </a:r>
            <a:endParaRPr lang="en-US" sz="700" dirty="0"/>
          </a:p>
        </p:txBody>
      </p:sp>
      <p:sp>
        <p:nvSpPr>
          <p:cNvPr id="102" name="Text 100"/>
          <p:cNvSpPr txBox="1"/>
          <p:nvPr/>
        </p:nvSpPr>
        <p:spPr>
          <a:xfrm>
            <a:off x="6451092" y="4096512"/>
            <a:ext cx="7269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00" dirty="0">
                <a:solidFill>
                  <a:srgbClr val="5C3D6E"/>
                </a:solidFill>
              </a:rPr>
              <a:t>Victoria Day · spring refresh · Mother's Day</a:t>
            </a:r>
            <a:endParaRPr lang="en-US" sz="700" dirty="0"/>
          </a:p>
        </p:txBody>
      </p:sp>
      <p:sp>
        <p:nvSpPr>
          <p:cNvPr id="103" name="Text 101"/>
          <p:cNvSpPr txBox="1"/>
          <p:nvPr/>
        </p:nvSpPr>
        <p:spPr>
          <a:xfrm>
            <a:off x="7251192" y="4096512"/>
            <a:ext cx="7269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00" dirty="0">
                <a:solidFill>
                  <a:srgbClr val="5C3D6E"/>
                </a:solidFill>
              </a:rPr>
              <a:t>Canada Day · cottage country · patio season</a:t>
            </a:r>
            <a:endParaRPr lang="en-US" sz="700" dirty="0"/>
          </a:p>
        </p:txBody>
      </p:sp>
      <p:sp>
        <p:nvSpPr>
          <p:cNvPr id="104" name="Text 102"/>
          <p:cNvSpPr txBox="1"/>
          <p:nvPr/>
        </p:nvSpPr>
        <p:spPr>
          <a:xfrm>
            <a:off x="8051292" y="4096512"/>
            <a:ext cx="7269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00" dirty="0">
                <a:solidFill>
                  <a:srgbClr val="5C3D6E"/>
                </a:solidFill>
              </a:rPr>
              <a:t>Thanksgiving CA · back-to-school · harvest gifting</a:t>
            </a:r>
            <a:endParaRPr lang="en-US" sz="700" dirty="0"/>
          </a:p>
        </p:txBody>
      </p:sp>
      <p:sp>
        <p:nvSpPr>
          <p:cNvPr id="105" name="Text 103"/>
          <p:cNvSpPr txBox="1"/>
          <p:nvPr/>
        </p:nvSpPr>
        <p:spPr>
          <a:xfrm>
            <a:off x="4700016" y="488289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8AAB"/>
                </a:solidFill>
              </a:rPr>
              <a:t>GEO_OCCASION_MAP  — 5 regions × 4 seasons; occasion tags injected into geo content prompts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0FC"/>
          </a:solidFill>
          <a:ln w="12700">
            <a:solidFill>
              <a:srgbClr val="F7F0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603504"/>
            <a:ext cx="8595360" cy="4315968"/>
          </a:xfrm>
          <a:prstGeom prst="roundRect">
            <a:avLst>
              <a:gd name="adj" fmla="val 2119"/>
            </a:avLst>
          </a:prstGeom>
          <a:solidFill>
            <a:srgbClr val="FFFFFF"/>
          </a:solidFill>
          <a:ln w="12700">
            <a:solidFill>
              <a:srgbClr val="DECCF2"/>
            </a:solidFill>
            <a:prstDash val="solid"/>
          </a:ln>
          <a:effectLst>
            <a:outerShdw sx="100000" sy="100000" kx="0" ky="0" algn="bl" rotWithShape="0" blurRad="101600" dist="25400" dir="5400000">
              <a:srgbClr val="C0A0DC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1480" y="192024"/>
            <a:ext cx="64008" cy="64008"/>
          </a:xfrm>
          <a:prstGeom prst="ellipse">
            <a:avLst/>
          </a:prstGeom>
          <a:solidFill>
            <a:srgbClr val="C45FA0"/>
          </a:solidFill>
          <a:ln w="12700">
            <a:solidFill>
              <a:srgbClr val="C45F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28016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10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Ontology Seeds Gemini Prompts — The Mechanism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365760" y="786384"/>
            <a:ext cx="4059936" cy="1901952"/>
          </a:xfrm>
          <a:prstGeom prst="roundRect">
            <a:avLst>
              <a:gd name="adj" fmla="val 3846"/>
            </a:avLst>
          </a:prstGeom>
          <a:solidFill>
            <a:srgbClr val="F5EDF9"/>
          </a:solidFill>
          <a:ln w="12700">
            <a:solidFill>
              <a:srgbClr val="DDB8F0"/>
            </a:solidFill>
            <a:prstDash val="solid"/>
          </a:ln>
          <a:effectLst>
            <a:outerShdw sx="100000" sy="100000" kx="0" ky="0" algn="bl" rotWithShape="0" blurRad="63500" dist="25400" dir="5400000">
              <a:srgbClr val="C4A8E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859536"/>
            <a:ext cx="3877056" cy="182880"/>
          </a:xfrm>
          <a:prstGeom prst="roundRect">
            <a:avLst>
              <a:gd name="adj" fmla="val 25000"/>
            </a:avLst>
          </a:prstGeom>
          <a:solidFill>
            <a:srgbClr val="7026A8"/>
          </a:solidFill>
          <a:ln w="12700">
            <a:solidFill>
              <a:srgbClr val="7026A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" y="868680"/>
            <a:ext cx="3803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enrich_product()  ·  POST /merchandising/enrich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57200" y="1078992"/>
            <a:ext cx="3877056" cy="384048"/>
          </a:xfrm>
          <a:prstGeom prst="roundRect">
            <a:avLst>
              <a:gd name="adj" fmla="val 11905"/>
            </a:avLst>
          </a:prstGeom>
          <a:solidFill>
            <a:srgbClr val="1C1034"/>
          </a:solidFill>
          <a:ln w="12700">
            <a:solidFill>
              <a:srgbClr val="1C103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2064" y="1115568"/>
            <a:ext cx="3767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650" dirty="0">
                <a:solidFill>
                  <a:srgbClr val="D0B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benefit_vocab = BENEFIT_VOCABULARY.get(category, ...)</a:t>
            </a:r>
            <a:endParaRPr lang="en-US" sz="6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650" dirty="0">
                <a:solidFill>
                  <a:srgbClr val="D0B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category = product['category']  e.g. 'candles'</a:t>
            </a:r>
            <a:endParaRPr lang="en-US" sz="650" dirty="0"/>
          </a:p>
        </p:txBody>
      </p:sp>
      <p:sp>
        <p:nvSpPr>
          <p:cNvPr id="11" name="Text 9"/>
          <p:cNvSpPr txBox="1"/>
          <p:nvPr/>
        </p:nvSpPr>
        <p:spPr>
          <a:xfrm>
            <a:off x="493776" y="1481328"/>
            <a:ext cx="38039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026A8"/>
                </a:solidFill>
              </a:rPr>
              <a:t>↓  injected into prompt as: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457200" y="1627632"/>
            <a:ext cx="3877056" cy="274320"/>
          </a:xfrm>
          <a:prstGeom prst="roundRect">
            <a:avLst>
              <a:gd name="adj" fmla="val 16667"/>
            </a:avLst>
          </a:prstGeom>
          <a:solidFill>
            <a:srgbClr val="F5EDF9"/>
          </a:solidFill>
          <a:ln w="12700">
            <a:solidFill>
              <a:srgbClr val="DDB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2064" y="1645920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702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"Approved benefit vocabulary for this category:</a:t>
            </a:r>
            <a:endParaRPr lang="en-US" sz="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702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{benefit_vocab}"</a:t>
            </a:r>
            <a:endParaRPr lang="en-US" sz="700" dirty="0"/>
          </a:p>
        </p:txBody>
      </p:sp>
      <p:sp>
        <p:nvSpPr>
          <p:cNvPr id="14" name="Text 12"/>
          <p:cNvSpPr txBox="1"/>
          <p:nvPr/>
        </p:nvSpPr>
        <p:spPr>
          <a:xfrm>
            <a:off x="493776" y="1920240"/>
            <a:ext cx="3803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9B8A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["45-hour burn time","hand-poured","paraffin-free wax blend","lead-free cotton wick","giftable packaging",...]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457200" y="2212848"/>
            <a:ext cx="3877056" cy="402336"/>
          </a:xfrm>
          <a:prstGeom prst="roundRect">
            <a:avLst>
              <a:gd name="adj" fmla="val 11364"/>
            </a:avLst>
          </a:prstGeom>
          <a:solidFill>
            <a:srgbClr val="EDE8F8"/>
          </a:solidFill>
          <a:ln w="12700">
            <a:solidFill>
              <a:srgbClr val="D8C8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12064" y="2249424"/>
            <a:ext cx="3767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5C3D6E"/>
                </a:solidFill>
              </a:rPr>
              <a:t>Without this: "long lasting" · "nice scent" · "great candle"</a:t>
            </a:r>
            <a:endParaRPr lang="en-US" sz="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5C3D6E"/>
                </a:solidFill>
              </a:rPr>
              <a:t>With this: "45-hour burn time" · "paraffin-free" · "hand-poured" — brand voice enforced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590288" y="786384"/>
            <a:ext cx="4059936" cy="1901952"/>
          </a:xfrm>
          <a:prstGeom prst="roundRect">
            <a:avLst>
              <a:gd name="adj" fmla="val 3846"/>
            </a:avLst>
          </a:prstGeom>
          <a:solidFill>
            <a:srgbClr val="F2FBF8"/>
          </a:solidFill>
          <a:ln w="12700">
            <a:solidFill>
              <a:srgbClr val="A8DAC8"/>
            </a:solidFill>
            <a:prstDash val="solid"/>
          </a:ln>
          <a:effectLst>
            <a:outerShdw sx="100000" sy="100000" kx="0" ky="0" algn="bl" rotWithShape="0" blurRad="63500" dist="25400" dir="5400000">
              <a:srgbClr val="C4A8E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81728" y="859536"/>
            <a:ext cx="3877056" cy="182880"/>
          </a:xfrm>
          <a:prstGeom prst="roundRect">
            <a:avLst>
              <a:gd name="adj" fmla="val 25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718304" y="868680"/>
            <a:ext cx="3803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generate_seo_content()  ·  POST /merchandising/seo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4681728" y="1078992"/>
            <a:ext cx="3877056" cy="384048"/>
          </a:xfrm>
          <a:prstGeom prst="roundRect">
            <a:avLst>
              <a:gd name="adj" fmla="val 11905"/>
            </a:avLst>
          </a:prstGeom>
          <a:solidFill>
            <a:srgbClr val="1C1034"/>
          </a:solidFill>
          <a:ln w="12700">
            <a:solidFill>
              <a:srgbClr val="1C103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36592" y="1115568"/>
            <a:ext cx="3767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650" dirty="0">
                <a:solidFill>
                  <a:srgbClr val="D0B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keyword_templates = SEO_KEYWORD_TEMPLATES.get(category, ...)</a:t>
            </a:r>
            <a:endParaRPr lang="en-US" sz="6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650" dirty="0">
                <a:solidFill>
                  <a:srgbClr val="D0B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e.g. category='candles' → ['{fragrance} scented candle', 'luxury candle gift',...]</a:t>
            </a:r>
            <a:endParaRPr lang="en-US" sz="650" dirty="0"/>
          </a:p>
        </p:txBody>
      </p:sp>
      <p:sp>
        <p:nvSpPr>
          <p:cNvPr id="22" name="Text 20"/>
          <p:cNvSpPr txBox="1"/>
          <p:nvPr/>
        </p:nvSpPr>
        <p:spPr>
          <a:xfrm>
            <a:off x="4718304" y="1481328"/>
            <a:ext cx="38039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28090"/>
                </a:solidFill>
              </a:rPr>
              <a:t>↓  injected into prompt as: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681728" y="1627632"/>
            <a:ext cx="3877056" cy="274320"/>
          </a:xfrm>
          <a:prstGeom prst="roundRect">
            <a:avLst>
              <a:gd name="adj" fmla="val 16667"/>
            </a:avLst>
          </a:prstGeom>
          <a:solidFill>
            <a:srgbClr val="F2FBF8"/>
          </a:solidFill>
          <a:ln w="12700">
            <a:solidFill>
              <a:srgbClr val="A8DAC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736592" y="1645920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"Keyword templates to draw from:</a:t>
            </a:r>
            <a:endParaRPr lang="en-US" sz="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{keyword_templates}"</a:t>
            </a:r>
            <a:endParaRPr lang="en-US" sz="700" dirty="0"/>
          </a:p>
        </p:txBody>
      </p:sp>
      <p:sp>
        <p:nvSpPr>
          <p:cNvPr id="25" name="Text 23"/>
          <p:cNvSpPr txBox="1"/>
          <p:nvPr/>
        </p:nvSpPr>
        <p:spPr>
          <a:xfrm>
            <a:off x="4718304" y="1920240"/>
            <a:ext cx="3803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9B8A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["{fragrance} scented candle","luxury candle gift","long-burning candle","three-wick candle","home fragrance candle"]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4681728" y="2212848"/>
            <a:ext cx="3877056" cy="402336"/>
          </a:xfrm>
          <a:prstGeom prst="roundRect">
            <a:avLst>
              <a:gd name="adj" fmla="val 11364"/>
            </a:avLst>
          </a:prstGeom>
          <a:solidFill>
            <a:srgbClr val="EDE8F8"/>
          </a:solidFill>
          <a:ln w="12700">
            <a:solidFill>
              <a:srgbClr val="D8C8F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736592" y="2249424"/>
            <a:ext cx="3767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5C3D6E"/>
                </a:solidFill>
              </a:rPr>
              <a:t>Without this: generic "candle" keywords</a:t>
            </a:r>
            <a:endParaRPr lang="en-US" sz="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5C3D6E"/>
                </a:solidFill>
              </a:rPr>
              <a:t>With this: "mahogany scented candle", "three-wick candle", "long-burning candle" — SEO-targeted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365760" y="2779776"/>
            <a:ext cx="4059936" cy="1901952"/>
          </a:xfrm>
          <a:prstGeom prst="roundRect">
            <a:avLst>
              <a:gd name="adj" fmla="val 3846"/>
            </a:avLst>
          </a:prstGeom>
          <a:solidFill>
            <a:srgbClr val="FFF4EE"/>
          </a:solidFill>
          <a:ln w="12700">
            <a:solidFill>
              <a:srgbClr val="F5D8B8"/>
            </a:solidFill>
            <a:prstDash val="solid"/>
          </a:ln>
          <a:effectLst>
            <a:outerShdw sx="100000" sy="100000" kx="0" ky="0" algn="bl" rotWithShape="0" blurRad="63500" dist="25400" dir="5400000">
              <a:srgbClr val="C4A8E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2852928"/>
            <a:ext cx="3877056" cy="182880"/>
          </a:xfrm>
          <a:prstGeom prst="roundRect">
            <a:avLst>
              <a:gd name="adj" fmla="val 25000"/>
            </a:avLst>
          </a:prstGeom>
          <a:solidFill>
            <a:srgbClr val="DC6C38"/>
          </a:solidFill>
          <a:ln w="12700">
            <a:solidFill>
              <a:srgbClr val="DC6C3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93776" y="2862072"/>
            <a:ext cx="3803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generate_geo_content()  ·  POST /merchandising/geo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457200" y="3072384"/>
            <a:ext cx="3877056" cy="384048"/>
          </a:xfrm>
          <a:prstGeom prst="roundRect">
            <a:avLst>
              <a:gd name="adj" fmla="val 11905"/>
            </a:avLst>
          </a:prstGeom>
          <a:solidFill>
            <a:srgbClr val="1C1034"/>
          </a:solidFill>
          <a:ln w="12700">
            <a:solidFill>
              <a:srgbClr val="1C103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12064" y="3108960"/>
            <a:ext cx="3767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650" dirty="0">
                <a:solidFill>
                  <a:srgbClr val="D0B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region_context = {</a:t>
            </a:r>
            <a:endParaRPr lang="en-US" sz="6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650" dirty="0">
                <a:solidFill>
                  <a:srgbClr val="D0B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r: GEO_OCCASION_MAP.get(r, {})</a:t>
            </a:r>
            <a:endParaRPr lang="en-US" sz="6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650" dirty="0">
                <a:solidFill>
                  <a:srgbClr val="D0B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r in region_list</a:t>
            </a:r>
            <a:endParaRPr lang="en-US" sz="6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650" dirty="0">
                <a:solidFill>
                  <a:srgbClr val="D0B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650" dirty="0"/>
          </a:p>
        </p:txBody>
      </p:sp>
      <p:sp>
        <p:nvSpPr>
          <p:cNvPr id="33" name="Text 31"/>
          <p:cNvSpPr txBox="1"/>
          <p:nvPr/>
        </p:nvSpPr>
        <p:spPr>
          <a:xfrm>
            <a:off x="493776" y="3474720"/>
            <a:ext cx="38039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C6C38"/>
                </a:solidFill>
              </a:rPr>
              <a:t>↓  injected into prompt as: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457200" y="3621024"/>
            <a:ext cx="3877056" cy="274320"/>
          </a:xfrm>
          <a:prstGeom prst="roundRect">
            <a:avLst>
              <a:gd name="adj" fmla="val 16667"/>
            </a:avLst>
          </a:prstGeom>
          <a:solidFill>
            <a:srgbClr val="FFF4EE"/>
          </a:solidFill>
          <a:ln w="12700">
            <a:solidFill>
              <a:srgbClr val="F5D8B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12064" y="3639312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DC6C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"Regions with seasonal occasion context:</a:t>
            </a:r>
            <a:endParaRPr lang="en-US" sz="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DC6C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{region_context}"</a:t>
            </a:r>
            <a:endParaRPr lang="en-US" sz="700" dirty="0"/>
          </a:p>
        </p:txBody>
      </p:sp>
      <p:sp>
        <p:nvSpPr>
          <p:cNvPr id="36" name="Text 34"/>
          <p:cNvSpPr txBox="1"/>
          <p:nvPr/>
        </p:nvSpPr>
        <p:spPr>
          <a:xfrm>
            <a:off x="493776" y="3913632"/>
            <a:ext cx="3803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9B8A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{"UK":{"winter":["Christmas gifting","Boxing Day treat","cosy night in"],"fall":["bonfire night","autumn refresh"],...}}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457200" y="4206240"/>
            <a:ext cx="3877056" cy="402336"/>
          </a:xfrm>
          <a:prstGeom prst="roundRect">
            <a:avLst>
              <a:gd name="adj" fmla="val 11364"/>
            </a:avLst>
          </a:prstGeom>
          <a:solidFill>
            <a:srgbClr val="EDE8F8"/>
          </a:solidFill>
          <a:ln w="12700">
            <a:solidFill>
              <a:srgbClr val="D8C8F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12064" y="4242816"/>
            <a:ext cx="3767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5C3D6E"/>
                </a:solidFill>
              </a:rPr>
              <a:t>Without this: UK copy = US copy with "cosy" spelling</a:t>
            </a:r>
            <a:endParaRPr lang="en-US" sz="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5C3D6E"/>
                </a:solidFill>
              </a:rPr>
              <a:t>With this: "bonfire night gifting" · "après-ski warmth" · "porch BBQ" — culturally authentic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4590288" y="2779776"/>
            <a:ext cx="4059936" cy="1901952"/>
          </a:xfrm>
          <a:prstGeom prst="roundRect">
            <a:avLst>
              <a:gd name="adj" fmla="val 3846"/>
            </a:avLst>
          </a:prstGeom>
          <a:solidFill>
            <a:srgbClr val="F0EBF8"/>
          </a:solidFill>
          <a:ln w="12700">
            <a:solidFill>
              <a:srgbClr val="C8A8E8"/>
            </a:solidFill>
            <a:prstDash val="solid"/>
          </a:ln>
          <a:effectLst>
            <a:outerShdw sx="100000" sy="100000" kx="0" ky="0" algn="bl" rotWithShape="0" blurRad="63500" dist="25400" dir="5400000">
              <a:srgbClr val="C4A8E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81728" y="2852928"/>
            <a:ext cx="3877056" cy="182880"/>
          </a:xfrm>
          <a:prstGeom prst="roundRect">
            <a:avLst>
              <a:gd name="adj" fmla="val 25000"/>
            </a:avLst>
          </a:prstGeom>
          <a:solidFill>
            <a:srgbClr val="82268A"/>
          </a:solidFill>
          <a:ln w="12700">
            <a:solidFill>
              <a:srgbClr val="82268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718304" y="2862072"/>
            <a:ext cx="3803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classify_product_ontology()  ·  GET /merchandising/classify/{id}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4681728" y="3072384"/>
            <a:ext cx="3877056" cy="384048"/>
          </a:xfrm>
          <a:prstGeom prst="roundRect">
            <a:avLst>
              <a:gd name="adj" fmla="val 11905"/>
            </a:avLst>
          </a:prstGeom>
          <a:solidFill>
            <a:srgbClr val="1C1034"/>
          </a:solidFill>
          <a:ln w="12700">
            <a:solidFill>
              <a:srgbClr val="1C1034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736592" y="3108960"/>
            <a:ext cx="3767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650" dirty="0">
                <a:solidFill>
                  <a:srgbClr val="D0B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categories = [c.value for c in ProductCategory]</a:t>
            </a:r>
            <a:endParaRPr lang="en-US" sz="6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650" dirty="0">
                <a:solidFill>
                  <a:srgbClr val="D0B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all_subcategories = CATEGORY_TAXONOMY</a:t>
            </a:r>
            <a:endParaRPr lang="en-US" sz="650" dirty="0"/>
          </a:p>
        </p:txBody>
      </p:sp>
      <p:sp>
        <p:nvSpPr>
          <p:cNvPr id="44" name="Text 42"/>
          <p:cNvSpPr txBox="1"/>
          <p:nvPr/>
        </p:nvSpPr>
        <p:spPr>
          <a:xfrm>
            <a:off x="4718304" y="3474720"/>
            <a:ext cx="38039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82268A"/>
                </a:solidFill>
              </a:rPr>
              <a:t>↓  injected into prompt as: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4681728" y="3621024"/>
            <a:ext cx="3877056" cy="274320"/>
          </a:xfrm>
          <a:prstGeom prst="roundRect">
            <a:avLst>
              <a:gd name="adj" fmla="val 16667"/>
            </a:avLst>
          </a:prstGeom>
          <a:solidFill>
            <a:srgbClr val="F0EBF8"/>
          </a:solidFill>
          <a:ln w="12700">
            <a:solidFill>
              <a:srgbClr val="C8A8E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736592" y="3639312"/>
            <a:ext cx="3767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822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"Available categories: {categories}</a:t>
            </a:r>
            <a:endParaRPr lang="en-US" sz="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822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Subcategory options by category:</a:t>
            </a:r>
            <a:endParaRPr lang="en-US" sz="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822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{all_subcategories}"</a:t>
            </a:r>
            <a:endParaRPr lang="en-US" sz="700" dirty="0"/>
          </a:p>
        </p:txBody>
      </p:sp>
      <p:sp>
        <p:nvSpPr>
          <p:cNvPr id="47" name="Text 45"/>
          <p:cNvSpPr txBox="1"/>
          <p:nvPr/>
        </p:nvSpPr>
        <p:spPr>
          <a:xfrm>
            <a:off x="4718304" y="3913632"/>
            <a:ext cx="3803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9B8A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["candles","body_care","home_fragrance","soaps","jewelry","accessories","other"]</a:t>
            </a:r>
            <a:endParaRPr lang="en-US" sz="6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9B8A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{"candles":["3-wick","single-wick","mini","travel","seasonal"],...}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4681728" y="4206240"/>
            <a:ext cx="3877056" cy="402336"/>
          </a:xfrm>
          <a:prstGeom prst="roundRect">
            <a:avLst>
              <a:gd name="adj" fmla="val 11364"/>
            </a:avLst>
          </a:prstGeom>
          <a:solidFill>
            <a:srgbClr val="EDE8F8"/>
          </a:solidFill>
          <a:ln w="12700">
            <a:solidFill>
              <a:srgbClr val="D8C8F0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736592" y="4242816"/>
            <a:ext cx="3767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5C3D6E"/>
                </a:solidFill>
              </a:rPr>
              <a:t>Without this: Gemini invents "aromatherapy" as a top-level category</a:t>
            </a:r>
            <a:endParaRPr lang="en-US" sz="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5C3D6E"/>
                </a:solidFill>
              </a:rPr>
              <a:t>With this: constrained to valid enum → zero hallucinated categories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0FC"/>
          </a:solidFill>
          <a:ln w="12700">
            <a:solidFill>
              <a:srgbClr val="F7F0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603504"/>
            <a:ext cx="8595360" cy="4315968"/>
          </a:xfrm>
          <a:prstGeom prst="roundRect">
            <a:avLst>
              <a:gd name="adj" fmla="val 2119"/>
            </a:avLst>
          </a:prstGeom>
          <a:solidFill>
            <a:srgbClr val="FFFFFF"/>
          </a:solidFill>
          <a:ln w="12700">
            <a:solidFill>
              <a:srgbClr val="DECCF2"/>
            </a:solidFill>
            <a:prstDash val="solid"/>
          </a:ln>
          <a:effectLst>
            <a:outerShdw sx="100000" sy="100000" kx="0" ky="0" algn="bl" rotWithShape="0" blurRad="101600" dist="25400" dir="5400000">
              <a:srgbClr val="C0A0DC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1480" y="192024"/>
            <a:ext cx="64008" cy="64008"/>
          </a:xfrm>
          <a:prstGeom prst="ellipse">
            <a:avLst/>
          </a:prstGeom>
          <a:solidFill>
            <a:srgbClr val="C45FA0"/>
          </a:solidFill>
          <a:ln w="12700">
            <a:solidFill>
              <a:srgbClr val="C45F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28016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10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Merchandising Agent Skills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804672"/>
            <a:ext cx="3913632" cy="1874520"/>
          </a:xfrm>
          <a:prstGeom prst="roundRect">
            <a:avLst>
              <a:gd name="adj" fmla="val 3902"/>
            </a:avLst>
          </a:prstGeom>
          <a:solidFill>
            <a:srgbClr val="FDFBFF"/>
          </a:solidFill>
          <a:ln w="12700">
            <a:solidFill>
              <a:srgbClr val="E4D4F5"/>
            </a:solidFill>
            <a:prstDash val="solid"/>
          </a:ln>
          <a:effectLst>
            <a:outerShdw sx="100000" sy="100000" kx="0" ky="0" algn="bl" rotWithShape="0" blurRad="63500" dist="25400" dir="5400000">
              <a:srgbClr val="C4A8E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03504" y="932688"/>
            <a:ext cx="365760" cy="365760"/>
          </a:xfrm>
          <a:prstGeom prst="ellipse">
            <a:avLst/>
          </a:prstGeom>
          <a:solidFill>
            <a:srgbClr val="7026A8"/>
          </a:solidFill>
          <a:ln w="12700">
            <a:solidFill>
              <a:srgbClr val="7026A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03504" y="932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941832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02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enrich_product()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03504" y="1335024"/>
            <a:ext cx="36210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C1034"/>
                </a:solidFill>
              </a:rPr>
              <a:t>Vivid B2C product description + 3-5 benefit bullets + semantic attributes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6928" y="1883664"/>
            <a:ext cx="3694176" cy="685800"/>
          </a:xfrm>
          <a:prstGeom prst="roundRect">
            <a:avLst>
              <a:gd name="adj" fmla="val 6667"/>
            </a:avLst>
          </a:prstGeom>
          <a:solidFill>
            <a:srgbClr val="F0EBF8"/>
          </a:solidFill>
          <a:ln w="12700">
            <a:solidFill>
              <a:srgbClr val="DDD0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1920240"/>
            <a:ext cx="3547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C3D6E"/>
                </a:solidFill>
              </a:rPr>
              <a:t>Input: BBW-C001 (Mahogany Teakwood Candle)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C3D6E"/>
                </a:solidFill>
              </a:rPr>
              <a:t>Output: "Transform your living space with bold woodsy warmth…" + 4 benefit bullets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0" y="804672"/>
            <a:ext cx="3913632" cy="1874520"/>
          </a:xfrm>
          <a:prstGeom prst="roundRect">
            <a:avLst>
              <a:gd name="adj" fmla="val 3902"/>
            </a:avLst>
          </a:prstGeom>
          <a:solidFill>
            <a:srgbClr val="FDFBFF"/>
          </a:solidFill>
          <a:ln w="12700">
            <a:solidFill>
              <a:srgbClr val="E4D4F5"/>
            </a:solidFill>
            <a:prstDash val="solid"/>
          </a:ln>
          <a:effectLst>
            <a:outerShdw sx="100000" sy="100000" kx="0" ky="0" algn="bl" rotWithShape="0" blurRad="63500" dist="25400" dir="5400000">
              <a:srgbClr val="C4A8E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18304" y="932688"/>
            <a:ext cx="365760" cy="3657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18304" y="932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166360" y="941832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generate_seo_content()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718304" y="1335024"/>
            <a:ext cx="36210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C1034"/>
                </a:solidFill>
              </a:rPr>
              <a:t>Keyword-first SEO title (≤60 chars), meta description (≤155 chars), H1, URL slug, keywords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81728" y="1883664"/>
            <a:ext cx="3694176" cy="685800"/>
          </a:xfrm>
          <a:prstGeom prst="roundRect">
            <a:avLst>
              <a:gd name="adj" fmla="val 6667"/>
            </a:avLst>
          </a:prstGeom>
          <a:solidFill>
            <a:srgbClr val="F0EBF8"/>
          </a:solidFill>
          <a:ln w="12700">
            <a:solidFill>
              <a:srgbClr val="DDD0E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754880" y="1920240"/>
            <a:ext cx="3547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C3D6E"/>
                </a:solidFill>
              </a:rPr>
              <a:t>Input: BBW-B001, market=US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C3D6E"/>
                </a:solidFill>
              </a:rPr>
              <a:t>Output: title "Japanese Cherry Blossom Body Lotion – 24-Hr Moisture"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" y="2862072"/>
            <a:ext cx="3913632" cy="1874520"/>
          </a:xfrm>
          <a:prstGeom prst="roundRect">
            <a:avLst>
              <a:gd name="adj" fmla="val 3902"/>
            </a:avLst>
          </a:prstGeom>
          <a:solidFill>
            <a:srgbClr val="FDFBFF"/>
          </a:solidFill>
          <a:ln w="12700">
            <a:solidFill>
              <a:srgbClr val="E4D4F5"/>
            </a:solidFill>
            <a:prstDash val="solid"/>
          </a:ln>
          <a:effectLst>
            <a:outerShdw sx="100000" sy="100000" kx="0" ky="0" algn="bl" rotWithShape="0" blurRad="63500" dist="25400" dir="5400000">
              <a:srgbClr val="C4A8E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3504" y="2990088"/>
            <a:ext cx="365760" cy="365760"/>
          </a:xfrm>
          <a:prstGeom prst="ellipse">
            <a:avLst/>
          </a:prstGeom>
          <a:solidFill>
            <a:srgbClr val="DC6C38"/>
          </a:solidFill>
          <a:ln w="12700">
            <a:solidFill>
              <a:srgbClr val="DC6C3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03504" y="2990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2999232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6C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generate_geo_content()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03504" y="3392424"/>
            <a:ext cx="36210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C1034"/>
                </a:solidFill>
              </a:rPr>
              <a:t>Region-adapted product copy using GEO_OCCASION_MAP for US-NE, US-South, UK, CA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66928" y="3941064"/>
            <a:ext cx="3694176" cy="685800"/>
          </a:xfrm>
          <a:prstGeom prst="roundRect">
            <a:avLst>
              <a:gd name="adj" fmla="val 6667"/>
            </a:avLst>
          </a:prstGeom>
          <a:solidFill>
            <a:srgbClr val="F0EBF8"/>
          </a:solidFill>
          <a:ln w="12700">
            <a:solidFill>
              <a:srgbClr val="DDD0E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" y="3977640"/>
            <a:ext cx="3547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C3D6E"/>
                </a:solidFill>
              </a:rPr>
              <a:t>Input: BBW-C003, regions=US-northeast,UK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C3D6E"/>
                </a:solidFill>
              </a:rPr>
              <a:t>Output: cozy-cabin framing for NE, autumnal gifting for UK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572000" y="2862072"/>
            <a:ext cx="3913632" cy="1874520"/>
          </a:xfrm>
          <a:prstGeom prst="roundRect">
            <a:avLst>
              <a:gd name="adj" fmla="val 3902"/>
            </a:avLst>
          </a:prstGeom>
          <a:solidFill>
            <a:srgbClr val="FDFBFF"/>
          </a:solidFill>
          <a:ln w="12700">
            <a:solidFill>
              <a:srgbClr val="E4D4F5"/>
            </a:solidFill>
            <a:prstDash val="solid"/>
          </a:ln>
          <a:effectLst>
            <a:outerShdw sx="100000" sy="100000" kx="0" ky="0" algn="bl" rotWithShape="0" blurRad="63500" dist="25400" dir="5400000">
              <a:srgbClr val="C4A8E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18304" y="2990088"/>
            <a:ext cx="365760" cy="365760"/>
          </a:xfrm>
          <a:prstGeom prst="ellipse">
            <a:avLst/>
          </a:prstGeom>
          <a:solidFill>
            <a:srgbClr val="164E7A"/>
          </a:solidFill>
          <a:ln w="12700">
            <a:solidFill>
              <a:srgbClr val="164E7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718304" y="2990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166360" y="2999232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4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classify_product_ontology()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4718304" y="3392424"/>
            <a:ext cx="36210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C1034"/>
                </a:solidFill>
              </a:rPr>
              <a:t>ProductCategory, subcategory, style tags, occasions, benefits, target persona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81728" y="3941064"/>
            <a:ext cx="3694176" cy="685800"/>
          </a:xfrm>
          <a:prstGeom prst="roundRect">
            <a:avLst>
              <a:gd name="adj" fmla="val 6667"/>
            </a:avLst>
          </a:prstGeom>
          <a:solidFill>
            <a:srgbClr val="F0EBF8"/>
          </a:solidFill>
          <a:ln w="12700">
            <a:solidFill>
              <a:srgbClr val="DDD0E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754880" y="3977640"/>
            <a:ext cx="3547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C3D6E"/>
                </a:solidFill>
              </a:rPr>
              <a:t>Input: BBW-H003 (Aromatherapy Pillow Mist)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C3D6E"/>
                </a:solidFill>
              </a:rPr>
              <a:t>Output: home_fragrance · [sleep, self-care, gifting] · self-gifter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0FC"/>
          </a:solidFill>
          <a:ln w="12700">
            <a:solidFill>
              <a:srgbClr val="F7F0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603504"/>
            <a:ext cx="8595360" cy="4315968"/>
          </a:xfrm>
          <a:prstGeom prst="roundRect">
            <a:avLst>
              <a:gd name="adj" fmla="val 2119"/>
            </a:avLst>
          </a:prstGeom>
          <a:solidFill>
            <a:srgbClr val="FFFFFF"/>
          </a:solidFill>
          <a:ln w="12700">
            <a:solidFill>
              <a:srgbClr val="DECCF2"/>
            </a:solidFill>
            <a:prstDash val="solid"/>
          </a:ln>
          <a:effectLst>
            <a:outerShdw sx="100000" sy="100000" kx="0" ky="0" algn="bl" rotWithShape="0" blurRad="101600" dist="25400" dir="5400000">
              <a:srgbClr val="C0A0DC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1480" y="192024"/>
            <a:ext cx="64008" cy="64008"/>
          </a:xfrm>
          <a:prstGeom prst="ellipse">
            <a:avLst/>
          </a:prstGeom>
          <a:solidFill>
            <a:srgbClr val="C45FA0"/>
          </a:solidFill>
          <a:ln w="12700">
            <a:solidFill>
              <a:srgbClr val="C45F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28016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10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BBW-Aligned B2C Use Cases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804672"/>
            <a:ext cx="3913632" cy="1874520"/>
          </a:xfrm>
          <a:prstGeom prst="roundRect">
            <a:avLst>
              <a:gd name="adj" fmla="val 3902"/>
            </a:avLst>
          </a:prstGeom>
          <a:solidFill>
            <a:srgbClr val="FDFBFF"/>
          </a:solidFill>
          <a:ln w="12700">
            <a:solidFill>
              <a:srgbClr val="E4D4F5"/>
            </a:solidFill>
            <a:prstDash val="solid"/>
          </a:ln>
          <a:effectLst>
            <a:outerShdw sx="100000" sy="100000" kx="0" ky="0" algn="bl" rotWithShape="0" blurRad="63500" dist="25400" dir="5400000">
              <a:srgbClr val="C4A8E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923544"/>
            <a:ext cx="1051560" cy="219456"/>
          </a:xfrm>
          <a:prstGeom prst="roundRect">
            <a:avLst>
              <a:gd name="adj" fmla="val 50000"/>
            </a:avLst>
          </a:prstGeom>
          <a:solidFill>
            <a:srgbClr val="DC6C38"/>
          </a:solidFill>
          <a:ln w="12700">
            <a:solidFill>
              <a:srgbClr val="DC6C3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92354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Candles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816352" y="923544"/>
            <a:ext cx="1417320" cy="219456"/>
          </a:xfrm>
          <a:prstGeom prst="roundRect">
            <a:avLst>
              <a:gd name="adj" fmla="val 50000"/>
            </a:avLst>
          </a:prstGeom>
          <a:solidFill>
            <a:srgbClr val="EEE8F8"/>
          </a:solidFill>
          <a:ln w="12700">
            <a:solidFill>
              <a:srgbClr val="DDD0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16352" y="92354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DC6C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enrich_product()</a:t>
            </a:r>
            <a:endParaRPr lang="en-US" sz="65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1216152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B8AAB"/>
                </a:solidFill>
              </a:rPr>
              <a:t>Mahogany Teakwood 3-Wick Candle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1426464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0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Rich Product Storytelling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1737360"/>
            <a:ext cx="36393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C3D6E"/>
                </a:solidFill>
              </a:rPr>
              <a:t>Gemini generates a vivid, fragrance-led paragraph — "bold woodsy warmth of mahogany, dark teakwood, and smoked oak" — plus scannable benefit bullets for shoppers.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0" y="804672"/>
            <a:ext cx="3913632" cy="1874520"/>
          </a:xfrm>
          <a:prstGeom prst="roundRect">
            <a:avLst>
              <a:gd name="adj" fmla="val 3902"/>
            </a:avLst>
          </a:prstGeom>
          <a:solidFill>
            <a:srgbClr val="FDFBFF"/>
          </a:solidFill>
          <a:ln w="12700">
            <a:solidFill>
              <a:srgbClr val="E4D4F5"/>
            </a:solidFill>
            <a:prstDash val="solid"/>
          </a:ln>
          <a:effectLst>
            <a:outerShdw sx="100000" sy="100000" kx="0" ky="0" algn="bl" rotWithShape="0" blurRad="63500" dist="25400" dir="5400000">
              <a:srgbClr val="C4A8E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923544"/>
            <a:ext cx="1051560" cy="219456"/>
          </a:xfrm>
          <a:prstGeom prst="roundRect">
            <a:avLst>
              <a:gd name="adj" fmla="val 50000"/>
            </a:avLst>
          </a:prstGeom>
          <a:solidFill>
            <a:srgbClr val="C45FA0"/>
          </a:solidFill>
          <a:ln w="12700">
            <a:solidFill>
              <a:srgbClr val="C45FA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09160" y="92354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Body Care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931152" y="923544"/>
            <a:ext cx="1417320" cy="219456"/>
          </a:xfrm>
          <a:prstGeom prst="roundRect">
            <a:avLst>
              <a:gd name="adj" fmla="val 50000"/>
            </a:avLst>
          </a:prstGeom>
          <a:solidFill>
            <a:srgbClr val="EEE8F8"/>
          </a:solidFill>
          <a:ln w="12700">
            <a:solidFill>
              <a:srgbClr val="DDD0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31152" y="92354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45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generate_seo_content()</a:t>
            </a:r>
            <a:endParaRPr lang="en-US" sz="650" dirty="0"/>
          </a:p>
        </p:txBody>
      </p:sp>
      <p:sp>
        <p:nvSpPr>
          <p:cNvPr id="19" name="Text 17"/>
          <p:cNvSpPr txBox="1"/>
          <p:nvPr/>
        </p:nvSpPr>
        <p:spPr>
          <a:xfrm>
            <a:off x="4709160" y="1216152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B8AAB"/>
                </a:solidFill>
              </a:rPr>
              <a:t>Japanese Cherry Blossom Body Lotion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4709160" y="1426464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0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SEO Catalog Optimization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709160" y="1737360"/>
            <a:ext cx="36393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C3D6E"/>
                </a:solidFill>
              </a:rPr>
              <a:t>Keyword-first titles and meta descriptions are generated for each market. US output: "Japanese Cherry Blossom Body Lotion – 24-Hr Moisture | DreamHaus".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2862072"/>
            <a:ext cx="3913632" cy="1874520"/>
          </a:xfrm>
          <a:prstGeom prst="roundRect">
            <a:avLst>
              <a:gd name="adj" fmla="val 3902"/>
            </a:avLst>
          </a:prstGeom>
          <a:solidFill>
            <a:srgbClr val="FDFBFF"/>
          </a:solidFill>
          <a:ln w="12700">
            <a:solidFill>
              <a:srgbClr val="E4D4F5"/>
            </a:solidFill>
            <a:prstDash val="solid"/>
          </a:ln>
          <a:effectLst>
            <a:outerShdw sx="100000" sy="100000" kx="0" ky="0" algn="bl" rotWithShape="0" blurRad="63500" dist="25400" dir="5400000">
              <a:srgbClr val="C4A8E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4360" y="2980944"/>
            <a:ext cx="1051560" cy="21945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4360" y="298094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Home Fragrance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816352" y="2980944"/>
            <a:ext cx="1417320" cy="219456"/>
          </a:xfrm>
          <a:prstGeom prst="roundRect">
            <a:avLst>
              <a:gd name="adj" fmla="val 50000"/>
            </a:avLst>
          </a:prstGeom>
          <a:solidFill>
            <a:srgbClr val="EEE8F8"/>
          </a:solidFill>
          <a:ln w="12700">
            <a:solidFill>
              <a:srgbClr val="DDD0E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816352" y="298094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generate_geo_content()</a:t>
            </a:r>
            <a:endParaRPr lang="en-US" sz="650" dirty="0"/>
          </a:p>
        </p:txBody>
      </p:sp>
      <p:sp>
        <p:nvSpPr>
          <p:cNvPr id="27" name="Text 25"/>
          <p:cNvSpPr txBox="1"/>
          <p:nvPr/>
        </p:nvSpPr>
        <p:spPr>
          <a:xfrm>
            <a:off x="594360" y="3273552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B8AAB"/>
                </a:solidFill>
              </a:rPr>
              <a:t>Fresh Balsam Room Spray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594360" y="3483864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0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Holiday Geo Targeting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94360" y="3794760"/>
            <a:ext cx="36393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C3D6E"/>
                </a:solidFill>
              </a:rPr>
              <a:t>US-Northeast buyers get "bring the forest indoors this holiday season." UK buyers get autumnal gifting framing with seasonal notes for autumn warmth and self-care.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0" y="2862072"/>
            <a:ext cx="3913632" cy="1874520"/>
          </a:xfrm>
          <a:prstGeom prst="roundRect">
            <a:avLst>
              <a:gd name="adj" fmla="val 3902"/>
            </a:avLst>
          </a:prstGeom>
          <a:solidFill>
            <a:srgbClr val="FDFBFF"/>
          </a:solidFill>
          <a:ln w="12700">
            <a:solidFill>
              <a:srgbClr val="E4D4F5"/>
            </a:solidFill>
            <a:prstDash val="solid"/>
          </a:ln>
          <a:effectLst>
            <a:outerShdw sx="100000" sy="100000" kx="0" ky="0" algn="bl" rotWithShape="0" blurRad="63500" dist="25400" dir="5400000">
              <a:srgbClr val="C4A8E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2980944"/>
            <a:ext cx="1051560" cy="219456"/>
          </a:xfrm>
          <a:prstGeom prst="roundRect">
            <a:avLst>
              <a:gd name="adj" fmla="val 50000"/>
            </a:avLst>
          </a:prstGeom>
          <a:solidFill>
            <a:srgbClr val="7026A8"/>
          </a:solidFill>
          <a:ln w="12700">
            <a:solidFill>
              <a:srgbClr val="7026A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709160" y="298094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Soaps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931152" y="2980944"/>
            <a:ext cx="1417320" cy="219456"/>
          </a:xfrm>
          <a:prstGeom prst="roundRect">
            <a:avLst>
              <a:gd name="adj" fmla="val 50000"/>
            </a:avLst>
          </a:prstGeom>
          <a:solidFill>
            <a:srgbClr val="EEE8F8"/>
          </a:solidFill>
          <a:ln w="12700">
            <a:solidFill>
              <a:srgbClr val="DDD0E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931152" y="298094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702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classify_product_ontology()</a:t>
            </a:r>
            <a:endParaRPr lang="en-US" sz="650" dirty="0"/>
          </a:p>
        </p:txBody>
      </p:sp>
      <p:sp>
        <p:nvSpPr>
          <p:cNvPr id="35" name="Text 33"/>
          <p:cNvSpPr txBox="1"/>
          <p:nvPr/>
        </p:nvSpPr>
        <p:spPr>
          <a:xfrm>
            <a:off x="4709160" y="3273552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B8AAB"/>
                </a:solidFill>
              </a:rPr>
              <a:t>Aromatherapy Sleep Pillow Mist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4709160" y="3483864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0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Collection Curation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4709160" y="3794760"/>
            <a:ext cx="36393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C3D6E"/>
                </a:solidFill>
              </a:rPr>
              <a:t>Classify product into home_fragrance, with occasions [sleep, self-care, gifting] and persona "self-gifter" — so the catalog can auto-build collections without manual tagging.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0FC"/>
          </a:solidFill>
          <a:ln w="12700">
            <a:solidFill>
              <a:srgbClr val="F7F0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603504"/>
            <a:ext cx="8595360" cy="4315968"/>
          </a:xfrm>
          <a:prstGeom prst="roundRect">
            <a:avLst>
              <a:gd name="adj" fmla="val 2119"/>
            </a:avLst>
          </a:prstGeom>
          <a:solidFill>
            <a:srgbClr val="FFFFFF"/>
          </a:solidFill>
          <a:ln w="12700">
            <a:solidFill>
              <a:srgbClr val="DECCF2"/>
            </a:solidFill>
            <a:prstDash val="solid"/>
          </a:ln>
          <a:effectLst>
            <a:outerShdw sx="100000" sy="100000" kx="0" ky="0" algn="bl" rotWithShape="0" blurRad="101600" dist="25400" dir="5400000">
              <a:srgbClr val="C0A0DC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1480" y="192024"/>
            <a:ext cx="64008" cy="64008"/>
          </a:xfrm>
          <a:prstGeom prst="ellipse">
            <a:avLst/>
          </a:prstGeom>
          <a:solidFill>
            <a:srgbClr val="C45FA0"/>
          </a:solidFill>
          <a:ln w="12700">
            <a:solidFill>
              <a:srgbClr val="C45F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28016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10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Competitive Gap — Why Not SFCC OOTB?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365760" y="768096"/>
            <a:ext cx="8412480" cy="256032"/>
          </a:xfrm>
          <a:prstGeom prst="roundRect">
            <a:avLst>
              <a:gd name="adj" fmla="val 17857"/>
            </a:avLst>
          </a:prstGeom>
          <a:solidFill>
            <a:srgbClr val="1C1034"/>
          </a:solidFill>
          <a:ln w="12700">
            <a:solidFill>
              <a:srgbClr val="1C103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75488" y="822960"/>
            <a:ext cx="2066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0BEE8"/>
                </a:solidFill>
              </a:rPr>
              <a:t>Use Case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2523744" y="822960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0BEE8"/>
                </a:solidFill>
              </a:rPr>
              <a:t>SFCC OOTB Status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3968496" y="822960"/>
            <a:ext cx="4901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0BEE8"/>
                </a:solidFill>
              </a:rPr>
              <a:t>Key Gap  ·  What Our Demo Adds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1060704"/>
            <a:ext cx="8412480" cy="530352"/>
          </a:xfrm>
          <a:prstGeom prst="roundRect">
            <a:avLst>
              <a:gd name="adj" fmla="val 8621"/>
            </a:avLst>
          </a:prstGeom>
          <a:solidFill>
            <a:srgbClr val="F9F6FE"/>
          </a:solidFill>
          <a:ln w="12700">
            <a:solidFill>
              <a:srgbClr val="E8D8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41448" y="1115568"/>
            <a:ext cx="10973" cy="420624"/>
          </a:xfrm>
          <a:prstGeom prst="rect">
            <a:avLst/>
          </a:prstGeom>
          <a:solidFill>
            <a:srgbClr val="E0D0F0"/>
          </a:solidFill>
          <a:ln w="12700">
            <a:solidFill>
              <a:srgbClr val="E0D0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9624" y="1115568"/>
            <a:ext cx="10973" cy="420624"/>
          </a:xfrm>
          <a:prstGeom prst="rect">
            <a:avLst/>
          </a:prstGeom>
          <a:solidFill>
            <a:srgbClr val="E0D0F0"/>
          </a:solidFill>
          <a:ln w="12700">
            <a:solidFill>
              <a:srgbClr val="E0D0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152144"/>
            <a:ext cx="1883664" cy="201168"/>
          </a:xfrm>
          <a:prstGeom prst="roundRect">
            <a:avLst>
              <a:gd name="adj" fmla="val 27273"/>
            </a:avLst>
          </a:prstGeom>
          <a:solidFill>
            <a:srgbClr val="7026A8"/>
          </a:solidFill>
          <a:ln w="12700">
            <a:solidFill>
              <a:srgbClr val="7026A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1152144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UC1  Enrich &amp; Save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505456" y="1133856"/>
            <a:ext cx="1280160" cy="182880"/>
          </a:xfrm>
          <a:prstGeom prst="roundRect">
            <a:avLst>
              <a:gd name="adj" fmla="val 30000"/>
            </a:avLst>
          </a:prstGeom>
          <a:solidFill>
            <a:srgbClr val="FFF6E0"/>
          </a:solidFill>
          <a:ln w="12700">
            <a:solidFill>
              <a:srgbClr val="B860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505456" y="113385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86000"/>
                </a:solidFill>
              </a:rPr>
              <a:t>PARTIAL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2523744" y="1344168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B86000"/>
                </a:solidFill>
              </a:rPr>
              <a:t>B2C needs cartridge</a:t>
            </a:r>
            <a:endParaRPr lang="en-US" sz="6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B86000"/>
                </a:solidFill>
              </a:rPr>
              <a:t>No batch generation</a:t>
            </a:r>
            <a:endParaRPr lang="en-US" sz="650" dirty="0"/>
          </a:p>
        </p:txBody>
      </p:sp>
      <p:sp>
        <p:nvSpPr>
          <p:cNvPr id="18" name="Text 16"/>
          <p:cNvSpPr txBox="1"/>
          <p:nvPr/>
        </p:nvSpPr>
        <p:spPr>
          <a:xfrm>
            <a:off x="3968496" y="1115568"/>
            <a:ext cx="4736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C3D6E"/>
                </a:solidFill>
              </a:rPr>
              <a:t>Stage → Review → Apply gate with ChangeLedger audit trail — SFCC writes AI content directly with no approval step or change history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65760" y="1627632"/>
            <a:ext cx="8412480" cy="530352"/>
          </a:xfrm>
          <a:prstGeom prst="roundRect">
            <a:avLst>
              <a:gd name="adj" fmla="val 8621"/>
            </a:avLst>
          </a:prstGeom>
          <a:solidFill>
            <a:srgbClr val="FDFBFF"/>
          </a:solidFill>
          <a:ln w="12700">
            <a:solidFill>
              <a:srgbClr val="E8D8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441448" y="1682496"/>
            <a:ext cx="10973" cy="420624"/>
          </a:xfrm>
          <a:prstGeom prst="rect">
            <a:avLst/>
          </a:prstGeom>
          <a:solidFill>
            <a:srgbClr val="E0D0F0"/>
          </a:solidFill>
          <a:ln w="12700">
            <a:solidFill>
              <a:srgbClr val="E0D0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9624" y="1682496"/>
            <a:ext cx="10973" cy="420624"/>
          </a:xfrm>
          <a:prstGeom prst="rect">
            <a:avLst/>
          </a:prstGeom>
          <a:solidFill>
            <a:srgbClr val="E0D0F0"/>
          </a:solidFill>
          <a:ln w="12700">
            <a:solidFill>
              <a:srgbClr val="E0D0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1719072"/>
            <a:ext cx="1883664" cy="201168"/>
          </a:xfrm>
          <a:prstGeom prst="roundRect">
            <a:avLst>
              <a:gd name="adj" fmla="val 27273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1719072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UC2  SEO Content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505456" y="1700784"/>
            <a:ext cx="1280160" cy="182880"/>
          </a:xfrm>
          <a:prstGeom prst="roundRect">
            <a:avLst>
              <a:gd name="adj" fmla="val 30000"/>
            </a:avLst>
          </a:prstGeom>
          <a:solidFill>
            <a:srgbClr val="FFF6E0"/>
          </a:solidFill>
          <a:ln w="12700">
            <a:solidFill>
              <a:srgbClr val="B8600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505456" y="170078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86000"/>
                </a:solidFill>
              </a:rPr>
              <a:t>LIMITED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2523744" y="1911096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B86000"/>
                </a:solidFill>
              </a:rPr>
              <a:t>Within description flow</a:t>
            </a:r>
            <a:endParaRPr lang="en-US" sz="6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B86000"/>
                </a:solidFill>
              </a:rPr>
              <a:t>No slug / H1 automation</a:t>
            </a:r>
            <a:endParaRPr lang="en-US" sz="650" dirty="0"/>
          </a:p>
        </p:txBody>
      </p:sp>
      <p:sp>
        <p:nvSpPr>
          <p:cNvPr id="27" name="Text 25"/>
          <p:cNvSpPr txBox="1"/>
          <p:nvPr/>
        </p:nvSpPr>
        <p:spPr>
          <a:xfrm>
            <a:off x="3968496" y="1682496"/>
            <a:ext cx="4736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C3D6E"/>
                </a:solidFill>
              </a:rPr>
              <a:t>Standalone SEO pipeline: enforces ≤60 char title, ≤155 char meta, slug, H1, and keyword list as structured JSON — no SFCC equivalent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65760" y="2194560"/>
            <a:ext cx="8412480" cy="530352"/>
          </a:xfrm>
          <a:prstGeom prst="roundRect">
            <a:avLst>
              <a:gd name="adj" fmla="val 8621"/>
            </a:avLst>
          </a:prstGeom>
          <a:solidFill>
            <a:srgbClr val="F9F6FE"/>
          </a:solidFill>
          <a:ln w="12700">
            <a:solidFill>
              <a:srgbClr val="E8D8F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441448" y="2249424"/>
            <a:ext cx="10973" cy="420624"/>
          </a:xfrm>
          <a:prstGeom prst="rect">
            <a:avLst/>
          </a:prstGeom>
          <a:solidFill>
            <a:srgbClr val="E0D0F0"/>
          </a:solidFill>
          <a:ln w="12700">
            <a:solidFill>
              <a:srgbClr val="E0D0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49624" y="2249424"/>
            <a:ext cx="10973" cy="420624"/>
          </a:xfrm>
          <a:prstGeom prst="rect">
            <a:avLst/>
          </a:prstGeom>
          <a:solidFill>
            <a:srgbClr val="E0D0F0"/>
          </a:solidFill>
          <a:ln w="12700">
            <a:solidFill>
              <a:srgbClr val="E0D0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2286000"/>
            <a:ext cx="1883664" cy="201168"/>
          </a:xfrm>
          <a:prstGeom prst="roundRect">
            <a:avLst>
              <a:gd name="adj" fmla="val 27273"/>
            </a:avLst>
          </a:prstGeom>
          <a:solidFill>
            <a:srgbClr val="DC6C38"/>
          </a:solidFill>
          <a:ln w="12700">
            <a:solidFill>
              <a:srgbClr val="DC6C3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57200" y="2286000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UC3  Geo Localisation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505456" y="2267712"/>
            <a:ext cx="1280160" cy="182880"/>
          </a:xfrm>
          <a:prstGeom prst="roundRect">
            <a:avLst>
              <a:gd name="adj" fmla="val 30000"/>
            </a:avLst>
          </a:prstGeom>
          <a:solidFill>
            <a:srgbClr val="FFF0EC"/>
          </a:solidFill>
          <a:ln w="12700">
            <a:solidFill>
              <a:srgbClr val="C0350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505456" y="226771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350A"/>
                </a:solidFill>
              </a:rPr>
              <a:t>NO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2523744" y="2478024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C0350A"/>
                </a:solidFill>
              </a:rPr>
              <a:t>Multi-language entry only</a:t>
            </a:r>
            <a:endParaRPr lang="en-US" sz="6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C0350A"/>
                </a:solidFill>
              </a:rPr>
              <a:t>No cultural adaptation</a:t>
            </a:r>
            <a:endParaRPr lang="en-US" sz="650" dirty="0"/>
          </a:p>
        </p:txBody>
      </p:sp>
      <p:sp>
        <p:nvSpPr>
          <p:cNvPr id="36" name="Text 34"/>
          <p:cNvSpPr txBox="1"/>
          <p:nvPr/>
        </p:nvSpPr>
        <p:spPr>
          <a:xfrm>
            <a:off x="3968496" y="2249424"/>
            <a:ext cx="4736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C3D6E"/>
                </a:solidFill>
              </a:rPr>
              <a:t>GEO_OCCASION_MAP drives region + occasion + season framing (US-NE "cozy cabin", UK "autumnal gifting") — 4 variants in &lt;5 sec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65760" y="2761488"/>
            <a:ext cx="8412480" cy="530352"/>
          </a:xfrm>
          <a:prstGeom prst="roundRect">
            <a:avLst>
              <a:gd name="adj" fmla="val 8621"/>
            </a:avLst>
          </a:prstGeom>
          <a:solidFill>
            <a:srgbClr val="FDFBFF"/>
          </a:solidFill>
          <a:ln w="12700">
            <a:solidFill>
              <a:srgbClr val="E8D8F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441448" y="2816352"/>
            <a:ext cx="10973" cy="420624"/>
          </a:xfrm>
          <a:prstGeom prst="rect">
            <a:avLst/>
          </a:prstGeom>
          <a:solidFill>
            <a:srgbClr val="E0D0F0"/>
          </a:solidFill>
          <a:ln w="12700">
            <a:solidFill>
              <a:srgbClr val="E0D0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849624" y="2816352"/>
            <a:ext cx="10973" cy="420624"/>
          </a:xfrm>
          <a:prstGeom prst="rect">
            <a:avLst/>
          </a:prstGeom>
          <a:solidFill>
            <a:srgbClr val="E0D0F0"/>
          </a:solidFill>
          <a:ln w="12700">
            <a:solidFill>
              <a:srgbClr val="E0D0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" y="2852928"/>
            <a:ext cx="1883664" cy="201168"/>
          </a:xfrm>
          <a:prstGeom prst="roundRect">
            <a:avLst>
              <a:gd name="adj" fmla="val 27273"/>
            </a:avLst>
          </a:prstGeom>
          <a:solidFill>
            <a:srgbClr val="82268A"/>
          </a:solidFill>
          <a:ln w="12700">
            <a:solidFill>
              <a:srgbClr val="82268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57200" y="2852928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UC4  Ontology Classify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505456" y="2834640"/>
            <a:ext cx="1280160" cy="182880"/>
          </a:xfrm>
          <a:prstGeom prst="roundRect">
            <a:avLst>
              <a:gd name="adj" fmla="val 30000"/>
            </a:avLst>
          </a:prstGeom>
          <a:solidFill>
            <a:srgbClr val="FFF0EC"/>
          </a:solidFill>
          <a:ln w="12700">
            <a:solidFill>
              <a:srgbClr val="C0350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2505456" y="283464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350A"/>
                </a:solidFill>
              </a:rPr>
              <a:t>NO</a:t>
            </a:r>
            <a:endParaRPr lang="en-US" sz="800" dirty="0"/>
          </a:p>
        </p:txBody>
      </p:sp>
      <p:sp>
        <p:nvSpPr>
          <p:cNvPr id="44" name="Text 42"/>
          <p:cNvSpPr txBox="1"/>
          <p:nvPr/>
        </p:nvSpPr>
        <p:spPr>
          <a:xfrm>
            <a:off x="2523744" y="3044952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C0350A"/>
                </a:solidFill>
              </a:rPr>
              <a:t>Rule-based filters only</a:t>
            </a:r>
            <a:endParaRPr lang="en-US" sz="6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C0350A"/>
                </a:solidFill>
              </a:rPr>
              <a:t>No confidence scores</a:t>
            </a:r>
            <a:endParaRPr lang="en-US" sz="650" dirty="0"/>
          </a:p>
        </p:txBody>
      </p:sp>
      <p:sp>
        <p:nvSpPr>
          <p:cNvPr id="45" name="Text 43"/>
          <p:cNvSpPr txBox="1"/>
          <p:nvPr/>
        </p:nvSpPr>
        <p:spPr>
          <a:xfrm>
            <a:off x="3968496" y="2816352"/>
            <a:ext cx="4736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C3D6E"/>
                </a:solidFill>
              </a:rPr>
              <a:t>AI returns category · subcategory · occasions · target persona · semantic attrs + confidence 0–1 — zero SFCC equivalent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65760" y="3328416"/>
            <a:ext cx="8412480" cy="530352"/>
          </a:xfrm>
          <a:prstGeom prst="roundRect">
            <a:avLst>
              <a:gd name="adj" fmla="val 8621"/>
            </a:avLst>
          </a:prstGeom>
          <a:solidFill>
            <a:srgbClr val="F9F6FE"/>
          </a:solidFill>
          <a:ln w="12700">
            <a:solidFill>
              <a:srgbClr val="E8D8F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441448" y="3383280"/>
            <a:ext cx="10973" cy="420624"/>
          </a:xfrm>
          <a:prstGeom prst="rect">
            <a:avLst/>
          </a:prstGeom>
          <a:solidFill>
            <a:srgbClr val="E0D0F0"/>
          </a:solidFill>
          <a:ln w="12700">
            <a:solidFill>
              <a:srgbClr val="E0D0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849624" y="3383280"/>
            <a:ext cx="10973" cy="420624"/>
          </a:xfrm>
          <a:prstGeom prst="rect">
            <a:avLst/>
          </a:prstGeom>
          <a:solidFill>
            <a:srgbClr val="E0D0F0"/>
          </a:solidFill>
          <a:ln w="12700">
            <a:solidFill>
              <a:srgbClr val="E0D0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57200" y="3419856"/>
            <a:ext cx="1883664" cy="201168"/>
          </a:xfrm>
          <a:prstGeom prst="roundRect">
            <a:avLst>
              <a:gd name="adj" fmla="val 27273"/>
            </a:avLst>
          </a:prstGeom>
          <a:solidFill>
            <a:srgbClr val="164E7A"/>
          </a:solidFill>
          <a:ln w="12700">
            <a:solidFill>
              <a:srgbClr val="164E7A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457200" y="3419856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UC5  Bulk Enrich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2505456" y="3401568"/>
            <a:ext cx="1280160" cy="182880"/>
          </a:xfrm>
          <a:prstGeom prst="roundRect">
            <a:avLst>
              <a:gd name="adj" fmla="val 30000"/>
            </a:avLst>
          </a:prstGeom>
          <a:solidFill>
            <a:srgbClr val="FFF0EC"/>
          </a:solidFill>
          <a:ln w="12700">
            <a:solidFill>
              <a:srgbClr val="C0350A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2505456" y="340156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350A"/>
                </a:solidFill>
              </a:rPr>
              <a:t>NO</a:t>
            </a:r>
            <a:endParaRPr lang="en-US" sz="800" dirty="0"/>
          </a:p>
        </p:txBody>
      </p:sp>
      <p:sp>
        <p:nvSpPr>
          <p:cNvPr id="53" name="Text 51"/>
          <p:cNvSpPr txBox="1"/>
          <p:nvPr/>
        </p:nvSpPr>
        <p:spPr>
          <a:xfrm>
            <a:off x="2523744" y="3611880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C0350A"/>
                </a:solidFill>
              </a:rPr>
              <a:t>Batch XML import only</a:t>
            </a:r>
            <a:endParaRPr lang="en-US" sz="6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C0350A"/>
                </a:solidFill>
              </a:rPr>
              <a:t>No AI enrichment pipeline</a:t>
            </a:r>
            <a:endParaRPr lang="en-US" sz="650" dirty="0"/>
          </a:p>
        </p:txBody>
      </p:sp>
      <p:sp>
        <p:nvSpPr>
          <p:cNvPr id="54" name="Text 52"/>
          <p:cNvSpPr txBox="1"/>
          <p:nvPr/>
        </p:nvSpPr>
        <p:spPr>
          <a:xfrm>
            <a:off x="3968496" y="3383280"/>
            <a:ext cx="4736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C3D6E"/>
                </a:solidFill>
              </a:rPr>
              <a:t>asyncio.gather (10 concurrent Gemini calls) · 1–500 SKUs · failed SKUs counted not fatal — requires custom external orchestration in SFCC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365760" y="3895344"/>
            <a:ext cx="8412480" cy="530352"/>
          </a:xfrm>
          <a:prstGeom prst="roundRect">
            <a:avLst>
              <a:gd name="adj" fmla="val 8621"/>
            </a:avLst>
          </a:prstGeom>
          <a:solidFill>
            <a:srgbClr val="FDFBFF"/>
          </a:solidFill>
          <a:ln w="12700">
            <a:solidFill>
              <a:srgbClr val="E8D8F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441448" y="3950208"/>
            <a:ext cx="10973" cy="420624"/>
          </a:xfrm>
          <a:prstGeom prst="rect">
            <a:avLst/>
          </a:prstGeom>
          <a:solidFill>
            <a:srgbClr val="E0D0F0"/>
          </a:solidFill>
          <a:ln w="12700">
            <a:solidFill>
              <a:srgbClr val="E0D0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849624" y="3950208"/>
            <a:ext cx="10973" cy="420624"/>
          </a:xfrm>
          <a:prstGeom prst="rect">
            <a:avLst/>
          </a:prstGeom>
          <a:solidFill>
            <a:srgbClr val="E0D0F0"/>
          </a:solidFill>
          <a:ln w="12700">
            <a:solidFill>
              <a:srgbClr val="E0D0F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57200" y="3986784"/>
            <a:ext cx="1883664" cy="201168"/>
          </a:xfrm>
          <a:prstGeom prst="roundRect">
            <a:avLst>
              <a:gd name="adj" fmla="val 27273"/>
            </a:avLst>
          </a:prstGeom>
          <a:solidFill>
            <a:srgbClr val="0A6E60"/>
          </a:solidFill>
          <a:ln w="12700">
            <a:solidFill>
              <a:srgbClr val="0A6E60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457200" y="3986784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UC6  Chat Agent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2505456" y="3968496"/>
            <a:ext cx="1280160" cy="182880"/>
          </a:xfrm>
          <a:prstGeom prst="roundRect">
            <a:avLst>
              <a:gd name="adj" fmla="val 30000"/>
            </a:avLst>
          </a:prstGeom>
          <a:solidFill>
            <a:srgbClr val="F0FBF0"/>
          </a:solidFill>
          <a:ln w="12700">
            <a:solidFill>
              <a:srgbClr val="1A7A40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2505456" y="396849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7A40"/>
                </a:solidFill>
              </a:rPr>
              <a:t>BETA</a:t>
            </a:r>
            <a:endParaRPr lang="en-US" sz="800" dirty="0"/>
          </a:p>
        </p:txBody>
      </p:sp>
      <p:sp>
        <p:nvSpPr>
          <p:cNvPr id="62" name="Text 60"/>
          <p:cNvSpPr txBox="1"/>
          <p:nvPr/>
        </p:nvSpPr>
        <p:spPr>
          <a:xfrm>
            <a:off x="2523744" y="4178808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1A7A40"/>
                </a:solidFill>
              </a:rPr>
              <a:t>Agentforce Merchant</a:t>
            </a:r>
            <a:endParaRPr lang="en-US" sz="6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1A7A40"/>
                </a:solidFill>
              </a:rPr>
              <a:t>Winter 2026, not GA</a:t>
            </a:r>
            <a:endParaRPr lang="en-US" sz="650" dirty="0"/>
          </a:p>
        </p:txBody>
      </p:sp>
      <p:sp>
        <p:nvSpPr>
          <p:cNvPr id="63" name="Text 61"/>
          <p:cNvSpPr txBox="1"/>
          <p:nvPr/>
        </p:nvSpPr>
        <p:spPr>
          <a:xfrm>
            <a:off x="3968496" y="3950208"/>
            <a:ext cx="4736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C3D6E"/>
                </a:solidFill>
              </a:rPr>
              <a:t>Google ADK chains all 5 tools conversationally · streams SSE results · maintains session context — deeper capability than Agentforce Merchant beta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365760" y="4462272"/>
            <a:ext cx="8412480" cy="420624"/>
          </a:xfrm>
          <a:prstGeom prst="roundRect">
            <a:avLst>
              <a:gd name="adj" fmla="val 15217"/>
            </a:avLst>
          </a:prstGeom>
          <a:solidFill>
            <a:srgbClr val="1C1034"/>
          </a:solidFill>
          <a:ln w="12700">
            <a:solidFill>
              <a:srgbClr val="1C1034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530352" y="45354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45FA0"/>
                </a:solidFill>
              </a:rPr>
              <a:t>Structural Differentiator:</a:t>
            </a:r>
            <a:endParaRPr lang="en-US" sz="850" dirty="0"/>
          </a:p>
        </p:txBody>
      </p:sp>
      <p:sp>
        <p:nvSpPr>
          <p:cNvPr id="66" name="Text 64"/>
          <p:cNvSpPr txBox="1"/>
          <p:nvPr/>
        </p:nvSpPr>
        <p:spPr>
          <a:xfrm>
            <a:off x="2560320" y="4517136"/>
            <a:ext cx="6089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0BEE8"/>
                </a:solidFill>
              </a:rPr>
              <a:t>SFCC OOTB has no Stage → Review → Apply workflow with audit trail — every AI write goes directly to the product record. The ChangeLedger pattern (STAGED → APPLIED / DISCARDED + before/after diff) is the foundation that makes all 6 use cases production-safe for enterprise merchant adoption.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0FC"/>
          </a:solidFill>
          <a:ln w="12700">
            <a:solidFill>
              <a:srgbClr val="F7F0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603504"/>
            <a:ext cx="8595360" cy="4315968"/>
          </a:xfrm>
          <a:prstGeom prst="roundRect">
            <a:avLst>
              <a:gd name="adj" fmla="val 2119"/>
            </a:avLst>
          </a:prstGeom>
          <a:solidFill>
            <a:srgbClr val="FFFFFF"/>
          </a:solidFill>
          <a:ln w="12700">
            <a:solidFill>
              <a:srgbClr val="DECCF2"/>
            </a:solidFill>
            <a:prstDash val="solid"/>
          </a:ln>
          <a:effectLst>
            <a:outerShdw sx="100000" sy="100000" kx="0" ky="0" algn="bl" rotWithShape="0" blurRad="101600" dist="25400" dir="5400000">
              <a:srgbClr val="C0A0DC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1480" y="192024"/>
            <a:ext cx="64008" cy="64008"/>
          </a:xfrm>
          <a:prstGeom prst="ellipse">
            <a:avLst/>
          </a:prstGeom>
          <a:solidFill>
            <a:srgbClr val="C45FA0"/>
          </a:solidFill>
          <a:ln w="12700">
            <a:solidFill>
              <a:srgbClr val="C45F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28016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10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Value Add — 6 Use Cases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384048" y="804672"/>
            <a:ext cx="4059936" cy="1280160"/>
          </a:xfrm>
          <a:prstGeom prst="roundRect">
            <a:avLst>
              <a:gd name="adj" fmla="val 5714"/>
            </a:avLst>
          </a:prstGeom>
          <a:solidFill>
            <a:srgbClr val="FDFBFF"/>
          </a:solidFill>
          <a:ln w="12700">
            <a:solidFill>
              <a:srgbClr val="E4D4F5"/>
            </a:solidFill>
            <a:prstDash val="solid"/>
          </a:ln>
          <a:effectLst>
            <a:outerShdw sx="100000" sy="100000" kx="0" ky="0" algn="bl" rotWithShape="0" blurRad="63500" dist="25400" dir="5400000">
              <a:srgbClr val="C4A8E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93776" y="877824"/>
            <a:ext cx="3840480" cy="201168"/>
          </a:xfrm>
          <a:prstGeom prst="roundRect">
            <a:avLst>
              <a:gd name="adj" fmla="val 31818"/>
            </a:avLst>
          </a:prstGeom>
          <a:solidFill>
            <a:srgbClr val="7026A8"/>
          </a:solidFill>
          <a:ln w="12700">
            <a:solidFill>
              <a:srgbClr val="7026A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" y="87782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UC1  ·  Enrich &amp; Save to SFCC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93776" y="1115568"/>
            <a:ext cx="1865376" cy="493776"/>
          </a:xfrm>
          <a:prstGeom prst="roundRect">
            <a:avLst>
              <a:gd name="adj" fmla="val 9259"/>
            </a:avLst>
          </a:prstGeom>
          <a:solidFill>
            <a:srgbClr val="FFF0EC"/>
          </a:solidFill>
          <a:ln w="12700">
            <a:solidFill>
              <a:srgbClr val="F5C4B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1152144"/>
            <a:ext cx="17556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C0460A"/>
                </a:solidFill>
              </a:rPr>
              <a:t>BEFORE</a:t>
            </a:r>
            <a:endParaRPr lang="en-US" sz="6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1280160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8B3000"/>
                </a:solidFill>
              </a:rPr>
              <a:t>15–30 min per product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8B3000"/>
                </a:solidFill>
              </a:rPr>
              <a:t>Manual SFCC update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8B3000"/>
                </a:solidFill>
              </a:rPr>
              <a:t>No change history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468880" y="1115568"/>
            <a:ext cx="1865376" cy="493776"/>
          </a:xfrm>
          <a:prstGeom prst="roundRect">
            <a:avLst>
              <a:gd name="adj" fmla="val 9259"/>
            </a:avLst>
          </a:prstGeom>
          <a:solidFill>
            <a:srgbClr val="F0FBF0"/>
          </a:solidFill>
          <a:ln w="12700">
            <a:solidFill>
              <a:srgbClr val="A8D8A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523744" y="1152144"/>
            <a:ext cx="17556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E7D32"/>
                </a:solidFill>
              </a:rPr>
              <a:t>AFTER</a:t>
            </a:r>
            <a:endParaRPr lang="en-US" sz="650" dirty="0"/>
          </a:p>
        </p:txBody>
      </p:sp>
      <p:sp>
        <p:nvSpPr>
          <p:cNvPr id="14" name="Text 12"/>
          <p:cNvSpPr txBox="1"/>
          <p:nvPr/>
        </p:nvSpPr>
        <p:spPr>
          <a:xfrm>
            <a:off x="2523744" y="1280160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B5E20"/>
                </a:solidFill>
              </a:rPr>
              <a:t>&lt;3 sec AI generation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B5E20"/>
                </a:solidFill>
              </a:rPr>
              <a:t>Stage → Review → Apply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B5E20"/>
                </a:solidFill>
              </a:rPr>
              <a:t>Full audit in ChangeLedger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93776" y="1664208"/>
            <a:ext cx="3840480" cy="347472"/>
          </a:xfrm>
          <a:prstGeom prst="roundRect">
            <a:avLst>
              <a:gd name="adj" fmla="val 13158"/>
            </a:avLst>
          </a:prstGeom>
          <a:solidFill>
            <a:srgbClr val="F0EAF8"/>
          </a:solidFill>
          <a:ln w="12700">
            <a:solidFill>
              <a:srgbClr val="D8C8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6928" y="1700784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026A8"/>
                </a:solidFill>
              </a:rPr>
              <a:t>Impact:</a:t>
            </a:r>
            <a:endParaRPr lang="en-US" sz="700" dirty="0"/>
          </a:p>
        </p:txBody>
      </p:sp>
      <p:sp>
        <p:nvSpPr>
          <p:cNvPr id="17" name="Text 15"/>
          <p:cNvSpPr txBox="1"/>
          <p:nvPr/>
        </p:nvSpPr>
        <p:spPr>
          <a:xfrm>
            <a:off x="1152144" y="170078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C3D6E"/>
                </a:solidFill>
              </a:rPr>
              <a:t>80–90% time reduction  ·  Human approval gate  ·  Enables daily catalog refresh cycles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608576" y="804672"/>
            <a:ext cx="4059936" cy="1280160"/>
          </a:xfrm>
          <a:prstGeom prst="roundRect">
            <a:avLst>
              <a:gd name="adj" fmla="val 5714"/>
            </a:avLst>
          </a:prstGeom>
          <a:solidFill>
            <a:srgbClr val="FDFBFF"/>
          </a:solidFill>
          <a:ln w="12700">
            <a:solidFill>
              <a:srgbClr val="E4D4F5"/>
            </a:solidFill>
            <a:prstDash val="solid"/>
          </a:ln>
          <a:effectLst>
            <a:outerShdw sx="100000" sy="100000" kx="0" ky="0" algn="bl" rotWithShape="0" blurRad="63500" dist="25400" dir="5400000">
              <a:srgbClr val="C4A8E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18304" y="877824"/>
            <a:ext cx="3840480" cy="201168"/>
          </a:xfrm>
          <a:prstGeom prst="roundRect">
            <a:avLst>
              <a:gd name="adj" fmla="val 31818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18304" y="87782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UC2  ·  SEO Content Generation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18304" y="1115568"/>
            <a:ext cx="1865376" cy="493776"/>
          </a:xfrm>
          <a:prstGeom prst="roundRect">
            <a:avLst>
              <a:gd name="adj" fmla="val 9259"/>
            </a:avLst>
          </a:prstGeom>
          <a:solidFill>
            <a:srgbClr val="FFF0EC"/>
          </a:solidFill>
          <a:ln w="12700">
            <a:solidFill>
              <a:srgbClr val="F5C4B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73168" y="1152144"/>
            <a:ext cx="17556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C0460A"/>
                </a:solidFill>
              </a:rPr>
              <a:t>BEFORE</a:t>
            </a:r>
            <a:endParaRPr lang="en-US" sz="650" dirty="0"/>
          </a:p>
        </p:txBody>
      </p:sp>
      <p:sp>
        <p:nvSpPr>
          <p:cNvPr id="23" name="Text 21"/>
          <p:cNvSpPr txBox="1"/>
          <p:nvPr/>
        </p:nvSpPr>
        <p:spPr>
          <a:xfrm>
            <a:off x="4773168" y="1280160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8B3000"/>
                </a:solidFill>
              </a:rPr>
              <a:t>~20 min per product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8B3000"/>
                </a:solidFill>
              </a:rPr>
              <a:t>SEO consultant fees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8B3000"/>
                </a:solidFill>
              </a:rPr>
              <a:t>Risk of keyword cannibalization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693408" y="1115568"/>
            <a:ext cx="1865376" cy="493776"/>
          </a:xfrm>
          <a:prstGeom prst="roundRect">
            <a:avLst>
              <a:gd name="adj" fmla="val 9259"/>
            </a:avLst>
          </a:prstGeom>
          <a:solidFill>
            <a:srgbClr val="F0FBF0"/>
          </a:solidFill>
          <a:ln w="12700">
            <a:solidFill>
              <a:srgbClr val="A8D8A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748272" y="1152144"/>
            <a:ext cx="17556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E7D32"/>
                </a:solidFill>
              </a:rPr>
              <a:t>AFTER</a:t>
            </a:r>
            <a:endParaRPr lang="en-US" sz="650" dirty="0"/>
          </a:p>
        </p:txBody>
      </p:sp>
      <p:sp>
        <p:nvSpPr>
          <p:cNvPr id="26" name="Text 24"/>
          <p:cNvSpPr txBox="1"/>
          <p:nvPr/>
        </p:nvSpPr>
        <p:spPr>
          <a:xfrm>
            <a:off x="6748272" y="1280160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B5E20"/>
                </a:solidFill>
              </a:rPr>
              <a:t>&lt;3 sec · title ≤60 ch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B5E20"/>
                </a:solidFill>
              </a:rPr>
              <a:t>meta ≤155 ch · H1 · slug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B5E20"/>
                </a:solidFill>
              </a:rPr>
              <a:t>100% catalog coverage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718304" y="1664208"/>
            <a:ext cx="3840480" cy="347472"/>
          </a:xfrm>
          <a:prstGeom prst="roundRect">
            <a:avLst>
              <a:gd name="adj" fmla="val 13158"/>
            </a:avLst>
          </a:prstGeom>
          <a:solidFill>
            <a:srgbClr val="F0EAF8"/>
          </a:solidFill>
          <a:ln w="12700">
            <a:solidFill>
              <a:srgbClr val="D8C8F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791456" y="1700784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28090"/>
                </a:solidFill>
              </a:rPr>
              <a:t>Impact:</a:t>
            </a:r>
            <a:endParaRPr lang="en-US" sz="700" dirty="0"/>
          </a:p>
        </p:txBody>
      </p:sp>
      <p:sp>
        <p:nvSpPr>
          <p:cNvPr id="29" name="Text 27"/>
          <p:cNvSpPr txBox="1"/>
          <p:nvPr/>
        </p:nvSpPr>
        <p:spPr>
          <a:xfrm>
            <a:off x="5376672" y="170078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C3D6E"/>
                </a:solidFill>
              </a:rPr>
              <a:t>Consistent keyword coverage + brand voice at near-zero marginal cost per product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84048" y="2176272"/>
            <a:ext cx="4059936" cy="1280160"/>
          </a:xfrm>
          <a:prstGeom prst="roundRect">
            <a:avLst>
              <a:gd name="adj" fmla="val 5714"/>
            </a:avLst>
          </a:prstGeom>
          <a:solidFill>
            <a:srgbClr val="FDFBFF"/>
          </a:solidFill>
          <a:ln w="12700">
            <a:solidFill>
              <a:srgbClr val="E4D4F5"/>
            </a:solidFill>
            <a:prstDash val="solid"/>
          </a:ln>
          <a:effectLst>
            <a:outerShdw sx="100000" sy="100000" kx="0" ky="0" algn="bl" rotWithShape="0" blurRad="63500" dist="25400" dir="5400000">
              <a:srgbClr val="C4A8E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93776" y="2249424"/>
            <a:ext cx="3840480" cy="201168"/>
          </a:xfrm>
          <a:prstGeom prst="roundRect">
            <a:avLst>
              <a:gd name="adj" fmla="val 31818"/>
            </a:avLst>
          </a:prstGeom>
          <a:solidFill>
            <a:srgbClr val="DC6C38"/>
          </a:solidFill>
          <a:ln w="12700">
            <a:solidFill>
              <a:srgbClr val="DC6C3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93776" y="224942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UC3  ·  Geo Localisation (4 Regions)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93776" y="2487168"/>
            <a:ext cx="1865376" cy="493776"/>
          </a:xfrm>
          <a:prstGeom prst="roundRect">
            <a:avLst>
              <a:gd name="adj" fmla="val 9259"/>
            </a:avLst>
          </a:prstGeom>
          <a:solidFill>
            <a:srgbClr val="FFF0EC"/>
          </a:solidFill>
          <a:ln w="12700">
            <a:solidFill>
              <a:srgbClr val="F5C4B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48640" y="2523744"/>
            <a:ext cx="17556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C0460A"/>
                </a:solidFill>
              </a:rPr>
              <a:t>BEFORE</a:t>
            </a:r>
            <a:endParaRPr lang="en-US" sz="65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2651760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8B3000"/>
                </a:solidFill>
              </a:rPr>
              <a:t>Agency: £2–5k per product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8B3000"/>
                </a:solidFill>
              </a:rPr>
              <a:t>2–4 week turnaround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8B3000"/>
                </a:solidFill>
              </a:rPr>
              <a:t>One-size-fits-all copy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468880" y="2487168"/>
            <a:ext cx="1865376" cy="493776"/>
          </a:xfrm>
          <a:prstGeom prst="roundRect">
            <a:avLst>
              <a:gd name="adj" fmla="val 9259"/>
            </a:avLst>
          </a:prstGeom>
          <a:solidFill>
            <a:srgbClr val="F0FBF0"/>
          </a:solidFill>
          <a:ln w="12700">
            <a:solidFill>
              <a:srgbClr val="A8D8A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2523744" y="2523744"/>
            <a:ext cx="17556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E7D32"/>
                </a:solidFill>
              </a:rPr>
              <a:t>AFTER</a:t>
            </a:r>
            <a:endParaRPr lang="en-US" sz="650" dirty="0"/>
          </a:p>
        </p:txBody>
      </p:sp>
      <p:sp>
        <p:nvSpPr>
          <p:cNvPr id="38" name="Text 36"/>
          <p:cNvSpPr txBox="1"/>
          <p:nvPr/>
        </p:nvSpPr>
        <p:spPr>
          <a:xfrm>
            <a:off x="2523744" y="2651760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B5E20"/>
                </a:solidFill>
              </a:rPr>
              <a:t>4 region variants in &lt;5 sec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B5E20"/>
                </a:solidFill>
              </a:rPr>
              <a:t>Season + occasion aware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B5E20"/>
                </a:solidFill>
              </a:rPr>
              <a:t>US-NE · US-S · US-W · UK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93776" y="3035808"/>
            <a:ext cx="3840480" cy="347472"/>
          </a:xfrm>
          <a:prstGeom prst="roundRect">
            <a:avLst>
              <a:gd name="adj" fmla="val 13158"/>
            </a:avLst>
          </a:prstGeom>
          <a:solidFill>
            <a:srgbClr val="F0EAF8"/>
          </a:solidFill>
          <a:ln w="12700">
            <a:solidFill>
              <a:srgbClr val="D8C8F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66928" y="3072384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C6C38"/>
                </a:solidFill>
              </a:rPr>
              <a:t>Impact:</a:t>
            </a:r>
            <a:endParaRPr lang="en-US" sz="700" dirty="0"/>
          </a:p>
        </p:txBody>
      </p:sp>
      <p:sp>
        <p:nvSpPr>
          <p:cNvPr id="41" name="Text 39"/>
          <p:cNvSpPr txBox="1"/>
          <p:nvPr/>
        </p:nvSpPr>
        <p:spPr>
          <a:xfrm>
            <a:off x="1152144" y="307238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C3D6E"/>
                </a:solidFill>
              </a:rPr>
              <a:t>Near-zero marginal cost per region  ·  Real-time geo personalization at catalog scale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608576" y="2176272"/>
            <a:ext cx="4059936" cy="1280160"/>
          </a:xfrm>
          <a:prstGeom prst="roundRect">
            <a:avLst>
              <a:gd name="adj" fmla="val 5714"/>
            </a:avLst>
          </a:prstGeom>
          <a:solidFill>
            <a:srgbClr val="FDFBFF"/>
          </a:solidFill>
          <a:ln w="12700">
            <a:solidFill>
              <a:srgbClr val="E4D4F5"/>
            </a:solidFill>
            <a:prstDash val="solid"/>
          </a:ln>
          <a:effectLst>
            <a:outerShdw sx="100000" sy="100000" kx="0" ky="0" algn="bl" rotWithShape="0" blurRad="63500" dist="25400" dir="5400000">
              <a:srgbClr val="C4A8E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718304" y="2249424"/>
            <a:ext cx="3840480" cy="201168"/>
          </a:xfrm>
          <a:prstGeom prst="roundRect">
            <a:avLst>
              <a:gd name="adj" fmla="val 31818"/>
            </a:avLst>
          </a:prstGeom>
          <a:solidFill>
            <a:srgbClr val="82268A"/>
          </a:solidFill>
          <a:ln w="12700">
            <a:solidFill>
              <a:srgbClr val="82268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718304" y="224942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UC4  ·  Ontology Classification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718304" y="2487168"/>
            <a:ext cx="1865376" cy="493776"/>
          </a:xfrm>
          <a:prstGeom prst="roundRect">
            <a:avLst>
              <a:gd name="adj" fmla="val 9259"/>
            </a:avLst>
          </a:prstGeom>
          <a:solidFill>
            <a:srgbClr val="FFF0EC"/>
          </a:solidFill>
          <a:ln w="12700">
            <a:solidFill>
              <a:srgbClr val="F5C4B4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773168" y="2523744"/>
            <a:ext cx="17556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C0460A"/>
                </a:solidFill>
              </a:rPr>
              <a:t>BEFORE</a:t>
            </a:r>
            <a:endParaRPr lang="en-US" sz="650" dirty="0"/>
          </a:p>
        </p:txBody>
      </p:sp>
      <p:sp>
        <p:nvSpPr>
          <p:cNvPr id="47" name="Text 45"/>
          <p:cNvSpPr txBox="1"/>
          <p:nvPr/>
        </p:nvSpPr>
        <p:spPr>
          <a:xfrm>
            <a:off x="4773168" y="2651760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8B3000"/>
                </a:solidFill>
              </a:rPr>
              <a:t>6–12 weeks per catalog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8B3000"/>
                </a:solidFill>
              </a:rPr>
              <a:t>Blocks seasonal launches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8B3000"/>
                </a:solidFill>
              </a:rPr>
              <a:t>Manual taxonomy tagging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6693408" y="2487168"/>
            <a:ext cx="1865376" cy="493776"/>
          </a:xfrm>
          <a:prstGeom prst="roundRect">
            <a:avLst>
              <a:gd name="adj" fmla="val 9259"/>
            </a:avLst>
          </a:prstGeom>
          <a:solidFill>
            <a:srgbClr val="F0FBF0"/>
          </a:solidFill>
          <a:ln w="12700">
            <a:solidFill>
              <a:srgbClr val="A8D8A8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748272" y="2523744"/>
            <a:ext cx="17556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E7D32"/>
                </a:solidFill>
              </a:rPr>
              <a:t>AFTER</a:t>
            </a:r>
            <a:endParaRPr lang="en-US" sz="650" dirty="0"/>
          </a:p>
        </p:txBody>
      </p:sp>
      <p:sp>
        <p:nvSpPr>
          <p:cNvPr id="50" name="Text 48"/>
          <p:cNvSpPr txBox="1"/>
          <p:nvPr/>
        </p:nvSpPr>
        <p:spPr>
          <a:xfrm>
            <a:off x="6748272" y="2651760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B5E20"/>
                </a:solidFill>
              </a:rPr>
              <a:t>Seconds per product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B5E20"/>
                </a:solidFill>
              </a:rPr>
              <a:t>Category · occasions · persona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B5E20"/>
                </a:solidFill>
              </a:rPr>
              <a:t>Semantic attrs + confidence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4718304" y="3035808"/>
            <a:ext cx="3840480" cy="347472"/>
          </a:xfrm>
          <a:prstGeom prst="roundRect">
            <a:avLst>
              <a:gd name="adj" fmla="val 13158"/>
            </a:avLst>
          </a:prstGeom>
          <a:solidFill>
            <a:srgbClr val="F0EAF8"/>
          </a:solidFill>
          <a:ln w="12700">
            <a:solidFill>
              <a:srgbClr val="D8C8F0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4791456" y="3072384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82268A"/>
                </a:solidFill>
              </a:rPr>
              <a:t>Impact:</a:t>
            </a:r>
            <a:endParaRPr lang="en-US" sz="700" dirty="0"/>
          </a:p>
        </p:txBody>
      </p:sp>
      <p:sp>
        <p:nvSpPr>
          <p:cNvPr id="53" name="Text 51"/>
          <p:cNvSpPr txBox="1"/>
          <p:nvPr/>
        </p:nvSpPr>
        <p:spPr>
          <a:xfrm>
            <a:off x="5376672" y="307238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C3D6E"/>
                </a:solidFill>
              </a:rPr>
              <a:t>Real-time collection pivots  ·  Unlocks personalization, faceted search, occasion pages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84048" y="3547872"/>
            <a:ext cx="4059936" cy="1280160"/>
          </a:xfrm>
          <a:prstGeom prst="roundRect">
            <a:avLst>
              <a:gd name="adj" fmla="val 5714"/>
            </a:avLst>
          </a:prstGeom>
          <a:solidFill>
            <a:srgbClr val="FDFBFF"/>
          </a:solidFill>
          <a:ln w="12700">
            <a:solidFill>
              <a:srgbClr val="E4D4F5"/>
            </a:solidFill>
            <a:prstDash val="solid"/>
          </a:ln>
          <a:effectLst>
            <a:outerShdw sx="100000" sy="100000" kx="0" ky="0" algn="bl" rotWithShape="0" blurRad="63500" dist="25400" dir="5400000">
              <a:srgbClr val="C4A8E0">
                <a:alpha val="1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93776" y="3621024"/>
            <a:ext cx="3840480" cy="201168"/>
          </a:xfrm>
          <a:prstGeom prst="roundRect">
            <a:avLst>
              <a:gd name="adj" fmla="val 31818"/>
            </a:avLst>
          </a:prstGeom>
          <a:solidFill>
            <a:srgbClr val="164E7A"/>
          </a:solidFill>
          <a:ln w="12700">
            <a:solidFill>
              <a:srgbClr val="164E7A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493776" y="362102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UC5  ·  Bulk Catalog Enrichment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93776" y="3858768"/>
            <a:ext cx="1865376" cy="493776"/>
          </a:xfrm>
          <a:prstGeom prst="roundRect">
            <a:avLst>
              <a:gd name="adj" fmla="val 9259"/>
            </a:avLst>
          </a:prstGeom>
          <a:solidFill>
            <a:srgbClr val="FFF0EC"/>
          </a:solidFill>
          <a:ln w="12700">
            <a:solidFill>
              <a:srgbClr val="F5C4B4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548640" y="3895344"/>
            <a:ext cx="17556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C0460A"/>
                </a:solidFill>
              </a:rPr>
              <a:t>BEFORE</a:t>
            </a:r>
            <a:endParaRPr lang="en-US" sz="650" dirty="0"/>
          </a:p>
        </p:txBody>
      </p:sp>
      <p:sp>
        <p:nvSpPr>
          <p:cNvPr id="59" name="Text 57"/>
          <p:cNvSpPr txBox="1"/>
          <p:nvPr/>
        </p:nvSpPr>
        <p:spPr>
          <a:xfrm>
            <a:off x="548640" y="4023360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8B3000"/>
                </a:solidFill>
              </a:rPr>
              <a:t>~20 min × 500 SKUs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8B3000"/>
                </a:solidFill>
              </a:rPr>
              <a:t>≈ 7 days for full catalog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8B3000"/>
                </a:solidFill>
              </a:rPr>
              <a:t>Blocks batch jobs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2468880" y="3858768"/>
            <a:ext cx="1865376" cy="493776"/>
          </a:xfrm>
          <a:prstGeom prst="roundRect">
            <a:avLst>
              <a:gd name="adj" fmla="val 9259"/>
            </a:avLst>
          </a:prstGeom>
          <a:solidFill>
            <a:srgbClr val="F0FBF0"/>
          </a:solidFill>
          <a:ln w="12700">
            <a:solidFill>
              <a:srgbClr val="A8D8A8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2523744" y="3895344"/>
            <a:ext cx="17556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E7D32"/>
                </a:solidFill>
              </a:rPr>
              <a:t>AFTER</a:t>
            </a:r>
            <a:endParaRPr lang="en-US" sz="650" dirty="0"/>
          </a:p>
        </p:txBody>
      </p:sp>
      <p:sp>
        <p:nvSpPr>
          <p:cNvPr id="62" name="Text 60"/>
          <p:cNvSpPr txBox="1"/>
          <p:nvPr/>
        </p:nvSpPr>
        <p:spPr>
          <a:xfrm>
            <a:off x="2523744" y="4023360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B5E20"/>
                </a:solidFill>
              </a:rPr>
              <a:t>asyncio.gather (10×)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B5E20"/>
                </a:solidFill>
              </a:rPr>
              <a:t>500 SKUs in ~2 minutes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B5E20"/>
                </a:solidFill>
              </a:rPr>
              <a:t>Failed SKUs counted, not fatal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493776" y="4407408"/>
            <a:ext cx="3840480" cy="347472"/>
          </a:xfrm>
          <a:prstGeom prst="roundRect">
            <a:avLst>
              <a:gd name="adj" fmla="val 13158"/>
            </a:avLst>
          </a:prstGeom>
          <a:solidFill>
            <a:srgbClr val="F0EAF8"/>
          </a:solidFill>
          <a:ln w="12700">
            <a:solidFill>
              <a:srgbClr val="D8C8F0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566928" y="4443984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64E7A"/>
                </a:solidFill>
              </a:rPr>
              <a:t>Impact:</a:t>
            </a:r>
            <a:endParaRPr lang="en-US" sz="700" dirty="0"/>
          </a:p>
        </p:txBody>
      </p:sp>
      <p:sp>
        <p:nvSpPr>
          <p:cNvPr id="65" name="Text 63"/>
          <p:cNvSpPr txBox="1"/>
          <p:nvPr/>
        </p:nvSpPr>
        <p:spPr>
          <a:xfrm>
            <a:off x="1152144" y="444398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C3D6E"/>
                </a:solidFill>
              </a:rPr>
              <a:t>~100× faster than sequential  ·  Enables overnight refresh + publish-time enrichment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4608576" y="3547872"/>
            <a:ext cx="4059936" cy="1280160"/>
          </a:xfrm>
          <a:prstGeom prst="roundRect">
            <a:avLst>
              <a:gd name="adj" fmla="val 5714"/>
            </a:avLst>
          </a:prstGeom>
          <a:solidFill>
            <a:srgbClr val="FDFBFF"/>
          </a:solidFill>
          <a:ln w="12700">
            <a:solidFill>
              <a:srgbClr val="E4D4F5"/>
            </a:solidFill>
            <a:prstDash val="solid"/>
          </a:ln>
          <a:effectLst>
            <a:outerShdw sx="100000" sy="100000" kx="0" ky="0" algn="bl" rotWithShape="0" blurRad="63500" dist="25400" dir="5400000">
              <a:srgbClr val="C4A8E0">
                <a:alpha val="10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4718304" y="3621024"/>
            <a:ext cx="3840480" cy="201168"/>
          </a:xfrm>
          <a:prstGeom prst="roundRect">
            <a:avLst>
              <a:gd name="adj" fmla="val 31818"/>
            </a:avLst>
          </a:prstGeom>
          <a:solidFill>
            <a:srgbClr val="0A6E60"/>
          </a:solidFill>
          <a:ln w="12700">
            <a:solidFill>
              <a:srgbClr val="0A6E60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4718304" y="362102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UC6  ·  Chat Agent (Google ADK)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4718304" y="3858768"/>
            <a:ext cx="1865376" cy="493776"/>
          </a:xfrm>
          <a:prstGeom prst="roundRect">
            <a:avLst>
              <a:gd name="adj" fmla="val 9259"/>
            </a:avLst>
          </a:prstGeom>
          <a:solidFill>
            <a:srgbClr val="FFF0EC"/>
          </a:solidFill>
          <a:ln w="12700">
            <a:solidFill>
              <a:srgbClr val="F5C4B4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4773168" y="3895344"/>
            <a:ext cx="17556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C0460A"/>
                </a:solidFill>
              </a:rPr>
              <a:t>BEFORE</a:t>
            </a:r>
            <a:endParaRPr lang="en-US" sz="650" dirty="0"/>
          </a:p>
        </p:txBody>
      </p:sp>
      <p:sp>
        <p:nvSpPr>
          <p:cNvPr id="71" name="Text 69"/>
          <p:cNvSpPr txBox="1"/>
          <p:nvPr/>
        </p:nvSpPr>
        <p:spPr>
          <a:xfrm>
            <a:off x="4773168" y="4023360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8B3000"/>
                </a:solidFill>
              </a:rPr>
              <a:t>API training per tool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8B3000"/>
                </a:solidFill>
              </a:rPr>
              <a:t>One tool at a time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8B3000"/>
                </a:solidFill>
              </a:rPr>
              <a:t>IT request for new flows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6693408" y="3858768"/>
            <a:ext cx="1865376" cy="493776"/>
          </a:xfrm>
          <a:prstGeom prst="roundRect">
            <a:avLst>
              <a:gd name="adj" fmla="val 9259"/>
            </a:avLst>
          </a:prstGeom>
          <a:solidFill>
            <a:srgbClr val="F0FBF0"/>
          </a:solidFill>
          <a:ln w="12700">
            <a:solidFill>
              <a:srgbClr val="A8D8A8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6748272" y="3895344"/>
            <a:ext cx="17556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E7D32"/>
                </a:solidFill>
              </a:rPr>
              <a:t>AFTER</a:t>
            </a:r>
            <a:endParaRPr lang="en-US" sz="650" dirty="0"/>
          </a:p>
        </p:txBody>
      </p:sp>
      <p:sp>
        <p:nvSpPr>
          <p:cNvPr id="74" name="Text 72"/>
          <p:cNvSpPr txBox="1"/>
          <p:nvPr/>
        </p:nvSpPr>
        <p:spPr>
          <a:xfrm>
            <a:off x="6748272" y="4023360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B5E20"/>
                </a:solidFill>
              </a:rPr>
              <a:t>Natural language for all 5 tools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B5E20"/>
                </a:solidFill>
              </a:rPr>
              <a:t>Conversational workflow chaining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B5E20"/>
                </a:solidFill>
              </a:rPr>
              <a:t>Zero API knowledge needed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4718304" y="4407408"/>
            <a:ext cx="3840480" cy="347472"/>
          </a:xfrm>
          <a:prstGeom prst="roundRect">
            <a:avLst>
              <a:gd name="adj" fmla="val 13158"/>
            </a:avLst>
          </a:prstGeom>
          <a:solidFill>
            <a:srgbClr val="F0EAF8"/>
          </a:solidFill>
          <a:ln w="12700">
            <a:solidFill>
              <a:srgbClr val="D8C8F0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4791456" y="4443984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A6E60"/>
                </a:solidFill>
              </a:rPr>
              <a:t>Impact:</a:t>
            </a:r>
            <a:endParaRPr lang="en-US" sz="700" dirty="0"/>
          </a:p>
        </p:txBody>
      </p:sp>
      <p:sp>
        <p:nvSpPr>
          <p:cNvPr id="77" name="Text 75"/>
          <p:cNvSpPr txBox="1"/>
          <p:nvPr/>
        </p:nvSpPr>
        <p:spPr>
          <a:xfrm>
            <a:off x="5376672" y="444398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C3D6E"/>
                </a:solidFill>
              </a:rPr>
              <a:t>Democratizes AI access across the team  ·  Non-technical users run complex workflows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0FC"/>
          </a:solidFill>
          <a:ln w="12700">
            <a:solidFill>
              <a:srgbClr val="F7F0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603504"/>
            <a:ext cx="8595360" cy="4315968"/>
          </a:xfrm>
          <a:prstGeom prst="roundRect">
            <a:avLst>
              <a:gd name="adj" fmla="val 2119"/>
            </a:avLst>
          </a:prstGeom>
          <a:solidFill>
            <a:srgbClr val="FFFFFF"/>
          </a:solidFill>
          <a:ln w="12700">
            <a:solidFill>
              <a:srgbClr val="DECCF2"/>
            </a:solidFill>
            <a:prstDash val="solid"/>
          </a:ln>
          <a:effectLst>
            <a:outerShdw sx="100000" sy="100000" kx="0" ky="0" algn="bl" rotWithShape="0" blurRad="101600" dist="25400" dir="5400000">
              <a:srgbClr val="C0A0DC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1480" y="192024"/>
            <a:ext cx="64008" cy="64008"/>
          </a:xfrm>
          <a:prstGeom prst="ellipse">
            <a:avLst/>
          </a:prstGeom>
          <a:solidFill>
            <a:srgbClr val="C45FA0"/>
          </a:solidFill>
          <a:ln w="12700">
            <a:solidFill>
              <a:srgbClr val="C45F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28016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10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Output — Product Enrichment (BBW-C001)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804672"/>
            <a:ext cx="3657600" cy="3840480"/>
          </a:xfrm>
          <a:prstGeom prst="roundRect">
            <a:avLst>
              <a:gd name="adj" fmla="val 2000"/>
            </a:avLst>
          </a:prstGeom>
          <a:solidFill>
            <a:srgbClr val="FDF5FF"/>
          </a:solidFill>
          <a:ln w="12700">
            <a:solidFill>
              <a:srgbClr val="E0C8F0"/>
            </a:solidFill>
            <a:prstDash val="solid"/>
          </a:ln>
          <a:effectLst>
            <a:outerShdw sx="100000" sy="100000" kx="0" ky="0" algn="bl" rotWithShape="0" blurRad="63500" dist="25400" dir="5400000">
              <a:srgbClr val="C4A8E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914400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6B2FA0"/>
          </a:solidFill>
          <a:ln w="12700">
            <a:solidFill>
              <a:srgbClr val="6B2F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91440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candles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691640" y="914400"/>
            <a:ext cx="822960" cy="219456"/>
          </a:xfrm>
          <a:prstGeom prst="roundRect">
            <a:avLst>
              <a:gd name="adj" fmla="val 50000"/>
            </a:avLst>
          </a:prstGeom>
          <a:solidFill>
            <a:srgbClr val="DC6C38"/>
          </a:solidFill>
          <a:ln w="12700">
            <a:solidFill>
              <a:srgbClr val="DC6C3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691640" y="91440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woody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1225296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C10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Mahogany Teakwood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C10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3-Wick Candle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192024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8A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ID: BBW-C001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4360" y="2194560"/>
            <a:ext cx="3383280" cy="310896"/>
          </a:xfrm>
          <a:prstGeom prst="rect">
            <a:avLst/>
          </a:prstGeom>
          <a:solidFill>
            <a:srgbClr val="F8F0FC"/>
          </a:solidFill>
          <a:ln w="12700">
            <a:solidFill>
              <a:srgbClr val="F8F0F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" y="224942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B8AAB"/>
                </a:solidFill>
              </a:rPr>
              <a:t>Category: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536192" y="2249424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3D6E"/>
                </a:solidFill>
              </a:rPr>
              <a:t>candles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4360" y="2560320"/>
            <a:ext cx="33832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" y="261518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B8AAB"/>
                </a:solidFill>
              </a:rPr>
              <a:t>Size: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536192" y="2615184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3D6E"/>
                </a:solidFill>
              </a:rPr>
              <a:t>14.5 oz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4360" y="2926080"/>
            <a:ext cx="3383280" cy="310896"/>
          </a:xfrm>
          <a:prstGeom prst="rect">
            <a:avLst/>
          </a:prstGeom>
          <a:solidFill>
            <a:srgbClr val="F8F0FC"/>
          </a:solidFill>
          <a:ln w="12700">
            <a:solidFill>
              <a:srgbClr val="F8F0F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8368" y="298094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B8AAB"/>
                </a:solidFill>
              </a:rPr>
              <a:t>Burn time: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536192" y="2980944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3D6E"/>
                </a:solidFill>
              </a:rPr>
              <a:t>45 hours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360" y="3291840"/>
            <a:ext cx="33832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8368" y="334670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B8AAB"/>
                </a:solidFill>
              </a:rPr>
              <a:t>Fragrance: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536192" y="3346704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3D6E"/>
                </a:solidFill>
              </a:rPr>
              <a:t>woody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94360" y="3657600"/>
            <a:ext cx="3383280" cy="310896"/>
          </a:xfrm>
          <a:prstGeom prst="rect">
            <a:avLst/>
          </a:prstGeom>
          <a:solidFill>
            <a:srgbClr val="F8F0FC"/>
          </a:solidFill>
          <a:ln w="12700">
            <a:solidFill>
              <a:srgbClr val="F8F0F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8368" y="371246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B8AAB"/>
                </a:solidFill>
              </a:rPr>
              <a:t>Scent notes: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536192" y="3712464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3D6E"/>
                </a:solidFill>
              </a:rPr>
              <a:t>mahogany, teakwood, smoked oak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94360" y="4023360"/>
            <a:ext cx="33832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58368" y="407822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B8AAB"/>
                </a:solidFill>
              </a:rPr>
              <a:t>Price: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536192" y="4078224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3D6E"/>
                </a:solidFill>
              </a:rPr>
              <a:t>$26.95 USD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315968" y="804672"/>
            <a:ext cx="4297680" cy="3840480"/>
          </a:xfrm>
          <a:prstGeom prst="roundRect">
            <a:avLst>
              <a:gd name="adj" fmla="val 1905"/>
            </a:avLst>
          </a:prstGeom>
          <a:solidFill>
            <a:srgbClr val="FDFBFF"/>
          </a:solidFill>
          <a:ln w="12700">
            <a:solidFill>
              <a:srgbClr val="DDD0EE"/>
            </a:solidFill>
            <a:prstDash val="solid"/>
          </a:ln>
          <a:effectLst>
            <a:outerShdw sx="100000" sy="100000" kx="0" ky="0" algn="bl" rotWithShape="0" blurRad="63500" dist="25400" dir="5400000">
              <a:srgbClr val="C4A8E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453128" y="914400"/>
            <a:ext cx="1417320" cy="219456"/>
          </a:xfrm>
          <a:prstGeom prst="roundRect">
            <a:avLst>
              <a:gd name="adj" fmla="val 50000"/>
            </a:avLst>
          </a:prstGeom>
          <a:solidFill>
            <a:srgbClr val="E8F5E8"/>
          </a:solidFill>
          <a:ln w="12700">
            <a:solidFill>
              <a:srgbClr val="A8D8A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453128" y="91440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7D32"/>
                </a:solidFill>
              </a:rPr>
              <a:t>Gemini output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4453128" y="122529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026A8"/>
                </a:solidFill>
              </a:rPr>
              <a:t>Enriched Description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4453128" y="146304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1C1034"/>
                </a:solidFill>
              </a:rPr>
              <a:t>"Transform your living space with the inviting, bold warmth of rich mahogany, dark teakwood, and smoked oak. Hand-poured into a signature heavy glass vessel, this three-wick candle delivers an even, room-filling burn."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4453128" y="222199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026A8"/>
                </a:solidFill>
              </a:rPr>
              <a:t>Benefit Bullets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480560" y="2569464"/>
            <a:ext cx="73152" cy="73152"/>
          </a:xfrm>
          <a:prstGeom prst="ellipse">
            <a:avLst/>
          </a:prstGeom>
          <a:solidFill>
            <a:srgbClr val="C45FA0"/>
          </a:solidFill>
          <a:ln w="12700">
            <a:solidFill>
              <a:srgbClr val="C45FA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626864" y="2487168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3D6E"/>
                </a:solidFill>
              </a:rPr>
              <a:t>Enjoy up to 45-hour burn time for long-lasting ambiance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480560" y="2916936"/>
            <a:ext cx="73152" cy="73152"/>
          </a:xfrm>
          <a:prstGeom prst="ellipse">
            <a:avLst/>
          </a:prstGeom>
          <a:solidFill>
            <a:srgbClr val="C45FA0"/>
          </a:solidFill>
          <a:ln w="12700">
            <a:solidFill>
              <a:srgbClr val="C45FA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626864" y="2834640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3D6E"/>
                </a:solidFill>
              </a:rPr>
              <a:t>Promote clean burning with a paraffin-free wax blend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480560" y="3264408"/>
            <a:ext cx="73152" cy="73152"/>
          </a:xfrm>
          <a:prstGeom prst="ellipse">
            <a:avLst/>
          </a:prstGeom>
          <a:solidFill>
            <a:srgbClr val="C45FA0"/>
          </a:solidFill>
          <a:ln w="12700">
            <a:solidFill>
              <a:srgbClr val="C45FA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626864" y="3182112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3D6E"/>
                </a:solidFill>
              </a:rPr>
              <a:t>Ensure consistent scent throw with three-wick even burn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480560" y="3611880"/>
            <a:ext cx="73152" cy="73152"/>
          </a:xfrm>
          <a:prstGeom prst="ellipse">
            <a:avLst/>
          </a:prstGeom>
          <a:solidFill>
            <a:srgbClr val="C45FA0"/>
          </a:solidFill>
          <a:ln w="12700">
            <a:solidFill>
              <a:srgbClr val="C45FA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626864" y="3529584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3D6E"/>
                </a:solidFill>
              </a:rPr>
              <a:t>Elevate home décor with a hand-poured heavy glass vessel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0FC"/>
          </a:solidFill>
          <a:ln w="12700">
            <a:solidFill>
              <a:srgbClr val="F7F0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603504"/>
            <a:ext cx="8595360" cy="4315968"/>
          </a:xfrm>
          <a:prstGeom prst="roundRect">
            <a:avLst>
              <a:gd name="adj" fmla="val 2119"/>
            </a:avLst>
          </a:prstGeom>
          <a:solidFill>
            <a:srgbClr val="FFFFFF"/>
          </a:solidFill>
          <a:ln w="12700">
            <a:solidFill>
              <a:srgbClr val="DECCF2"/>
            </a:solidFill>
            <a:prstDash val="solid"/>
          </a:ln>
          <a:effectLst>
            <a:outerShdw sx="100000" sy="100000" kx="0" ky="0" algn="bl" rotWithShape="0" blurRad="101600" dist="25400" dir="5400000">
              <a:srgbClr val="C0A0DC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1480" y="192024"/>
            <a:ext cx="64008" cy="64008"/>
          </a:xfrm>
          <a:prstGeom prst="ellipse">
            <a:avLst/>
          </a:prstGeom>
          <a:solidFill>
            <a:srgbClr val="C45FA0"/>
          </a:solidFill>
          <a:ln w="12700">
            <a:solidFill>
              <a:srgbClr val="C45F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28016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10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397764" y="868680"/>
            <a:ext cx="1261872" cy="1920240"/>
          </a:xfrm>
          <a:prstGeom prst="roundRect">
            <a:avLst>
              <a:gd name="adj" fmla="val 5797"/>
            </a:avLst>
          </a:prstGeom>
          <a:solidFill>
            <a:srgbClr val="FDFBFF"/>
          </a:solidFill>
          <a:ln w="12700">
            <a:solidFill>
              <a:srgbClr val="E4D4F5"/>
            </a:solidFill>
            <a:prstDash val="solid"/>
          </a:ln>
          <a:effectLst>
            <a:outerShdw sx="100000" sy="100000" kx="0" ky="0" algn="bl" rotWithShape="0" blurRad="63500" dist="25400" dir="5400000">
              <a:srgbClr val="C4A8E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99516" y="1033272"/>
            <a:ext cx="658368" cy="658368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99516" y="10332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70916" y="1783080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034"/>
                </a:solidFill>
              </a:rPr>
              <a:t>Google Gemini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470916" y="2148840"/>
            <a:ext cx="111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C3D6E"/>
                </a:solidFill>
              </a:rPr>
              <a:t>2.0 Flash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C3D6E"/>
                </a:solidFill>
              </a:rPr>
              <a:t>JSON-mode AI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815084" y="868680"/>
            <a:ext cx="1261872" cy="1920240"/>
          </a:xfrm>
          <a:prstGeom prst="roundRect">
            <a:avLst>
              <a:gd name="adj" fmla="val 5797"/>
            </a:avLst>
          </a:prstGeom>
          <a:solidFill>
            <a:srgbClr val="FDFBFF"/>
          </a:solidFill>
          <a:ln w="12700">
            <a:solidFill>
              <a:srgbClr val="E4D4F5"/>
            </a:solidFill>
            <a:prstDash val="solid"/>
          </a:ln>
          <a:effectLst>
            <a:outerShdw sx="100000" sy="100000" kx="0" ky="0" algn="bl" rotWithShape="0" blurRad="63500" dist="25400" dir="5400000">
              <a:srgbClr val="C4A8E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116836" y="1033272"/>
            <a:ext cx="658368" cy="658368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116836" y="10332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ADK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888236" y="1783080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034"/>
                </a:solidFill>
              </a:rPr>
              <a:t>Google ADK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1888236" y="2148840"/>
            <a:ext cx="111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C3D6E"/>
                </a:solidFill>
              </a:rPr>
              <a:t>Agent framework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C3D6E"/>
                </a:solidFill>
              </a:rPr>
              <a:t>Tool routing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32404" y="868680"/>
            <a:ext cx="1261872" cy="1920240"/>
          </a:xfrm>
          <a:prstGeom prst="roundRect">
            <a:avLst>
              <a:gd name="adj" fmla="val 5797"/>
            </a:avLst>
          </a:prstGeom>
          <a:solidFill>
            <a:srgbClr val="FDFBFF"/>
          </a:solidFill>
          <a:ln w="12700">
            <a:solidFill>
              <a:srgbClr val="E4D4F5"/>
            </a:solidFill>
            <a:prstDash val="solid"/>
          </a:ln>
          <a:effectLst>
            <a:outerShdw sx="100000" sy="100000" kx="0" ky="0" algn="bl" rotWithShape="0" blurRad="63500" dist="25400" dir="5400000">
              <a:srgbClr val="C4A8E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534156" y="1033272"/>
            <a:ext cx="658368" cy="6583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534156" y="10332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FA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305556" y="1783080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034"/>
                </a:solidFill>
              </a:rPr>
              <a:t>FastAPI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3305556" y="2148840"/>
            <a:ext cx="111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C3D6E"/>
                </a:solidFill>
              </a:rPr>
              <a:t>Python async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C3D6E"/>
                </a:solidFill>
              </a:rPr>
              <a:t>Railway deploy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49724" y="868680"/>
            <a:ext cx="1261872" cy="1920240"/>
          </a:xfrm>
          <a:prstGeom prst="roundRect">
            <a:avLst>
              <a:gd name="adj" fmla="val 5797"/>
            </a:avLst>
          </a:prstGeom>
          <a:solidFill>
            <a:srgbClr val="FDFBFF"/>
          </a:solidFill>
          <a:ln w="12700">
            <a:solidFill>
              <a:srgbClr val="E4D4F5"/>
            </a:solidFill>
            <a:prstDash val="solid"/>
          </a:ln>
          <a:effectLst>
            <a:outerShdw sx="100000" sy="100000" kx="0" ky="0" algn="bl" rotWithShape="0" blurRad="63500" dist="25400" dir="5400000">
              <a:srgbClr val="C4A8E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51476" y="1033272"/>
            <a:ext cx="658368" cy="65836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951476" y="10332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722876" y="1783080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034"/>
                </a:solidFill>
              </a:rPr>
              <a:t>Next.js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4722876" y="2148840"/>
            <a:ext cx="111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C3D6E"/>
                </a:solidFill>
              </a:rPr>
              <a:t>App Router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C3D6E"/>
                </a:solidFill>
              </a:rPr>
              <a:t>TypeScript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067044" y="868680"/>
            <a:ext cx="1261872" cy="1920240"/>
          </a:xfrm>
          <a:prstGeom prst="roundRect">
            <a:avLst>
              <a:gd name="adj" fmla="val 5797"/>
            </a:avLst>
          </a:prstGeom>
          <a:solidFill>
            <a:srgbClr val="FDFBFF"/>
          </a:solidFill>
          <a:ln w="12700">
            <a:solidFill>
              <a:srgbClr val="E4D4F5"/>
            </a:solidFill>
            <a:prstDash val="solid"/>
          </a:ln>
          <a:effectLst>
            <a:outerShdw sx="100000" sy="100000" kx="0" ky="0" algn="bl" rotWithShape="0" blurRad="63500" dist="25400" dir="5400000">
              <a:srgbClr val="C4A8E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368796" y="1033272"/>
            <a:ext cx="658368" cy="658368"/>
          </a:xfrm>
          <a:prstGeom prst="ellipse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368796" y="10332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SF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140196" y="1783080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034"/>
                </a:solidFill>
              </a:rPr>
              <a:t>Salesforce SFCC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6140196" y="2148840"/>
            <a:ext cx="111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C3D6E"/>
                </a:solidFill>
              </a:rPr>
              <a:t>Commerce Cloud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C3D6E"/>
                </a:solidFill>
              </a:rPr>
              <a:t>Product catalog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484364" y="868680"/>
            <a:ext cx="1261872" cy="1920240"/>
          </a:xfrm>
          <a:prstGeom prst="roundRect">
            <a:avLst>
              <a:gd name="adj" fmla="val 5797"/>
            </a:avLst>
          </a:prstGeom>
          <a:solidFill>
            <a:srgbClr val="FDFBFF"/>
          </a:solidFill>
          <a:ln w="12700">
            <a:solidFill>
              <a:srgbClr val="E4D4F5"/>
            </a:solidFill>
            <a:prstDash val="solid"/>
          </a:ln>
          <a:effectLst>
            <a:outerShdw sx="100000" sy="100000" kx="0" ky="0" algn="bl" rotWithShape="0" blurRad="63500" dist="25400" dir="5400000">
              <a:srgbClr val="C4A8E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786116" y="1033272"/>
            <a:ext cx="658368" cy="658368"/>
          </a:xfrm>
          <a:prstGeom prst="ellipse">
            <a:avLst/>
          </a:prstGeom>
          <a:solidFill>
            <a:srgbClr val="7856FF"/>
          </a:solidFill>
          <a:ln w="12700">
            <a:solidFill>
              <a:srgbClr val="7856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786116" y="10332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Py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7557516" y="1783080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034"/>
                </a:solidFill>
              </a:rPr>
              <a:t>Pydantic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7557516" y="2148840"/>
            <a:ext cx="111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C3D6E"/>
                </a:solidFill>
              </a:rPr>
              <a:t>Schema validation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C3D6E"/>
                </a:solidFill>
              </a:rPr>
              <a:t>Ontology models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502920" y="29718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B8AAB"/>
                </a:solidFill>
              </a:rPr>
              <a:t>Data Flow: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389888" y="29718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3D6E"/>
                </a:solidFill>
              </a:rPr>
              <a:t>BBW Fixtures / SFCC  →  ontology/taxonomy.py  →  Gemini JSON prompt  →  Pydantic validation  →  FastAPI response  →  Next.js UI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11480" y="3364992"/>
            <a:ext cx="8321040" cy="1325880"/>
          </a:xfrm>
          <a:prstGeom prst="roundRect">
            <a:avLst>
              <a:gd name="adj" fmla="val 5517"/>
            </a:avLst>
          </a:prstGeom>
          <a:solidFill>
            <a:srgbClr val="F5F5FF"/>
          </a:solidFill>
          <a:ln w="12700">
            <a:solidFill>
              <a:srgbClr val="D8D0F0"/>
            </a:solidFill>
            <a:prstDash val="solid"/>
          </a:ln>
          <a:effectLst>
            <a:outerShdw sx="100000" sy="100000" kx="0" ky="0" algn="bl" rotWithShape="0" blurRad="63500" dist="25400" dir="5400000">
              <a:srgbClr val="C4A8E0">
                <a:alpha val="10000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>
            <a:off x="566928" y="345643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4E7A"/>
                </a:solidFill>
              </a:rPr>
              <a:t>Deployment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66928" y="3822192"/>
            <a:ext cx="91440" cy="91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31520" y="377647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</a:rPr>
              <a:t>gemini-merchant-api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2231136" y="377647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4E7A"/>
                </a:solidFill>
              </a:rPr>
              <a:t>https://gemini-merchant-api-production.up.railway.app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5193792" y="377647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8AAB"/>
                </a:solidFill>
              </a:rPr>
              <a:t>Dockerfile.gemini-api  ·  uvicorn gemini.api.main:app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66928" y="4297680"/>
            <a:ext cx="91440" cy="91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31520" y="425196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</a:rPr>
              <a:t>gemini-merchant-web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2231136" y="425196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4E7A"/>
                </a:solidFill>
              </a:rPr>
              <a:t>https://gemini-merchant-web-production.up.railway.app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5193792" y="425196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8AAB"/>
                </a:solidFill>
              </a:rPr>
              <a:t>Dockerfile.gemini-web  ·  Next.js standalone  ·  HOSTNAME=0.0.0.0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0FC"/>
          </a:solidFill>
          <a:ln w="12700">
            <a:solidFill>
              <a:srgbClr val="F7F0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603504"/>
            <a:ext cx="8595360" cy="4315968"/>
          </a:xfrm>
          <a:prstGeom prst="roundRect">
            <a:avLst>
              <a:gd name="adj" fmla="val 2119"/>
            </a:avLst>
          </a:prstGeom>
          <a:solidFill>
            <a:srgbClr val="FFFFFF"/>
          </a:solidFill>
          <a:ln w="12700">
            <a:solidFill>
              <a:srgbClr val="DECCF2"/>
            </a:solidFill>
            <a:prstDash val="solid"/>
          </a:ln>
          <a:effectLst>
            <a:outerShdw sx="100000" sy="100000" kx="0" ky="0" algn="bl" rotWithShape="0" blurRad="101600" dist="25400" dir="5400000">
              <a:srgbClr val="C0A0DC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1480" y="192024"/>
            <a:ext cx="64008" cy="64008"/>
          </a:xfrm>
          <a:prstGeom prst="ellipse">
            <a:avLst/>
          </a:prstGeom>
          <a:solidFill>
            <a:srgbClr val="C45FA0"/>
          </a:solidFill>
          <a:ln w="12700">
            <a:solidFill>
              <a:srgbClr val="C45F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28016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10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Flow — UC1: Enrich &amp; Save to SFCC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1371600" cy="347472"/>
          </a:xfrm>
          <a:prstGeom prst="roundRect">
            <a:avLst>
              <a:gd name="adj" fmla="val 13158"/>
            </a:avLst>
          </a:prstGeom>
          <a:solidFill>
            <a:srgbClr val="EDE8F8"/>
          </a:solidFill>
          <a:ln w="12700">
            <a:solidFill>
              <a:srgbClr val="6B2FA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4320" y="841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6B2FA0"/>
                </a:solidFill>
              </a:rPr>
              <a:t>Merchant</a:t>
            </a:r>
            <a:endParaRPr lang="en-US" sz="7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6B2FA0"/>
                </a:solidFill>
              </a:rPr>
              <a:t>(Browser)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1828800" y="804672"/>
            <a:ext cx="1371600" cy="347472"/>
          </a:xfrm>
          <a:prstGeom prst="roundRect">
            <a:avLst>
              <a:gd name="adj" fmla="val 13158"/>
            </a:avLst>
          </a:prstGeom>
          <a:solidFill>
            <a:srgbClr val="E0EEFF"/>
          </a:solidFill>
          <a:ln w="12700">
            <a:solidFill>
              <a:srgbClr val="164E7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828800" y="841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164E7A"/>
                </a:solidFill>
              </a:rPr>
              <a:t>FastAPI</a:t>
            </a:r>
            <a:endParaRPr lang="en-US" sz="7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164E7A"/>
                </a:solidFill>
              </a:rPr>
              <a:t>main.py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383280" y="804672"/>
            <a:ext cx="1371600" cy="347472"/>
          </a:xfrm>
          <a:prstGeom prst="roundRect">
            <a:avLst>
              <a:gd name="adj" fmla="val 13158"/>
            </a:avLst>
          </a:prstGeom>
          <a:solidFill>
            <a:srgbClr val="E0F4F2"/>
          </a:solidFill>
          <a:ln w="12700">
            <a:solidFill>
              <a:srgbClr val="0A6E6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83280" y="841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0A6E60"/>
                </a:solidFill>
              </a:rPr>
              <a:t>merchandising.py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937760" y="804672"/>
            <a:ext cx="1371600" cy="347472"/>
          </a:xfrm>
          <a:prstGeom prst="roundRect">
            <a:avLst>
              <a:gd name="adj" fmla="val 13158"/>
            </a:avLst>
          </a:prstGeom>
          <a:solidFill>
            <a:srgbClr val="FEF3E2"/>
          </a:solidFill>
          <a:ln w="12700">
            <a:solidFill>
              <a:srgbClr val="B8521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37760" y="841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B85215"/>
                </a:solidFill>
              </a:rPr>
              <a:t>Gemini Flash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492240" y="804672"/>
            <a:ext cx="1371600" cy="347472"/>
          </a:xfrm>
          <a:prstGeom prst="roundRect">
            <a:avLst>
              <a:gd name="adj" fmla="val 13158"/>
            </a:avLst>
          </a:prstGeom>
          <a:solidFill>
            <a:srgbClr val="E0EEFF"/>
          </a:solidFill>
          <a:ln w="12700">
            <a:solidFill>
              <a:srgbClr val="164E7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92240" y="841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164E7A"/>
                </a:solidFill>
              </a:rPr>
              <a:t>SFCC OCAPI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10896" y="1207008"/>
            <a:ext cx="1298448" cy="420624"/>
          </a:xfrm>
          <a:prstGeom prst="roundRect">
            <a:avLst>
              <a:gd name="adj" fmla="val 10870"/>
            </a:avLst>
          </a:prstGeom>
          <a:solidFill>
            <a:srgbClr val="EDE8F8"/>
          </a:solidFill>
          <a:ln w="12700">
            <a:solidFill>
              <a:srgbClr val="6B2FA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7472" y="1234440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6B2FA0"/>
                </a:solidFill>
              </a:rPr>
              <a:t>Select product</a:t>
            </a:r>
            <a:endParaRPr lang="en-US" sz="700" dirty="0"/>
          </a:p>
        </p:txBody>
      </p:sp>
      <p:sp>
        <p:nvSpPr>
          <p:cNvPr id="18" name="Text 16"/>
          <p:cNvSpPr txBox="1"/>
          <p:nvPr/>
        </p:nvSpPr>
        <p:spPr>
          <a:xfrm>
            <a:off x="347472" y="1444752"/>
            <a:ext cx="12252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600" dirty="0">
                <a:solidFill>
                  <a:srgbClr val="5C3D6E"/>
                </a:solidFill>
              </a:rPr>
              <a:t>BBW fixture / SFCC catalog</a:t>
            </a: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1865376" y="1207008"/>
            <a:ext cx="1298448" cy="420624"/>
          </a:xfrm>
          <a:prstGeom prst="roundRect">
            <a:avLst>
              <a:gd name="adj" fmla="val 10870"/>
            </a:avLst>
          </a:prstGeom>
          <a:solidFill>
            <a:srgbClr val="E0EEFF"/>
          </a:solidFill>
          <a:ln w="12700">
            <a:solidFill>
              <a:srgbClr val="164E7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901952" y="1234440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164E7A"/>
                </a:solidFill>
              </a:rPr>
              <a:t>POST /enrich</a:t>
            </a:r>
            <a:endParaRPr lang="en-US" sz="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164E7A"/>
                </a:solidFill>
              </a:rPr>
              <a:t>auto_stage=false</a:t>
            </a:r>
            <a:endParaRPr lang="en-US" sz="700" dirty="0"/>
          </a:p>
        </p:txBody>
      </p:sp>
      <p:sp>
        <p:nvSpPr>
          <p:cNvPr id="21" name="Text 19"/>
          <p:cNvSpPr txBox="1"/>
          <p:nvPr/>
        </p:nvSpPr>
        <p:spPr>
          <a:xfrm>
            <a:off x="1901952" y="1444752"/>
            <a:ext cx="12252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600" dirty="0">
                <a:solidFill>
                  <a:srgbClr val="5C3D6E"/>
                </a:solidFill>
              </a:rPr>
              <a:t>EnrichRequest · Pydantic</a:t>
            </a:r>
            <a:endParaRPr lang="en-US" sz="600" dirty="0"/>
          </a:p>
        </p:txBody>
      </p:sp>
      <p:sp>
        <p:nvSpPr>
          <p:cNvPr id="22" name="Shape 20"/>
          <p:cNvSpPr/>
          <p:nvPr/>
        </p:nvSpPr>
        <p:spPr>
          <a:xfrm>
            <a:off x="3419856" y="1207008"/>
            <a:ext cx="1298448" cy="420624"/>
          </a:xfrm>
          <a:prstGeom prst="roundRect">
            <a:avLst>
              <a:gd name="adj" fmla="val 10870"/>
            </a:avLst>
          </a:prstGeom>
          <a:solidFill>
            <a:srgbClr val="E0F4F2"/>
          </a:solidFill>
          <a:ln w="12700">
            <a:solidFill>
              <a:srgbClr val="0A6E6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456432" y="1234440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0A6E60"/>
                </a:solidFill>
              </a:rPr>
              <a:t>_get_product()</a:t>
            </a:r>
            <a:endParaRPr lang="en-US" sz="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0A6E60"/>
                </a:solidFill>
              </a:rPr>
              <a:t>bulletfall fixture→SFCC</a:t>
            </a:r>
            <a:endParaRPr lang="en-US" sz="700" dirty="0"/>
          </a:p>
        </p:txBody>
      </p:sp>
      <p:sp>
        <p:nvSpPr>
          <p:cNvPr id="24" name="Text 22"/>
          <p:cNvSpPr txBox="1"/>
          <p:nvPr/>
        </p:nvSpPr>
        <p:spPr>
          <a:xfrm>
            <a:off x="3456432" y="1444752"/>
            <a:ext cx="12252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600" dirty="0">
                <a:solidFill>
                  <a:srgbClr val="5C3D6E"/>
                </a:solidFill>
              </a:rPr>
              <a:t>bbw_products or OCAPI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4974336" y="1207008"/>
            <a:ext cx="1298448" cy="420624"/>
          </a:xfrm>
          <a:prstGeom prst="roundRect">
            <a:avLst>
              <a:gd name="adj" fmla="val 10870"/>
            </a:avLst>
          </a:prstGeom>
          <a:solidFill>
            <a:srgbClr val="FEF3E2"/>
          </a:solidFill>
          <a:ln w="12700">
            <a:solidFill>
              <a:srgbClr val="B8521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010912" y="1234440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B85215"/>
                </a:solidFill>
              </a:rPr>
              <a:t>generate_content()</a:t>
            </a:r>
            <a:endParaRPr lang="en-US" sz="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B85215"/>
                </a:solidFill>
              </a:rPr>
              <a:t>JSON mode T=0.4</a:t>
            </a:r>
            <a:endParaRPr lang="en-US" sz="700" dirty="0"/>
          </a:p>
        </p:txBody>
      </p:sp>
      <p:sp>
        <p:nvSpPr>
          <p:cNvPr id="27" name="Text 25"/>
          <p:cNvSpPr txBox="1"/>
          <p:nvPr/>
        </p:nvSpPr>
        <p:spPr>
          <a:xfrm>
            <a:off x="5010912" y="1444752"/>
            <a:ext cx="12252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600" dirty="0">
                <a:solidFill>
                  <a:srgbClr val="5C3D6E"/>
                </a:solidFill>
              </a:rPr>
              <a:t>BENEFIT_VOCABULARY seeds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3419856" y="1737360"/>
            <a:ext cx="1298448" cy="420624"/>
          </a:xfrm>
          <a:prstGeom prst="roundRect">
            <a:avLst>
              <a:gd name="adj" fmla="val 10870"/>
            </a:avLst>
          </a:prstGeom>
          <a:solidFill>
            <a:srgbClr val="E0F4F2"/>
          </a:solidFill>
          <a:ln w="12700">
            <a:solidFill>
              <a:srgbClr val="0A6E6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456432" y="1764792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0A6E60"/>
                </a:solidFill>
              </a:rPr>
              <a:t>Parse JSON →</a:t>
            </a:r>
            <a:endParaRPr lang="en-US" sz="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0A6E60"/>
                </a:solidFill>
              </a:rPr>
              <a:t>MerchandisingResult</a:t>
            </a:r>
            <a:endParaRPr lang="en-US" sz="700" dirty="0"/>
          </a:p>
        </p:txBody>
      </p:sp>
      <p:sp>
        <p:nvSpPr>
          <p:cNvPr id="30" name="Text 28"/>
          <p:cNvSpPr txBox="1"/>
          <p:nvPr/>
        </p:nvSpPr>
        <p:spPr>
          <a:xfrm>
            <a:off x="3456432" y="1975104"/>
            <a:ext cx="12252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600" dirty="0">
                <a:solidFill>
                  <a:srgbClr val="5C3D6E"/>
                </a:solidFill>
              </a:rPr>
              <a:t>json.loads · validate</a:t>
            </a:r>
            <a:endParaRPr lang="en-US" sz="600" dirty="0"/>
          </a:p>
        </p:txBody>
      </p:sp>
      <p:sp>
        <p:nvSpPr>
          <p:cNvPr id="31" name="Shape 29"/>
          <p:cNvSpPr/>
          <p:nvPr/>
        </p:nvSpPr>
        <p:spPr>
          <a:xfrm>
            <a:off x="1865376" y="1737360"/>
            <a:ext cx="1298448" cy="420624"/>
          </a:xfrm>
          <a:prstGeom prst="roundRect">
            <a:avLst>
              <a:gd name="adj" fmla="val 10870"/>
            </a:avLst>
          </a:prstGeom>
          <a:solidFill>
            <a:srgbClr val="E0EEFF"/>
          </a:solidFill>
          <a:ln w="12700">
            <a:solidFill>
              <a:srgbClr val="164E7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901952" y="1764792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164E7A"/>
                </a:solidFill>
              </a:rPr>
              <a:t>Return result to UI</a:t>
            </a:r>
            <a:endParaRPr lang="en-US" sz="700" dirty="0"/>
          </a:p>
        </p:txBody>
      </p:sp>
      <p:sp>
        <p:nvSpPr>
          <p:cNvPr id="33" name="Text 31"/>
          <p:cNvSpPr txBox="1"/>
          <p:nvPr/>
        </p:nvSpPr>
        <p:spPr>
          <a:xfrm>
            <a:off x="1901952" y="1975104"/>
            <a:ext cx="12252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600" dirty="0">
                <a:solidFill>
                  <a:srgbClr val="5C3D6E"/>
                </a:solidFill>
              </a:rPr>
              <a:t>enriched_description · bullets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310896" y="1737360"/>
            <a:ext cx="1298448" cy="420624"/>
          </a:xfrm>
          <a:prstGeom prst="roundRect">
            <a:avLst>
              <a:gd name="adj" fmla="val 10870"/>
            </a:avLst>
          </a:prstGeom>
          <a:solidFill>
            <a:srgbClr val="EDE8F8"/>
          </a:solidFill>
          <a:ln w="12700">
            <a:solidFill>
              <a:srgbClr val="6B2FA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47472" y="1764792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6B2FA0"/>
                </a:solidFill>
              </a:rPr>
              <a:t>Review Before /</a:t>
            </a:r>
            <a:endParaRPr lang="en-US" sz="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6B2FA0"/>
                </a:solidFill>
              </a:rPr>
              <a:t>After diff</a:t>
            </a:r>
            <a:endParaRPr lang="en-US" sz="700" dirty="0"/>
          </a:p>
        </p:txBody>
      </p:sp>
      <p:sp>
        <p:nvSpPr>
          <p:cNvPr id="36" name="Text 34"/>
          <p:cNvSpPr txBox="1"/>
          <p:nvPr/>
        </p:nvSpPr>
        <p:spPr>
          <a:xfrm>
            <a:off x="347472" y="1975104"/>
            <a:ext cx="12252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600" dirty="0">
                <a:solidFill>
                  <a:srgbClr val="5C3D6E"/>
                </a:solidFill>
              </a:rPr>
              <a:t>Original vs AI side-by-side</a:t>
            </a:r>
            <a:endParaRPr lang="en-US" sz="600" dirty="0"/>
          </a:p>
        </p:txBody>
      </p:sp>
      <p:sp>
        <p:nvSpPr>
          <p:cNvPr id="37" name="Shape 35"/>
          <p:cNvSpPr/>
          <p:nvPr/>
        </p:nvSpPr>
        <p:spPr>
          <a:xfrm>
            <a:off x="310896" y="2286000"/>
            <a:ext cx="1298448" cy="420624"/>
          </a:xfrm>
          <a:prstGeom prst="roundRect">
            <a:avLst>
              <a:gd name="adj" fmla="val 10870"/>
            </a:avLst>
          </a:prstGeom>
          <a:solidFill>
            <a:srgbClr val="EDE8F8"/>
          </a:solidFill>
          <a:ln w="12700">
            <a:solidFill>
              <a:srgbClr val="6B2FA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47472" y="2313432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6B2FA0"/>
                </a:solidFill>
              </a:rPr>
              <a:t>Click "Stage</a:t>
            </a:r>
            <a:endParaRPr lang="en-US" sz="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6B2FA0"/>
                </a:solidFill>
              </a:rPr>
              <a:t>Changes"</a:t>
            </a:r>
            <a:endParaRPr lang="en-US" sz="700" dirty="0"/>
          </a:p>
        </p:txBody>
      </p:sp>
      <p:sp>
        <p:nvSpPr>
          <p:cNvPr id="39" name="Text 37"/>
          <p:cNvSpPr txBox="1"/>
          <p:nvPr/>
        </p:nvSpPr>
        <p:spPr>
          <a:xfrm>
            <a:off x="347472" y="2523744"/>
            <a:ext cx="12252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600" dirty="0">
                <a:solidFill>
                  <a:srgbClr val="5C3D6E"/>
                </a:solidFill>
              </a:rPr>
              <a:t>POST /enrich auto_stage=true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3419856" y="2286000"/>
            <a:ext cx="1298448" cy="420624"/>
          </a:xfrm>
          <a:prstGeom prst="roundRect">
            <a:avLst>
              <a:gd name="adj" fmla="val 10870"/>
            </a:avLst>
          </a:prstGeom>
          <a:solidFill>
            <a:srgbClr val="E0F4F2"/>
          </a:solidFill>
          <a:ln w="12700">
            <a:solidFill>
              <a:srgbClr val="0A6E6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456432" y="2313432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0A6E60"/>
                </a:solidFill>
              </a:rPr>
              <a:t>stage_listing_update</a:t>
            </a:r>
            <a:endParaRPr lang="en-US" sz="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0A6E60"/>
                </a:solidFill>
              </a:rPr>
              <a:t>long_description</a:t>
            </a:r>
            <a:endParaRPr lang="en-US" sz="700" dirty="0"/>
          </a:p>
        </p:txBody>
      </p:sp>
      <p:sp>
        <p:nvSpPr>
          <p:cNvPr id="42" name="Text 40"/>
          <p:cNvSpPr txBox="1"/>
          <p:nvPr/>
        </p:nvSpPr>
        <p:spPr>
          <a:xfrm>
            <a:off x="3456432" y="2523744"/>
            <a:ext cx="12252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600" dirty="0">
                <a:solidFill>
                  <a:srgbClr val="5C3D6E"/>
                </a:solidFill>
              </a:rPr>
              <a:t>ChangeLedger.stage() → StagedChange STAGED</a:t>
            </a:r>
            <a:endParaRPr lang="en-US" sz="600" dirty="0"/>
          </a:p>
        </p:txBody>
      </p:sp>
      <p:sp>
        <p:nvSpPr>
          <p:cNvPr id="43" name="Shape 41"/>
          <p:cNvSpPr/>
          <p:nvPr/>
        </p:nvSpPr>
        <p:spPr>
          <a:xfrm>
            <a:off x="310896" y="2834640"/>
            <a:ext cx="1298448" cy="420624"/>
          </a:xfrm>
          <a:prstGeom prst="roundRect">
            <a:avLst>
              <a:gd name="adj" fmla="val 10870"/>
            </a:avLst>
          </a:prstGeom>
          <a:solidFill>
            <a:srgbClr val="EDE8F8"/>
          </a:solidFill>
          <a:ln w="12700">
            <a:solidFill>
              <a:srgbClr val="6B2FA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347472" y="2862072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6B2FA0"/>
                </a:solidFill>
              </a:rPr>
              <a:t>Confirm → Apply</a:t>
            </a:r>
            <a:endParaRPr lang="en-US" sz="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6B2FA0"/>
                </a:solidFill>
              </a:rPr>
              <a:t>to SFCC</a:t>
            </a:r>
            <a:endParaRPr lang="en-US" sz="700" dirty="0"/>
          </a:p>
        </p:txBody>
      </p:sp>
      <p:sp>
        <p:nvSpPr>
          <p:cNvPr id="45" name="Text 43"/>
          <p:cNvSpPr txBox="1"/>
          <p:nvPr/>
        </p:nvSpPr>
        <p:spPr>
          <a:xfrm>
            <a:off x="347472" y="3072384"/>
            <a:ext cx="12252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600" dirty="0">
                <a:solidFill>
                  <a:srgbClr val="5C3D6E"/>
                </a:solidFill>
              </a:rPr>
              <a:t>POST /merchandising/apply</a:t>
            </a:r>
            <a:endParaRPr lang="en-US" sz="600" dirty="0"/>
          </a:p>
        </p:txBody>
      </p:sp>
      <p:sp>
        <p:nvSpPr>
          <p:cNvPr id="46" name="Shape 44"/>
          <p:cNvSpPr/>
          <p:nvPr/>
        </p:nvSpPr>
        <p:spPr>
          <a:xfrm>
            <a:off x="1865376" y="2834640"/>
            <a:ext cx="1298448" cy="420624"/>
          </a:xfrm>
          <a:prstGeom prst="roundRect">
            <a:avLst>
              <a:gd name="adj" fmla="val 10870"/>
            </a:avLst>
          </a:prstGeom>
          <a:solidFill>
            <a:srgbClr val="E0EEFF"/>
          </a:solidFill>
          <a:ln w="12700">
            <a:solidFill>
              <a:srgbClr val="164E7A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1901952" y="2862072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164E7A"/>
                </a:solidFill>
              </a:rPr>
              <a:t>apply_change()</a:t>
            </a:r>
            <a:endParaRPr lang="en-US" sz="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164E7A"/>
                </a:solidFill>
              </a:rPr>
              <a:t>lookup ledger</a:t>
            </a:r>
            <a:endParaRPr lang="en-US" sz="700" dirty="0"/>
          </a:p>
        </p:txBody>
      </p:sp>
      <p:sp>
        <p:nvSpPr>
          <p:cNvPr id="48" name="Text 46"/>
          <p:cNvSpPr txBox="1"/>
          <p:nvPr/>
        </p:nvSpPr>
        <p:spPr>
          <a:xfrm>
            <a:off x="1901952" y="3072384"/>
            <a:ext cx="12252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600" dirty="0">
                <a:solidFill>
                  <a:srgbClr val="5C3D6E"/>
                </a:solidFill>
              </a:rPr>
              <a:t>GET StagedChange</a:t>
            </a:r>
            <a:endParaRPr lang="en-US" sz="600" dirty="0"/>
          </a:p>
        </p:txBody>
      </p:sp>
      <p:sp>
        <p:nvSpPr>
          <p:cNvPr id="49" name="Shape 47"/>
          <p:cNvSpPr/>
          <p:nvPr/>
        </p:nvSpPr>
        <p:spPr>
          <a:xfrm>
            <a:off x="6528816" y="2834640"/>
            <a:ext cx="1298448" cy="420624"/>
          </a:xfrm>
          <a:prstGeom prst="roundRect">
            <a:avLst>
              <a:gd name="adj" fmla="val 10870"/>
            </a:avLst>
          </a:prstGeom>
          <a:solidFill>
            <a:srgbClr val="E0EEFF"/>
          </a:solidFill>
          <a:ln w="12700">
            <a:solidFill>
              <a:srgbClr val="164E7A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565392" y="2862072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164E7A"/>
                </a:solidFill>
              </a:rPr>
              <a:t>PATCH /products</a:t>
            </a:r>
            <a:endParaRPr lang="en-US" sz="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164E7A"/>
                </a:solidFill>
              </a:rPr>
              <a:t>/{id}</a:t>
            </a:r>
            <a:endParaRPr lang="en-US" sz="700" dirty="0"/>
          </a:p>
        </p:txBody>
      </p:sp>
      <p:sp>
        <p:nvSpPr>
          <p:cNvPr id="51" name="Text 49"/>
          <p:cNvSpPr txBox="1"/>
          <p:nvPr/>
        </p:nvSpPr>
        <p:spPr>
          <a:xfrm>
            <a:off x="6565392" y="3072384"/>
            <a:ext cx="12252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600" dirty="0">
                <a:solidFill>
                  <a:srgbClr val="5C3D6E"/>
                </a:solidFill>
              </a:rPr>
              <a:t>long_description</a:t>
            </a:r>
            <a:endParaRPr lang="en-US" sz="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600" dirty="0">
                <a:solidFill>
                  <a:srgbClr val="5C3D6E"/>
                </a:solidFill>
              </a:rPr>
              <a:t>short_description</a:t>
            </a:r>
            <a:endParaRPr lang="en-US" sz="600" dirty="0"/>
          </a:p>
        </p:txBody>
      </p:sp>
      <p:sp>
        <p:nvSpPr>
          <p:cNvPr id="52" name="Shape 50"/>
          <p:cNvSpPr/>
          <p:nvPr/>
        </p:nvSpPr>
        <p:spPr>
          <a:xfrm>
            <a:off x="1865376" y="3383280"/>
            <a:ext cx="1298448" cy="420624"/>
          </a:xfrm>
          <a:prstGeom prst="roundRect">
            <a:avLst>
              <a:gd name="adj" fmla="val 10870"/>
            </a:avLst>
          </a:prstGeom>
          <a:solidFill>
            <a:srgbClr val="E0EEFF"/>
          </a:solidFill>
          <a:ln w="12700">
            <a:solidFill>
              <a:srgbClr val="164E7A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1901952" y="3410712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164E7A"/>
                </a:solidFill>
              </a:rPr>
              <a:t>Ledger marks</a:t>
            </a:r>
            <a:endParaRPr lang="en-US" sz="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164E7A"/>
                </a:solidFill>
              </a:rPr>
              <a:t>APPLIED</a:t>
            </a:r>
            <a:endParaRPr lang="en-US" sz="700" dirty="0"/>
          </a:p>
        </p:txBody>
      </p:sp>
      <p:sp>
        <p:nvSpPr>
          <p:cNvPr id="54" name="Text 52"/>
          <p:cNvSpPr txBox="1"/>
          <p:nvPr/>
        </p:nvSpPr>
        <p:spPr>
          <a:xfrm>
            <a:off x="1901952" y="3621024"/>
            <a:ext cx="12252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600" dirty="0">
                <a:solidFill>
                  <a:srgbClr val="5C3D6E"/>
                </a:solidFill>
              </a:rPr>
              <a:t>StagedChange.status=APPLIED</a:t>
            </a:r>
            <a:endParaRPr lang="en-US" sz="600" dirty="0"/>
          </a:p>
        </p:txBody>
      </p:sp>
      <p:sp>
        <p:nvSpPr>
          <p:cNvPr id="55" name="Shape 53"/>
          <p:cNvSpPr/>
          <p:nvPr/>
        </p:nvSpPr>
        <p:spPr>
          <a:xfrm>
            <a:off x="310896" y="3383280"/>
            <a:ext cx="1298448" cy="420624"/>
          </a:xfrm>
          <a:prstGeom prst="roundRect">
            <a:avLst>
              <a:gd name="adj" fmla="val 10870"/>
            </a:avLst>
          </a:prstGeom>
          <a:solidFill>
            <a:srgbClr val="EDE8F8"/>
          </a:solidFill>
          <a:ln w="12700">
            <a:solidFill>
              <a:srgbClr val="6B2FA0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347472" y="3410712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6B2FA0"/>
                </a:solidFill>
              </a:rPr>
              <a:t>Applied ✓ in UI</a:t>
            </a:r>
            <a:endParaRPr lang="en-US" sz="700" dirty="0"/>
          </a:p>
        </p:txBody>
      </p:sp>
      <p:sp>
        <p:nvSpPr>
          <p:cNvPr id="57" name="Text 55"/>
          <p:cNvSpPr txBox="1"/>
          <p:nvPr/>
        </p:nvSpPr>
        <p:spPr>
          <a:xfrm>
            <a:off x="347472" y="3621024"/>
            <a:ext cx="12252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600" dirty="0">
                <a:solidFill>
                  <a:srgbClr val="5C3D6E"/>
                </a:solidFill>
              </a:rPr>
              <a:t>change_id · applied_at timestamp</a:t>
            </a:r>
            <a:endParaRPr lang="en-US" sz="600" dirty="0"/>
          </a:p>
        </p:txBody>
      </p:sp>
      <p:sp>
        <p:nvSpPr>
          <p:cNvPr id="58" name="Shape 56"/>
          <p:cNvSpPr/>
          <p:nvPr/>
        </p:nvSpPr>
        <p:spPr>
          <a:xfrm>
            <a:off x="256032" y="1170432"/>
            <a:ext cx="8339328" cy="10973"/>
          </a:xfrm>
          <a:prstGeom prst="rect">
            <a:avLst/>
          </a:prstGeom>
          <a:solidFill>
            <a:srgbClr val="D8C8F0"/>
          </a:solidFill>
          <a:ln w="12700">
            <a:solidFill>
              <a:srgbClr val="D8C8F0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274320" y="1179576"/>
            <a:ext cx="1828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9B8AAB"/>
                </a:solidFill>
              </a:rPr>
              <a:t>Phase 1 — Generate</a:t>
            </a:r>
            <a:endParaRPr lang="en-US" sz="600" dirty="0"/>
          </a:p>
        </p:txBody>
      </p:sp>
      <p:sp>
        <p:nvSpPr>
          <p:cNvPr id="60" name="Shape 58"/>
          <p:cNvSpPr/>
          <p:nvPr/>
        </p:nvSpPr>
        <p:spPr>
          <a:xfrm>
            <a:off x="256032" y="1719072"/>
            <a:ext cx="8339328" cy="10973"/>
          </a:xfrm>
          <a:prstGeom prst="rect">
            <a:avLst/>
          </a:prstGeom>
          <a:solidFill>
            <a:srgbClr val="D8C8F0"/>
          </a:solidFill>
          <a:ln w="12700">
            <a:solidFill>
              <a:srgbClr val="D8C8F0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274320" y="1728216"/>
            <a:ext cx="1828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9B8AAB"/>
                </a:solidFill>
              </a:rPr>
              <a:t>Phase 2 — Stage</a:t>
            </a:r>
            <a:endParaRPr lang="en-US" sz="600" dirty="0"/>
          </a:p>
        </p:txBody>
      </p:sp>
      <p:sp>
        <p:nvSpPr>
          <p:cNvPr id="62" name="Shape 60"/>
          <p:cNvSpPr/>
          <p:nvPr/>
        </p:nvSpPr>
        <p:spPr>
          <a:xfrm>
            <a:off x="256032" y="2249424"/>
            <a:ext cx="8339328" cy="10973"/>
          </a:xfrm>
          <a:prstGeom prst="rect">
            <a:avLst/>
          </a:prstGeom>
          <a:solidFill>
            <a:srgbClr val="D8C8F0"/>
          </a:solidFill>
          <a:ln w="12700">
            <a:solidFill>
              <a:srgbClr val="D8C8F0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274320" y="2258568"/>
            <a:ext cx="1828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9B8AAB"/>
                </a:solidFill>
              </a:rPr>
              <a:t>Phase 3 — Apply</a:t>
            </a:r>
            <a:endParaRPr lang="en-US" sz="600" dirty="0"/>
          </a:p>
        </p:txBody>
      </p:sp>
      <p:sp>
        <p:nvSpPr>
          <p:cNvPr id="64" name="Shape 62"/>
          <p:cNvSpPr/>
          <p:nvPr/>
        </p:nvSpPr>
        <p:spPr>
          <a:xfrm>
            <a:off x="256032" y="3346704"/>
            <a:ext cx="8339328" cy="10973"/>
          </a:xfrm>
          <a:prstGeom prst="rect">
            <a:avLst/>
          </a:prstGeom>
          <a:solidFill>
            <a:srgbClr val="D8C8F0"/>
          </a:solidFill>
          <a:ln w="12700">
            <a:solidFill>
              <a:srgbClr val="D8C8F0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274320" y="3355848"/>
            <a:ext cx="1828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9B8AAB"/>
                </a:solidFill>
              </a:rPr>
              <a:t>Phase 4 — Done</a:t>
            </a:r>
            <a:endParaRPr lang="en-US" sz="600" dirty="0"/>
          </a:p>
        </p:txBody>
      </p:sp>
      <p:sp>
        <p:nvSpPr>
          <p:cNvPr id="66" name="Shape 64"/>
          <p:cNvSpPr/>
          <p:nvPr/>
        </p:nvSpPr>
        <p:spPr>
          <a:xfrm>
            <a:off x="256032" y="3858768"/>
            <a:ext cx="8357616" cy="438912"/>
          </a:xfrm>
          <a:prstGeom prst="roundRect">
            <a:avLst>
              <a:gd name="adj" fmla="val 12500"/>
            </a:avLst>
          </a:prstGeom>
          <a:solidFill>
            <a:srgbClr val="1C1034"/>
          </a:solidFill>
          <a:ln w="12700">
            <a:solidFill>
              <a:srgbClr val="1C1034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384048" y="3913632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B8AAB"/>
                </a:solidFill>
              </a:rPr>
              <a:t>VALUE ADD</a:t>
            </a:r>
            <a:endParaRPr lang="en-US" sz="650" dirty="0"/>
          </a:p>
        </p:txBody>
      </p:sp>
      <p:sp>
        <p:nvSpPr>
          <p:cNvPr id="68" name="Text 66"/>
          <p:cNvSpPr txBox="1"/>
          <p:nvPr/>
        </p:nvSpPr>
        <p:spPr>
          <a:xfrm>
            <a:off x="384048" y="404164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D0BEE8"/>
                </a:solidFill>
              </a:rPr>
              <a:t>Merchants spend 15–30 min per product writing B2C copy. AI generates richer content in &lt;3 s · human stays in control via Stage→Review→Apply gate · every write is audited in ChangeLedger · SFCC OCAPI PATCH goes to long_description + short_description fields directly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0FC"/>
          </a:solidFill>
          <a:ln w="12700">
            <a:solidFill>
              <a:srgbClr val="F7F0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603504"/>
            <a:ext cx="8595360" cy="4315968"/>
          </a:xfrm>
          <a:prstGeom prst="roundRect">
            <a:avLst>
              <a:gd name="adj" fmla="val 2119"/>
            </a:avLst>
          </a:prstGeom>
          <a:solidFill>
            <a:srgbClr val="FFFFFF"/>
          </a:solidFill>
          <a:ln w="12700">
            <a:solidFill>
              <a:srgbClr val="DECCF2"/>
            </a:solidFill>
            <a:prstDash val="solid"/>
          </a:ln>
          <a:effectLst>
            <a:outerShdw sx="100000" sy="100000" kx="0" ky="0" algn="bl" rotWithShape="0" blurRad="101600" dist="25400" dir="5400000">
              <a:srgbClr val="C0A0DC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1480" y="192024"/>
            <a:ext cx="64008" cy="64008"/>
          </a:xfrm>
          <a:prstGeom prst="ellipse">
            <a:avLst/>
          </a:prstGeom>
          <a:solidFill>
            <a:srgbClr val="C45FA0"/>
          </a:solidFill>
          <a:ln w="12700">
            <a:solidFill>
              <a:srgbClr val="C45F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28016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10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Flow — UC2 SEO · UC3 Geo · UC4 Classify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256032" y="749808"/>
            <a:ext cx="2670048" cy="274320"/>
          </a:xfrm>
          <a:prstGeom prst="roundRect">
            <a:avLst>
              <a:gd name="adj" fmla="val 16667"/>
            </a:avLst>
          </a:prstGeom>
          <a:solidFill>
            <a:srgbClr val="B85215"/>
          </a:solidFill>
          <a:ln w="12700">
            <a:solidFill>
              <a:srgbClr val="B8521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6032" y="777240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UC2 — SEO Content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92608" y="1078992"/>
            <a:ext cx="2596896" cy="420624"/>
          </a:xfrm>
          <a:prstGeom prst="roundRect">
            <a:avLst>
              <a:gd name="adj" fmla="val 10870"/>
            </a:avLst>
          </a:prstGeom>
          <a:solidFill>
            <a:srgbClr val="FEF3E2"/>
          </a:solidFill>
          <a:ln w="12700">
            <a:solidFill>
              <a:srgbClr val="6B2FA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8328" y="1106424"/>
            <a:ext cx="2505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6B2FA0"/>
                </a:solidFill>
              </a:rPr>
              <a:t>MERCHANT</a:t>
            </a:r>
            <a:endParaRPr lang="en-US" sz="600" dirty="0"/>
          </a:p>
        </p:txBody>
      </p:sp>
      <p:sp>
        <p:nvSpPr>
          <p:cNvPr id="10" name="Text 8"/>
          <p:cNvSpPr txBox="1"/>
          <p:nvPr/>
        </p:nvSpPr>
        <p:spPr>
          <a:xfrm>
            <a:off x="338328" y="1225296"/>
            <a:ext cx="2505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1C1034"/>
                </a:solidFill>
              </a:rPr>
              <a:t>POST /merchandising/seo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338328" y="1380744"/>
            <a:ext cx="2505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5C3D6E"/>
                </a:solidFill>
              </a:rPr>
              <a:t>listing_id · market · brand params</a:t>
            </a:r>
            <a:endParaRPr lang="en-US" sz="650" dirty="0"/>
          </a:p>
        </p:txBody>
      </p:sp>
      <p:sp>
        <p:nvSpPr>
          <p:cNvPr id="12" name="Text 10"/>
          <p:cNvSpPr txBox="1"/>
          <p:nvPr/>
        </p:nvSpPr>
        <p:spPr>
          <a:xfrm>
            <a:off x="1499616" y="1499616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B8AAB"/>
                </a:solidFill>
              </a:rPr>
              <a:t>▼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292608" y="1545336"/>
            <a:ext cx="2596896" cy="420624"/>
          </a:xfrm>
          <a:prstGeom prst="roundRect">
            <a:avLst>
              <a:gd name="adj" fmla="val 10870"/>
            </a:avLst>
          </a:prstGeom>
          <a:solidFill>
            <a:srgbClr val="FEF3E2"/>
          </a:solidFill>
          <a:ln w="12700">
            <a:solidFill>
              <a:srgbClr val="7026A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38328" y="1572768"/>
            <a:ext cx="2505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7026A8"/>
                </a:solidFill>
              </a:rPr>
              <a:t>ONTOLOGY</a:t>
            </a:r>
            <a:endParaRPr lang="en-US" sz="600" dirty="0"/>
          </a:p>
        </p:txBody>
      </p:sp>
      <p:sp>
        <p:nvSpPr>
          <p:cNvPr id="15" name="Text 13"/>
          <p:cNvSpPr txBox="1"/>
          <p:nvPr/>
        </p:nvSpPr>
        <p:spPr>
          <a:xfrm>
            <a:off x="338328" y="1691640"/>
            <a:ext cx="2505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1C1034"/>
                </a:solidFill>
              </a:rPr>
              <a:t>SEO_KEYWORD_TEMPLATES lookup</a:t>
            </a:r>
            <a:endParaRPr lang="en-US" sz="750" dirty="0"/>
          </a:p>
        </p:txBody>
      </p:sp>
      <p:sp>
        <p:nvSpPr>
          <p:cNvPr id="16" name="Text 14"/>
          <p:cNvSpPr txBox="1"/>
          <p:nvPr/>
        </p:nvSpPr>
        <p:spPr>
          <a:xfrm>
            <a:off x="338328" y="1847088"/>
            <a:ext cx="2505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5C3D6E"/>
                </a:solidFill>
              </a:rPr>
              <a:t>Category → curated keyword list seeds prompt</a:t>
            </a:r>
            <a:endParaRPr lang="en-US" sz="650" dirty="0"/>
          </a:p>
        </p:txBody>
      </p:sp>
      <p:sp>
        <p:nvSpPr>
          <p:cNvPr id="17" name="Text 15"/>
          <p:cNvSpPr txBox="1"/>
          <p:nvPr/>
        </p:nvSpPr>
        <p:spPr>
          <a:xfrm>
            <a:off x="1499616" y="1965960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B8AAB"/>
                </a:solidFill>
              </a:rPr>
              <a:t>▼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292608" y="2011680"/>
            <a:ext cx="2596896" cy="420624"/>
          </a:xfrm>
          <a:prstGeom prst="roundRect">
            <a:avLst>
              <a:gd name="adj" fmla="val 10870"/>
            </a:avLst>
          </a:prstGeom>
          <a:solidFill>
            <a:srgbClr val="FEF3E2"/>
          </a:solidFill>
          <a:ln w="12700">
            <a:solidFill>
              <a:srgbClr val="B8521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38328" y="2039112"/>
            <a:ext cx="2505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B85215"/>
                </a:solidFill>
              </a:rPr>
              <a:t>GEMINI JSON MODE</a:t>
            </a:r>
            <a:endParaRPr lang="en-US" sz="600" dirty="0"/>
          </a:p>
        </p:txBody>
      </p:sp>
      <p:sp>
        <p:nvSpPr>
          <p:cNvPr id="20" name="Text 18"/>
          <p:cNvSpPr txBox="1"/>
          <p:nvPr/>
        </p:nvSpPr>
        <p:spPr>
          <a:xfrm>
            <a:off x="338328" y="2157984"/>
            <a:ext cx="2505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1C1034"/>
                </a:solidFill>
              </a:rPr>
              <a:t>_generate_json(prompt)</a:t>
            </a:r>
            <a:endParaRPr lang="en-US" sz="750" dirty="0"/>
          </a:p>
        </p:txBody>
      </p:sp>
      <p:sp>
        <p:nvSpPr>
          <p:cNvPr id="21" name="Text 19"/>
          <p:cNvSpPr txBox="1"/>
          <p:nvPr/>
        </p:nvSpPr>
        <p:spPr>
          <a:xfrm>
            <a:off x="338328" y="2313432"/>
            <a:ext cx="2505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5C3D6E"/>
                </a:solidFill>
              </a:rPr>
              <a:t>T=0.4 · response_mime_type="application/json"</a:t>
            </a:r>
            <a:endParaRPr lang="en-US" sz="650" dirty="0"/>
          </a:p>
        </p:txBody>
      </p:sp>
      <p:sp>
        <p:nvSpPr>
          <p:cNvPr id="22" name="Text 20"/>
          <p:cNvSpPr txBox="1"/>
          <p:nvPr/>
        </p:nvSpPr>
        <p:spPr>
          <a:xfrm>
            <a:off x="1499616" y="2432304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B8AAB"/>
                </a:solidFill>
              </a:rPr>
              <a:t>▼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292608" y="2478024"/>
            <a:ext cx="2596896" cy="420624"/>
          </a:xfrm>
          <a:prstGeom prst="roundRect">
            <a:avLst>
              <a:gd name="adj" fmla="val 10870"/>
            </a:avLst>
          </a:prstGeom>
          <a:solidFill>
            <a:srgbClr val="FEF3E2"/>
          </a:solidFill>
          <a:ln w="12700">
            <a:solidFill>
              <a:srgbClr val="B8521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38328" y="2505456"/>
            <a:ext cx="2505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B85215"/>
                </a:solidFill>
              </a:rPr>
              <a:t>OUTPUT VALIDATION</a:t>
            </a:r>
            <a:endParaRPr lang="en-US" sz="600" dirty="0"/>
          </a:p>
        </p:txBody>
      </p:sp>
      <p:sp>
        <p:nvSpPr>
          <p:cNvPr id="25" name="Text 23"/>
          <p:cNvSpPr txBox="1"/>
          <p:nvPr/>
        </p:nvSpPr>
        <p:spPr>
          <a:xfrm>
            <a:off x="338328" y="2624328"/>
            <a:ext cx="2505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1C1034"/>
                </a:solidFill>
              </a:rPr>
              <a:t>title ≤60ch · meta ≤155ch · H1 · slug · keywords</a:t>
            </a:r>
            <a:endParaRPr lang="en-US" sz="750" dirty="0"/>
          </a:p>
        </p:txBody>
      </p:sp>
      <p:sp>
        <p:nvSpPr>
          <p:cNvPr id="26" name="Text 24"/>
          <p:cNvSpPr txBox="1"/>
          <p:nvPr/>
        </p:nvSpPr>
        <p:spPr>
          <a:xfrm>
            <a:off x="338328" y="2779776"/>
            <a:ext cx="2505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5C3D6E"/>
                </a:solidFill>
              </a:rPr>
              <a:t>UI shows red if over limit · Copy buttons per field</a:t>
            </a:r>
            <a:endParaRPr lang="en-US" sz="650" dirty="0"/>
          </a:p>
        </p:txBody>
      </p:sp>
      <p:sp>
        <p:nvSpPr>
          <p:cNvPr id="27" name="Text 25"/>
          <p:cNvSpPr txBox="1"/>
          <p:nvPr/>
        </p:nvSpPr>
        <p:spPr>
          <a:xfrm>
            <a:off x="1499616" y="2898648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B8AAB"/>
                </a:solidFill>
              </a:rPr>
              <a:t>▼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292608" y="2944368"/>
            <a:ext cx="2596896" cy="402336"/>
          </a:xfrm>
          <a:prstGeom prst="roundRect">
            <a:avLst>
              <a:gd name="adj" fmla="val 11364"/>
            </a:avLst>
          </a:prstGeom>
          <a:solidFill>
            <a:srgbClr val="E0F4F2"/>
          </a:solidFill>
          <a:ln w="12700">
            <a:solidFill>
              <a:srgbClr val="0A6E6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38328" y="2990088"/>
            <a:ext cx="2505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0A6E60"/>
                </a:solidFill>
              </a:rPr>
              <a:t>OUTPUT: keyword-first SEO content ready to paste into SFCC / CMS</a:t>
            </a:r>
            <a:endParaRPr lang="en-US" sz="750" dirty="0"/>
          </a:p>
        </p:txBody>
      </p:sp>
      <p:sp>
        <p:nvSpPr>
          <p:cNvPr id="30" name="Text 28"/>
          <p:cNvSpPr txBox="1"/>
          <p:nvPr/>
        </p:nvSpPr>
        <p:spPr>
          <a:xfrm>
            <a:off x="338328" y="3145536"/>
            <a:ext cx="2505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5C3D6E"/>
                </a:solidFill>
              </a:rPr>
              <a:t>Saves 20 min per product of manual SEO copywriting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292608" y="3346704"/>
            <a:ext cx="2596896" cy="475488"/>
          </a:xfrm>
          <a:prstGeom prst="roundRect">
            <a:avLst>
              <a:gd name="adj" fmla="val 9615"/>
            </a:avLst>
          </a:prstGeom>
          <a:solidFill>
            <a:srgbClr val="1C1034"/>
          </a:solidFill>
          <a:ln w="12700">
            <a:solidFill>
              <a:srgbClr val="1C103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38328" y="3392424"/>
            <a:ext cx="2505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D0BEE8"/>
                </a:solidFill>
              </a:rPr>
              <a:t>VALUE ADD</a:t>
            </a:r>
            <a:endParaRPr lang="en-US" sz="700" dirty="0"/>
          </a:p>
        </p:txBody>
      </p:sp>
      <p:sp>
        <p:nvSpPr>
          <p:cNvPr id="33" name="Text 31"/>
          <p:cNvSpPr txBox="1"/>
          <p:nvPr/>
        </p:nvSpPr>
        <p:spPr>
          <a:xfrm>
            <a:off x="338328" y="3547872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9B8AAB"/>
                </a:solidFill>
              </a:rPr>
              <a:t>Consistent brand voice + keyword coverage across entire catalog · prevents accidental SEO cannibalism between products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3035808" y="749808"/>
            <a:ext cx="2670048" cy="274320"/>
          </a:xfrm>
          <a:prstGeom prst="roundRect">
            <a:avLst>
              <a:gd name="adj" fmla="val 16667"/>
            </a:avLst>
          </a:prstGeom>
          <a:solidFill>
            <a:srgbClr val="0A6E60"/>
          </a:solidFill>
          <a:ln w="12700">
            <a:solidFill>
              <a:srgbClr val="0A6E6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035808" y="777240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UC3 — Geo Localisation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072384" y="1078992"/>
            <a:ext cx="2596896" cy="420624"/>
          </a:xfrm>
          <a:prstGeom prst="roundRect">
            <a:avLst>
              <a:gd name="adj" fmla="val 10870"/>
            </a:avLst>
          </a:prstGeom>
          <a:solidFill>
            <a:srgbClr val="E0F4F2"/>
          </a:solidFill>
          <a:ln w="12700">
            <a:solidFill>
              <a:srgbClr val="6B2FA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118104" y="1106424"/>
            <a:ext cx="2505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6B2FA0"/>
                </a:solidFill>
              </a:rPr>
              <a:t>MERCHANT</a:t>
            </a:r>
            <a:endParaRPr lang="en-US" sz="600" dirty="0"/>
          </a:p>
        </p:txBody>
      </p:sp>
      <p:sp>
        <p:nvSpPr>
          <p:cNvPr id="38" name="Text 36"/>
          <p:cNvSpPr txBox="1"/>
          <p:nvPr/>
        </p:nvSpPr>
        <p:spPr>
          <a:xfrm>
            <a:off x="3118104" y="1225296"/>
            <a:ext cx="2505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1C1034"/>
                </a:solidFill>
              </a:rPr>
              <a:t>POST /merchandising/geo</a:t>
            </a:r>
            <a:endParaRPr lang="en-US" sz="750" dirty="0"/>
          </a:p>
        </p:txBody>
      </p:sp>
      <p:sp>
        <p:nvSpPr>
          <p:cNvPr id="39" name="Text 37"/>
          <p:cNvSpPr txBox="1"/>
          <p:nvPr/>
        </p:nvSpPr>
        <p:spPr>
          <a:xfrm>
            <a:off x="3118104" y="1380744"/>
            <a:ext cx="2505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5C3D6E"/>
                </a:solidFill>
              </a:rPr>
              <a:t>regions=US-NE,US-S,US-W,UK (comma list)</a:t>
            </a:r>
            <a:endParaRPr lang="en-US" sz="650" dirty="0"/>
          </a:p>
        </p:txBody>
      </p:sp>
      <p:sp>
        <p:nvSpPr>
          <p:cNvPr id="40" name="Text 38"/>
          <p:cNvSpPr txBox="1"/>
          <p:nvPr/>
        </p:nvSpPr>
        <p:spPr>
          <a:xfrm>
            <a:off x="4279392" y="1499616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B8AAB"/>
                </a:solidFill>
              </a:rPr>
              <a:t>▼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3072384" y="1545336"/>
            <a:ext cx="2596896" cy="420624"/>
          </a:xfrm>
          <a:prstGeom prst="roundRect">
            <a:avLst>
              <a:gd name="adj" fmla="val 10870"/>
            </a:avLst>
          </a:prstGeom>
          <a:solidFill>
            <a:srgbClr val="E0F4F2"/>
          </a:solidFill>
          <a:ln w="12700">
            <a:solidFill>
              <a:srgbClr val="7026A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118104" y="1572768"/>
            <a:ext cx="2505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7026A8"/>
                </a:solidFill>
              </a:rPr>
              <a:t>ONTOLOGY</a:t>
            </a:r>
            <a:endParaRPr lang="en-US" sz="600" dirty="0"/>
          </a:p>
        </p:txBody>
      </p:sp>
      <p:sp>
        <p:nvSpPr>
          <p:cNvPr id="43" name="Text 41"/>
          <p:cNvSpPr txBox="1"/>
          <p:nvPr/>
        </p:nvSpPr>
        <p:spPr>
          <a:xfrm>
            <a:off x="3118104" y="1691640"/>
            <a:ext cx="2505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1C1034"/>
                </a:solidFill>
              </a:rPr>
              <a:t>GEO_OCCASION_MAP lookup</a:t>
            </a:r>
            <a:endParaRPr lang="en-US" sz="750" dirty="0"/>
          </a:p>
        </p:txBody>
      </p:sp>
      <p:sp>
        <p:nvSpPr>
          <p:cNvPr id="44" name="Text 42"/>
          <p:cNvSpPr txBox="1"/>
          <p:nvPr/>
        </p:nvSpPr>
        <p:spPr>
          <a:xfrm>
            <a:off x="3118104" y="1847088"/>
            <a:ext cx="2505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5C3D6E"/>
                </a:solidFill>
              </a:rPr>
              <a:t>region → season → occasion labels + vocab hints</a:t>
            </a:r>
            <a:endParaRPr lang="en-US" sz="650" dirty="0"/>
          </a:p>
        </p:txBody>
      </p:sp>
      <p:sp>
        <p:nvSpPr>
          <p:cNvPr id="45" name="Text 43"/>
          <p:cNvSpPr txBox="1"/>
          <p:nvPr/>
        </p:nvSpPr>
        <p:spPr>
          <a:xfrm>
            <a:off x="4279392" y="1965960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B8AAB"/>
                </a:solidFill>
              </a:rPr>
              <a:t>▼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3072384" y="2011680"/>
            <a:ext cx="2596896" cy="420624"/>
          </a:xfrm>
          <a:prstGeom prst="roundRect">
            <a:avLst>
              <a:gd name="adj" fmla="val 10870"/>
            </a:avLst>
          </a:prstGeom>
          <a:solidFill>
            <a:srgbClr val="E0F4F2"/>
          </a:solidFill>
          <a:ln w="12700">
            <a:solidFill>
              <a:srgbClr val="B85215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3118104" y="2039112"/>
            <a:ext cx="2505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B85215"/>
                </a:solidFill>
              </a:rPr>
              <a:t>GEMINI JSON MODE</a:t>
            </a:r>
            <a:endParaRPr lang="en-US" sz="600" dirty="0"/>
          </a:p>
        </p:txBody>
      </p:sp>
      <p:sp>
        <p:nvSpPr>
          <p:cNvPr id="48" name="Text 46"/>
          <p:cNvSpPr txBox="1"/>
          <p:nvPr/>
        </p:nvSpPr>
        <p:spPr>
          <a:xfrm>
            <a:off x="3118104" y="2157984"/>
            <a:ext cx="2505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1C1034"/>
                </a:solidFill>
              </a:rPr>
              <a:t>Returns JSON array [GeoContent×4]</a:t>
            </a:r>
            <a:endParaRPr lang="en-US" sz="750" dirty="0"/>
          </a:p>
        </p:txBody>
      </p:sp>
      <p:sp>
        <p:nvSpPr>
          <p:cNvPr id="49" name="Text 47"/>
          <p:cNvSpPr txBox="1"/>
          <p:nvPr/>
        </p:nvSpPr>
        <p:spPr>
          <a:xfrm>
            <a:off x="3118104" y="2313432"/>
            <a:ext cx="2505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5C3D6E"/>
                </a:solidFill>
              </a:rPr>
              <a:t>UK: "cosy/pressie" · US-South: "porch/BBQ"</a:t>
            </a:r>
            <a:endParaRPr lang="en-US" sz="650" dirty="0"/>
          </a:p>
        </p:txBody>
      </p:sp>
      <p:sp>
        <p:nvSpPr>
          <p:cNvPr id="50" name="Text 48"/>
          <p:cNvSpPr txBox="1"/>
          <p:nvPr/>
        </p:nvSpPr>
        <p:spPr>
          <a:xfrm>
            <a:off x="4279392" y="2432304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B8AAB"/>
                </a:solidFill>
              </a:rPr>
              <a:t>▼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3072384" y="2478024"/>
            <a:ext cx="2596896" cy="420624"/>
          </a:xfrm>
          <a:prstGeom prst="roundRect">
            <a:avLst>
              <a:gd name="adj" fmla="val 10870"/>
            </a:avLst>
          </a:prstGeom>
          <a:solidFill>
            <a:srgbClr val="E0F4F2"/>
          </a:solidFill>
          <a:ln w="12700">
            <a:solidFill>
              <a:srgbClr val="6B2FA0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3118104" y="2505456"/>
            <a:ext cx="2505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6B2FA0"/>
                </a:solidFill>
              </a:rPr>
              <a:t>UI</a:t>
            </a:r>
            <a:endParaRPr lang="en-US" sz="600" dirty="0"/>
          </a:p>
        </p:txBody>
      </p:sp>
      <p:sp>
        <p:nvSpPr>
          <p:cNvPr id="53" name="Text 51"/>
          <p:cNvSpPr txBox="1"/>
          <p:nvPr/>
        </p:nvSpPr>
        <p:spPr>
          <a:xfrm>
            <a:off x="3118104" y="2624328"/>
            <a:ext cx="2505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1C1034"/>
                </a:solidFill>
              </a:rPr>
              <a:t>Region cards: flag · copy · occasion chips</a:t>
            </a:r>
            <a:endParaRPr lang="en-US" sz="750" dirty="0"/>
          </a:p>
        </p:txBody>
      </p:sp>
      <p:sp>
        <p:nvSpPr>
          <p:cNvPr id="54" name="Text 52"/>
          <p:cNvSpPr txBox="1"/>
          <p:nvPr/>
        </p:nvSpPr>
        <p:spPr>
          <a:xfrm>
            <a:off x="3118104" y="2779776"/>
            <a:ext cx="2505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5C3D6E"/>
                </a:solidFill>
              </a:rPr>
              <a:t>4 localised PDP variants in one click</a:t>
            </a:r>
            <a:endParaRPr lang="en-US" sz="650" dirty="0"/>
          </a:p>
        </p:txBody>
      </p:sp>
      <p:sp>
        <p:nvSpPr>
          <p:cNvPr id="55" name="Text 53"/>
          <p:cNvSpPr txBox="1"/>
          <p:nvPr/>
        </p:nvSpPr>
        <p:spPr>
          <a:xfrm>
            <a:off x="4279392" y="2898648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B8AAB"/>
                </a:solidFill>
              </a:rPr>
              <a:t>▼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3072384" y="2944368"/>
            <a:ext cx="2596896" cy="402336"/>
          </a:xfrm>
          <a:prstGeom prst="roundRect">
            <a:avLst>
              <a:gd name="adj" fmla="val 11364"/>
            </a:avLst>
          </a:prstGeom>
          <a:solidFill>
            <a:srgbClr val="E0F4F2"/>
          </a:solidFill>
          <a:ln w="12700">
            <a:solidFill>
              <a:srgbClr val="0A6E60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3118104" y="2990088"/>
            <a:ext cx="2505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0A6E60"/>
                </a:solidFill>
              </a:rPr>
              <a:t>OUTPUT: 4 region-authentic descriptions + occasion tags</a:t>
            </a:r>
            <a:endParaRPr lang="en-US" sz="750" dirty="0"/>
          </a:p>
        </p:txBody>
      </p:sp>
      <p:sp>
        <p:nvSpPr>
          <p:cNvPr id="58" name="Text 56"/>
          <p:cNvSpPr txBox="1"/>
          <p:nvPr/>
        </p:nvSpPr>
        <p:spPr>
          <a:xfrm>
            <a:off x="3118104" y="3145536"/>
            <a:ext cx="2505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5C3D6E"/>
                </a:solidFill>
              </a:rPr>
              <a:t>Deploy to localised storefront or SFCC locale</a:t>
            </a:r>
            <a:endParaRPr lang="en-US" sz="650" dirty="0"/>
          </a:p>
        </p:txBody>
      </p:sp>
      <p:sp>
        <p:nvSpPr>
          <p:cNvPr id="59" name="Shape 57"/>
          <p:cNvSpPr/>
          <p:nvPr/>
        </p:nvSpPr>
        <p:spPr>
          <a:xfrm>
            <a:off x="3072384" y="3346704"/>
            <a:ext cx="2596896" cy="475488"/>
          </a:xfrm>
          <a:prstGeom prst="roundRect">
            <a:avLst>
              <a:gd name="adj" fmla="val 9615"/>
            </a:avLst>
          </a:prstGeom>
          <a:solidFill>
            <a:srgbClr val="1C1034"/>
          </a:solidFill>
          <a:ln w="12700">
            <a:solidFill>
              <a:srgbClr val="1C1034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3118104" y="3392424"/>
            <a:ext cx="2505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D0BEE8"/>
                </a:solidFill>
              </a:rPr>
              <a:t>VALUE ADD</a:t>
            </a:r>
            <a:endParaRPr lang="en-US" sz="700" dirty="0"/>
          </a:p>
        </p:txBody>
      </p:sp>
      <p:sp>
        <p:nvSpPr>
          <p:cNvPr id="61" name="Text 59"/>
          <p:cNvSpPr txBox="1"/>
          <p:nvPr/>
        </p:nvSpPr>
        <p:spPr>
          <a:xfrm>
            <a:off x="3118104" y="3547872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9B8AAB"/>
                </a:solidFill>
              </a:rPr>
              <a:t>Writing geo copy manually per region costs £2–5k per product shoot + localisation agency fees. AI delivers 4 variants in &lt;5 s at near-zero marginal cost</a:t>
            </a:r>
            <a:endParaRPr lang="en-US" sz="650" dirty="0"/>
          </a:p>
        </p:txBody>
      </p:sp>
      <p:sp>
        <p:nvSpPr>
          <p:cNvPr id="62" name="Shape 60"/>
          <p:cNvSpPr/>
          <p:nvPr/>
        </p:nvSpPr>
        <p:spPr>
          <a:xfrm>
            <a:off x="5815584" y="749808"/>
            <a:ext cx="2670048" cy="274320"/>
          </a:xfrm>
          <a:prstGeom prst="roundRect">
            <a:avLst>
              <a:gd name="adj" fmla="val 16667"/>
            </a:avLst>
          </a:prstGeom>
          <a:solidFill>
            <a:srgbClr val="82268A"/>
          </a:solidFill>
          <a:ln w="12700">
            <a:solidFill>
              <a:srgbClr val="82268A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5815584" y="777240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UC4 — Ontology Classify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5852160" y="1078992"/>
            <a:ext cx="2596896" cy="420624"/>
          </a:xfrm>
          <a:prstGeom prst="roundRect">
            <a:avLst>
              <a:gd name="adj" fmla="val 10870"/>
            </a:avLst>
          </a:prstGeom>
          <a:solidFill>
            <a:srgbClr val="F3E8FF"/>
          </a:solidFill>
          <a:ln w="12700">
            <a:solidFill>
              <a:srgbClr val="6B2FA0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5897880" y="1106424"/>
            <a:ext cx="2505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6B2FA0"/>
                </a:solidFill>
              </a:rPr>
              <a:t>MERCHANT</a:t>
            </a:r>
            <a:endParaRPr lang="en-US" sz="600" dirty="0"/>
          </a:p>
        </p:txBody>
      </p:sp>
      <p:sp>
        <p:nvSpPr>
          <p:cNvPr id="66" name="Text 64"/>
          <p:cNvSpPr txBox="1"/>
          <p:nvPr/>
        </p:nvSpPr>
        <p:spPr>
          <a:xfrm>
            <a:off x="5897880" y="1225296"/>
            <a:ext cx="2505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1C1034"/>
                </a:solidFill>
              </a:rPr>
              <a:t>GET /classify/{listing_id}</a:t>
            </a:r>
            <a:endParaRPr lang="en-US" sz="750" dirty="0"/>
          </a:p>
        </p:txBody>
      </p:sp>
      <p:sp>
        <p:nvSpPr>
          <p:cNvPr id="67" name="Text 65"/>
          <p:cNvSpPr txBox="1"/>
          <p:nvPr/>
        </p:nvSpPr>
        <p:spPr>
          <a:xfrm>
            <a:off x="5897880" y="1380744"/>
            <a:ext cx="2505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5C3D6E"/>
                </a:solidFill>
              </a:rPr>
              <a:t>No body — listing_id in URL path</a:t>
            </a:r>
            <a:endParaRPr lang="en-US" sz="650" dirty="0"/>
          </a:p>
        </p:txBody>
      </p:sp>
      <p:sp>
        <p:nvSpPr>
          <p:cNvPr id="68" name="Text 66"/>
          <p:cNvSpPr txBox="1"/>
          <p:nvPr/>
        </p:nvSpPr>
        <p:spPr>
          <a:xfrm>
            <a:off x="7059168" y="1499616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B8AAB"/>
                </a:solidFill>
              </a:rPr>
              <a:t>▼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5852160" y="1545336"/>
            <a:ext cx="2596896" cy="420624"/>
          </a:xfrm>
          <a:prstGeom prst="roundRect">
            <a:avLst>
              <a:gd name="adj" fmla="val 10870"/>
            </a:avLst>
          </a:prstGeom>
          <a:solidFill>
            <a:srgbClr val="F3E8FF"/>
          </a:solidFill>
          <a:ln w="12700">
            <a:solidFill>
              <a:srgbClr val="7026A8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5897880" y="1572768"/>
            <a:ext cx="2505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7026A8"/>
                </a:solidFill>
              </a:rPr>
              <a:t>ONTOLOGY</a:t>
            </a:r>
            <a:endParaRPr lang="en-US" sz="600" dirty="0"/>
          </a:p>
        </p:txBody>
      </p:sp>
      <p:sp>
        <p:nvSpPr>
          <p:cNvPr id="71" name="Text 69"/>
          <p:cNvSpPr txBox="1"/>
          <p:nvPr/>
        </p:nvSpPr>
        <p:spPr>
          <a:xfrm>
            <a:off x="5897880" y="1691640"/>
            <a:ext cx="2505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1C1034"/>
                </a:solidFill>
              </a:rPr>
              <a:t>ProductCategory enum + CATEGORY_TAXONOMY</a:t>
            </a:r>
            <a:endParaRPr lang="en-US" sz="750" dirty="0"/>
          </a:p>
        </p:txBody>
      </p:sp>
      <p:sp>
        <p:nvSpPr>
          <p:cNvPr id="72" name="Text 70"/>
          <p:cNvSpPr txBox="1"/>
          <p:nvPr/>
        </p:nvSpPr>
        <p:spPr>
          <a:xfrm>
            <a:off x="5897880" y="1847088"/>
            <a:ext cx="2505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5C3D6E"/>
                </a:solidFill>
              </a:rPr>
              <a:t>Constrains Gemini to valid categories — no hallucinations</a:t>
            </a:r>
            <a:endParaRPr lang="en-US" sz="650" dirty="0"/>
          </a:p>
        </p:txBody>
      </p:sp>
      <p:sp>
        <p:nvSpPr>
          <p:cNvPr id="73" name="Text 71"/>
          <p:cNvSpPr txBox="1"/>
          <p:nvPr/>
        </p:nvSpPr>
        <p:spPr>
          <a:xfrm>
            <a:off x="7059168" y="1965960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B8AAB"/>
                </a:solidFill>
              </a:rPr>
              <a:t>▼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5852160" y="2011680"/>
            <a:ext cx="2596896" cy="420624"/>
          </a:xfrm>
          <a:prstGeom prst="roundRect">
            <a:avLst>
              <a:gd name="adj" fmla="val 10870"/>
            </a:avLst>
          </a:prstGeom>
          <a:solidFill>
            <a:srgbClr val="F3E8FF"/>
          </a:solidFill>
          <a:ln w="12700">
            <a:solidFill>
              <a:srgbClr val="B85215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5897880" y="2039112"/>
            <a:ext cx="2505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B85215"/>
                </a:solidFill>
              </a:rPr>
              <a:t>GEMINI JSON MODE</a:t>
            </a:r>
            <a:endParaRPr lang="en-US" sz="600" dirty="0"/>
          </a:p>
        </p:txBody>
      </p:sp>
      <p:sp>
        <p:nvSpPr>
          <p:cNvPr id="76" name="Text 74"/>
          <p:cNvSpPr txBox="1"/>
          <p:nvPr/>
        </p:nvSpPr>
        <p:spPr>
          <a:xfrm>
            <a:off x="5897880" y="2157984"/>
            <a:ext cx="2505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1C1034"/>
                </a:solidFill>
              </a:rPr>
              <a:t>Returns category · subcategory · occasions · persona · semantic_attrs + confidence</a:t>
            </a:r>
            <a:endParaRPr lang="en-US" sz="750" dirty="0"/>
          </a:p>
        </p:txBody>
      </p:sp>
      <p:sp>
        <p:nvSpPr>
          <p:cNvPr id="77" name="Text 75"/>
          <p:cNvSpPr txBox="1"/>
          <p:nvPr/>
        </p:nvSpPr>
        <p:spPr>
          <a:xfrm>
            <a:off x="5897880" y="2313432"/>
            <a:ext cx="2505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5C3D6E"/>
                </a:solidFill>
              </a:rPr>
              <a:t>Each semantic_attr has confidence 0–1 + source field</a:t>
            </a:r>
            <a:endParaRPr lang="en-US" sz="650" dirty="0"/>
          </a:p>
        </p:txBody>
      </p:sp>
      <p:sp>
        <p:nvSpPr>
          <p:cNvPr id="78" name="Text 76"/>
          <p:cNvSpPr txBox="1"/>
          <p:nvPr/>
        </p:nvSpPr>
        <p:spPr>
          <a:xfrm>
            <a:off x="7059168" y="2432304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B8AAB"/>
                </a:solidFill>
              </a:rPr>
              <a:t>▼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5852160" y="2478024"/>
            <a:ext cx="2596896" cy="420624"/>
          </a:xfrm>
          <a:prstGeom prst="roundRect">
            <a:avLst>
              <a:gd name="adj" fmla="val 10870"/>
            </a:avLst>
          </a:prstGeom>
          <a:solidFill>
            <a:srgbClr val="F3E8FF"/>
          </a:solidFill>
          <a:ln w="12700">
            <a:solidFill>
              <a:srgbClr val="6B2FA0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5897880" y="2505456"/>
            <a:ext cx="2505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6B2FA0"/>
                </a:solidFill>
              </a:rPr>
              <a:t>UI</a:t>
            </a:r>
            <a:endParaRPr lang="en-US" sz="600" dirty="0"/>
          </a:p>
        </p:txBody>
      </p:sp>
      <p:sp>
        <p:nvSpPr>
          <p:cNvPr id="81" name="Text 79"/>
          <p:cNvSpPr txBox="1"/>
          <p:nvPr/>
        </p:nvSpPr>
        <p:spPr>
          <a:xfrm>
            <a:off x="5897880" y="2624328"/>
            <a:ext cx="2505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1C1034"/>
                </a:solidFill>
              </a:rPr>
              <a:t>Taxonomy view: pills + attr table</a:t>
            </a:r>
            <a:endParaRPr lang="en-US" sz="750" dirty="0"/>
          </a:p>
        </p:txBody>
      </p:sp>
      <p:sp>
        <p:nvSpPr>
          <p:cNvPr id="82" name="Text 80"/>
          <p:cNvSpPr txBox="1"/>
          <p:nvPr/>
        </p:nvSpPr>
        <p:spPr>
          <a:xfrm>
            <a:off x="5897880" y="2779776"/>
            <a:ext cx="2505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5C3D6E"/>
                </a:solidFill>
              </a:rPr>
              <a:t>Enables collection-building, personalisation, faceted search</a:t>
            </a:r>
            <a:endParaRPr lang="en-US" sz="650" dirty="0"/>
          </a:p>
        </p:txBody>
      </p:sp>
      <p:sp>
        <p:nvSpPr>
          <p:cNvPr id="83" name="Text 81"/>
          <p:cNvSpPr txBox="1"/>
          <p:nvPr/>
        </p:nvSpPr>
        <p:spPr>
          <a:xfrm>
            <a:off x="7059168" y="2898648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B8AAB"/>
                </a:solidFill>
              </a:rPr>
              <a:t>▼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5852160" y="2944368"/>
            <a:ext cx="2596896" cy="402336"/>
          </a:xfrm>
          <a:prstGeom prst="roundRect">
            <a:avLst>
              <a:gd name="adj" fmla="val 11364"/>
            </a:avLst>
          </a:prstGeom>
          <a:solidFill>
            <a:srgbClr val="E0F4F2"/>
          </a:solidFill>
          <a:ln w="12700">
            <a:solidFill>
              <a:srgbClr val="0A6E60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5897880" y="2990088"/>
            <a:ext cx="2505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0A6E60"/>
                </a:solidFill>
              </a:rPr>
              <a:t>OUTPUT: full B2C ontology map for collection curation</a:t>
            </a:r>
            <a:endParaRPr lang="en-US" sz="750" dirty="0"/>
          </a:p>
        </p:txBody>
      </p:sp>
      <p:sp>
        <p:nvSpPr>
          <p:cNvPr id="86" name="Text 84"/>
          <p:cNvSpPr txBox="1"/>
          <p:nvPr/>
        </p:nvSpPr>
        <p:spPr>
          <a:xfrm>
            <a:off x="5897880" y="3145536"/>
            <a:ext cx="2505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5C3D6E"/>
                </a:solidFill>
              </a:rPr>
              <a:t>Powers holiday guide, persona pages, occasion facets</a:t>
            </a:r>
            <a:endParaRPr lang="en-US" sz="650" dirty="0"/>
          </a:p>
        </p:txBody>
      </p:sp>
      <p:sp>
        <p:nvSpPr>
          <p:cNvPr id="87" name="Shape 85"/>
          <p:cNvSpPr/>
          <p:nvPr/>
        </p:nvSpPr>
        <p:spPr>
          <a:xfrm>
            <a:off x="5852160" y="3346704"/>
            <a:ext cx="2596896" cy="475488"/>
          </a:xfrm>
          <a:prstGeom prst="roundRect">
            <a:avLst>
              <a:gd name="adj" fmla="val 9615"/>
            </a:avLst>
          </a:prstGeom>
          <a:solidFill>
            <a:srgbClr val="1C1034"/>
          </a:solidFill>
          <a:ln w="12700">
            <a:solidFill>
              <a:srgbClr val="1C1034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5897880" y="3392424"/>
            <a:ext cx="2505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D0BEE8"/>
                </a:solidFill>
              </a:rPr>
              <a:t>VALUE ADD</a:t>
            </a:r>
            <a:endParaRPr lang="en-US" sz="700" dirty="0"/>
          </a:p>
        </p:txBody>
      </p:sp>
      <p:sp>
        <p:nvSpPr>
          <p:cNvPr id="89" name="Text 87"/>
          <p:cNvSpPr txBox="1"/>
          <p:nvPr/>
        </p:nvSpPr>
        <p:spPr>
          <a:xfrm>
            <a:off x="5897880" y="3547872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9B8AAB"/>
                </a:solidFill>
              </a:rPr>
              <a:t>Manual taxonomy projects take 6–12 weeks for large catalogs. AI classifies 500 products in minutes, enabling real-time collection pivots for seasonal campaigns</a:t>
            </a:r>
            <a:endParaRPr lang="en-US" sz="6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0FC"/>
          </a:solidFill>
          <a:ln w="12700">
            <a:solidFill>
              <a:srgbClr val="F7F0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603504"/>
            <a:ext cx="8595360" cy="4315968"/>
          </a:xfrm>
          <a:prstGeom prst="roundRect">
            <a:avLst>
              <a:gd name="adj" fmla="val 2119"/>
            </a:avLst>
          </a:prstGeom>
          <a:solidFill>
            <a:srgbClr val="FFFFFF"/>
          </a:solidFill>
          <a:ln w="12700">
            <a:solidFill>
              <a:srgbClr val="DECCF2"/>
            </a:solidFill>
            <a:prstDash val="solid"/>
          </a:ln>
          <a:effectLst>
            <a:outerShdw sx="100000" sy="100000" kx="0" ky="0" algn="bl" rotWithShape="0" blurRad="101600" dist="25400" dir="5400000">
              <a:srgbClr val="C0A0DC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1480" y="192024"/>
            <a:ext cx="64008" cy="64008"/>
          </a:xfrm>
          <a:prstGeom prst="ellipse">
            <a:avLst/>
          </a:prstGeom>
          <a:solidFill>
            <a:srgbClr val="C45FA0"/>
          </a:solidFill>
          <a:ln w="12700">
            <a:solidFill>
              <a:srgbClr val="C45F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28016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10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Flow — UC5 Bulk Enrich · UC6 Chat Agent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256032" y="749808"/>
            <a:ext cx="4169664" cy="274320"/>
          </a:xfrm>
          <a:prstGeom prst="roundRect">
            <a:avLst>
              <a:gd name="adj" fmla="val 16667"/>
            </a:avLst>
          </a:prstGeom>
          <a:solidFill>
            <a:srgbClr val="164E7A"/>
          </a:solidFill>
          <a:ln w="12700">
            <a:solidFill>
              <a:srgbClr val="164E7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6032" y="777240"/>
            <a:ext cx="4169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UC5 — Bulk Catalog Enrichment (1–500 SKUs)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92608" y="1078992"/>
            <a:ext cx="4096512" cy="475488"/>
          </a:xfrm>
          <a:prstGeom prst="roundRect">
            <a:avLst>
              <a:gd name="adj" fmla="val 9615"/>
            </a:avLst>
          </a:prstGeom>
          <a:solidFill>
            <a:srgbClr val="E0EEFF"/>
          </a:solidFill>
          <a:ln w="12700">
            <a:solidFill>
              <a:srgbClr val="164E7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8328" y="1106424"/>
            <a:ext cx="40050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164E7A"/>
                </a:solidFill>
              </a:rPr>
              <a:t>API / CHAT TRIGGER</a:t>
            </a:r>
            <a:endParaRPr lang="en-US" sz="600" dirty="0"/>
          </a:p>
        </p:txBody>
      </p:sp>
      <p:sp>
        <p:nvSpPr>
          <p:cNvPr id="10" name="Text 8"/>
          <p:cNvSpPr txBox="1"/>
          <p:nvPr/>
        </p:nvSpPr>
        <p:spPr>
          <a:xfrm>
            <a:off x="338328" y="1216152"/>
            <a:ext cx="4005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1C10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/merchandising/bulk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338328" y="1371600"/>
            <a:ext cx="4005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5C3D6E"/>
                </a:solidFill>
              </a:rPr>
              <a:t>{ query:"", limit:50 }  ·  BulkEnrichRequest: 1 ≤ limit ≤ 500</a:t>
            </a:r>
            <a:endParaRPr lang="en-US" sz="650" dirty="0"/>
          </a:p>
        </p:txBody>
      </p:sp>
      <p:sp>
        <p:nvSpPr>
          <p:cNvPr id="12" name="Text 10"/>
          <p:cNvSpPr txBox="1"/>
          <p:nvPr/>
        </p:nvSpPr>
        <p:spPr>
          <a:xfrm>
            <a:off x="2249424" y="1554480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B8AAB"/>
                </a:solidFill>
              </a:rPr>
              <a:t>▼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292608" y="1600200"/>
            <a:ext cx="4096512" cy="475488"/>
          </a:xfrm>
          <a:prstGeom prst="roundRect">
            <a:avLst>
              <a:gd name="adj" fmla="val 9615"/>
            </a:avLst>
          </a:prstGeom>
          <a:solidFill>
            <a:srgbClr val="E0EEFF"/>
          </a:solidFill>
          <a:ln w="12700">
            <a:solidFill>
              <a:srgbClr val="0A6E6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38328" y="1627632"/>
            <a:ext cx="40050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0A6E60"/>
                </a:solidFill>
              </a:rPr>
              <a:t>CANDIDATE RESOLUTION</a:t>
            </a:r>
            <a:endParaRPr lang="en-US" sz="600" dirty="0"/>
          </a:p>
        </p:txBody>
      </p:sp>
      <p:sp>
        <p:nvSpPr>
          <p:cNvPr id="15" name="Text 13"/>
          <p:cNvSpPr txBox="1"/>
          <p:nvPr/>
        </p:nvSpPr>
        <p:spPr>
          <a:xfrm>
            <a:off x="338328" y="1737360"/>
            <a:ext cx="4005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1C10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BBW_PRODUCTS[:limit]  →  _backend.search_listings()</a:t>
            </a:r>
            <a:endParaRPr lang="en-US" sz="750" dirty="0"/>
          </a:p>
        </p:txBody>
      </p:sp>
      <p:sp>
        <p:nvSpPr>
          <p:cNvPr id="16" name="Text 14"/>
          <p:cNvSpPr txBox="1"/>
          <p:nvPr/>
        </p:nvSpPr>
        <p:spPr>
          <a:xfrm>
            <a:off x="338328" y="1892808"/>
            <a:ext cx="4005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5C3D6E"/>
                </a:solidFill>
              </a:rPr>
              <a:t>BBW fixtures (no network) fill first; SFCC OCAPI search fills remainder up to limit</a:t>
            </a:r>
            <a:endParaRPr lang="en-US" sz="650" dirty="0"/>
          </a:p>
        </p:txBody>
      </p:sp>
      <p:sp>
        <p:nvSpPr>
          <p:cNvPr id="17" name="Text 15"/>
          <p:cNvSpPr txBox="1"/>
          <p:nvPr/>
        </p:nvSpPr>
        <p:spPr>
          <a:xfrm>
            <a:off x="2249424" y="2075688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B8AAB"/>
                </a:solidFill>
              </a:rPr>
              <a:t>▼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292608" y="2121408"/>
            <a:ext cx="4096512" cy="475488"/>
          </a:xfrm>
          <a:prstGeom prst="roundRect">
            <a:avLst>
              <a:gd name="adj" fmla="val 9615"/>
            </a:avLst>
          </a:prstGeom>
          <a:solidFill>
            <a:srgbClr val="E0EEFF"/>
          </a:solidFill>
          <a:ln w="12700">
            <a:solidFill>
              <a:srgbClr val="B8521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38328" y="2148840"/>
            <a:ext cx="40050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B85215"/>
                </a:solidFill>
              </a:rPr>
              <a:t>CONCURRENCY BATCH LOOP</a:t>
            </a:r>
            <a:endParaRPr lang="en-US" sz="600" dirty="0"/>
          </a:p>
        </p:txBody>
      </p:sp>
      <p:sp>
        <p:nvSpPr>
          <p:cNvPr id="20" name="Text 18"/>
          <p:cNvSpPr txBox="1"/>
          <p:nvPr/>
        </p:nvSpPr>
        <p:spPr>
          <a:xfrm>
            <a:off x="338328" y="2258568"/>
            <a:ext cx="4005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1C10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batch in chunks(pids,10):</a:t>
            </a:r>
            <a:endParaRPr lang="en-US" sz="7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1C10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asyncio.gather(*[enrich(p) for p in batch])</a:t>
            </a:r>
            <a:endParaRPr lang="en-US" sz="750" dirty="0"/>
          </a:p>
        </p:txBody>
      </p:sp>
      <p:sp>
        <p:nvSpPr>
          <p:cNvPr id="21" name="Text 19"/>
          <p:cNvSpPr txBox="1"/>
          <p:nvPr/>
        </p:nvSpPr>
        <p:spPr>
          <a:xfrm>
            <a:off x="338328" y="2414016"/>
            <a:ext cx="4005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5C3D6E"/>
                </a:solidFill>
              </a:rPr>
              <a:t>10 concurrent Gemini calls per batch · failed→None counted, never fatal · full enrich_product() called per SKU</a:t>
            </a:r>
            <a:endParaRPr lang="en-US" sz="650" dirty="0"/>
          </a:p>
        </p:txBody>
      </p:sp>
      <p:sp>
        <p:nvSpPr>
          <p:cNvPr id="22" name="Text 20"/>
          <p:cNvSpPr txBox="1"/>
          <p:nvPr/>
        </p:nvSpPr>
        <p:spPr>
          <a:xfrm>
            <a:off x="2249424" y="2596896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B8AAB"/>
                </a:solidFill>
              </a:rPr>
              <a:t>▼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292608" y="2642616"/>
            <a:ext cx="4096512" cy="475488"/>
          </a:xfrm>
          <a:prstGeom prst="roundRect">
            <a:avLst>
              <a:gd name="adj" fmla="val 9615"/>
            </a:avLst>
          </a:prstGeom>
          <a:solidFill>
            <a:srgbClr val="E0EEFF"/>
          </a:solidFill>
          <a:ln w="12700">
            <a:solidFill>
              <a:srgbClr val="164E7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38328" y="2670048"/>
            <a:ext cx="40050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164E7A"/>
                </a:solidFill>
              </a:rPr>
              <a:t>RESPONSE</a:t>
            </a:r>
            <a:endParaRPr lang="en-US" sz="600" dirty="0"/>
          </a:p>
        </p:txBody>
      </p:sp>
      <p:sp>
        <p:nvSpPr>
          <p:cNvPr id="25" name="Text 23"/>
          <p:cNvSpPr txBox="1"/>
          <p:nvPr/>
        </p:nvSpPr>
        <p:spPr>
          <a:xfrm>
            <a:off x="338328" y="2779776"/>
            <a:ext cx="4005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1C10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results:[...], total:int, failed:int }</a:t>
            </a:r>
            <a:endParaRPr lang="en-US" sz="750" dirty="0"/>
          </a:p>
        </p:txBody>
      </p:sp>
      <p:sp>
        <p:nvSpPr>
          <p:cNvPr id="26" name="Text 24"/>
          <p:cNvSpPr txBox="1"/>
          <p:nvPr/>
        </p:nvSpPr>
        <p:spPr>
          <a:xfrm>
            <a:off x="338328" y="2935224"/>
            <a:ext cx="4005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5C3D6E"/>
                </a:solidFill>
              </a:rPr>
              <a:t>Caller can iterate and POST /apply for each result to write to SFCC</a:t>
            </a:r>
            <a:endParaRPr lang="en-US" sz="650" dirty="0"/>
          </a:p>
        </p:txBody>
      </p:sp>
      <p:sp>
        <p:nvSpPr>
          <p:cNvPr id="27" name="Text 25"/>
          <p:cNvSpPr txBox="1"/>
          <p:nvPr/>
        </p:nvSpPr>
        <p:spPr>
          <a:xfrm>
            <a:off x="2249424" y="3118104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B8AAB"/>
                </a:solidFill>
              </a:rPr>
              <a:t>▼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292608" y="3163824"/>
            <a:ext cx="4096512" cy="402336"/>
          </a:xfrm>
          <a:prstGeom prst="roundRect">
            <a:avLst>
              <a:gd name="adj" fmla="val 11364"/>
            </a:avLst>
          </a:prstGeom>
          <a:solidFill>
            <a:srgbClr val="E0F4F2"/>
          </a:solidFill>
          <a:ln w="12700">
            <a:solidFill>
              <a:srgbClr val="0A6E6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38328" y="3209544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0A6E60"/>
                </a:solidFill>
              </a:rPr>
              <a:t>OUTPUT: full catalog enriched · ~10× faster than sequential · failed SKUs counted not fatal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92608" y="3566160"/>
            <a:ext cx="4096512" cy="475488"/>
          </a:xfrm>
          <a:prstGeom prst="roundRect">
            <a:avLst>
              <a:gd name="adj" fmla="val 9615"/>
            </a:avLst>
          </a:prstGeom>
          <a:solidFill>
            <a:srgbClr val="1C1034"/>
          </a:solidFill>
          <a:ln w="12700">
            <a:solidFill>
              <a:srgbClr val="1C103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38328" y="3611880"/>
            <a:ext cx="4005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D0BEE8"/>
                </a:solidFill>
              </a:rPr>
              <a:t>VALUE ADD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626864" y="749808"/>
            <a:ext cx="4169664" cy="274320"/>
          </a:xfrm>
          <a:prstGeom prst="roundRect">
            <a:avLst>
              <a:gd name="adj" fmla="val 16667"/>
            </a:avLst>
          </a:prstGeom>
          <a:solidFill>
            <a:srgbClr val="0A6E60"/>
          </a:solidFill>
          <a:ln w="12700">
            <a:solidFill>
              <a:srgbClr val="0A6E6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626864" y="777240"/>
            <a:ext cx="4169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UC6 — Chat Agent (Google ADK)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663440" y="1078992"/>
            <a:ext cx="4096512" cy="475488"/>
          </a:xfrm>
          <a:prstGeom prst="roundRect">
            <a:avLst>
              <a:gd name="adj" fmla="val 9615"/>
            </a:avLst>
          </a:prstGeom>
          <a:solidFill>
            <a:srgbClr val="E0EEFF"/>
          </a:solidFill>
          <a:ln w="12700">
            <a:solidFill>
              <a:srgbClr val="0A6E6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709160" y="1106424"/>
            <a:ext cx="40050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0A6E60"/>
                </a:solidFill>
              </a:rPr>
              <a:t>MERCHANT → POST /chat SSE</a:t>
            </a:r>
            <a:endParaRPr lang="en-US" sz="600" dirty="0"/>
          </a:p>
        </p:txBody>
      </p:sp>
      <p:sp>
        <p:nvSpPr>
          <p:cNvPr id="36" name="Text 34"/>
          <p:cNvSpPr txBox="1"/>
          <p:nvPr/>
        </p:nvSpPr>
        <p:spPr>
          <a:xfrm>
            <a:off x="4709160" y="1216152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1C1034"/>
                </a:solidFill>
              </a:rPr>
              <a:t>"Enrich the Mahogany Candle for UK buyers"</a:t>
            </a:r>
            <a:endParaRPr lang="en-US" sz="750" dirty="0"/>
          </a:p>
        </p:txBody>
      </p:sp>
      <p:sp>
        <p:nvSpPr>
          <p:cNvPr id="37" name="Text 35"/>
          <p:cNvSpPr txBox="1"/>
          <p:nvPr/>
        </p:nvSpPr>
        <p:spPr>
          <a:xfrm>
            <a:off x="6620256" y="1554480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B8AAB"/>
                </a:solidFill>
              </a:rPr>
              <a:t>▼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4663440" y="1600200"/>
            <a:ext cx="4096512" cy="475488"/>
          </a:xfrm>
          <a:prstGeom prst="roundRect">
            <a:avLst>
              <a:gd name="adj" fmla="val 9615"/>
            </a:avLst>
          </a:prstGeom>
          <a:solidFill>
            <a:srgbClr val="E0EEFF"/>
          </a:solidFill>
          <a:ln w="12700">
            <a:solidFill>
              <a:srgbClr val="B85215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709160" y="1627632"/>
            <a:ext cx="40050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B85215"/>
                </a:solidFill>
              </a:rPr>
              <a:t>GeminiMerchantAgent (ADK)</a:t>
            </a:r>
            <a:endParaRPr lang="en-US" sz="600" dirty="0"/>
          </a:p>
        </p:txBody>
      </p:sp>
      <p:sp>
        <p:nvSpPr>
          <p:cNvPr id="40" name="Text 38"/>
          <p:cNvSpPr txBox="1"/>
          <p:nvPr/>
        </p:nvSpPr>
        <p:spPr>
          <a:xfrm>
            <a:off x="4709160" y="1737360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1C1034"/>
                </a:solidFill>
              </a:rPr>
              <a:t>agent.stream_turn(session_id, message)</a:t>
            </a:r>
            <a:endParaRPr lang="en-US" sz="750" dirty="0"/>
          </a:p>
        </p:txBody>
      </p:sp>
      <p:sp>
        <p:nvSpPr>
          <p:cNvPr id="41" name="Text 39"/>
          <p:cNvSpPr txBox="1"/>
          <p:nvPr/>
        </p:nvSpPr>
        <p:spPr>
          <a:xfrm>
            <a:off x="6620256" y="2075688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B8AAB"/>
                </a:solidFill>
              </a:rPr>
              <a:t>▼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4663440" y="2121408"/>
            <a:ext cx="4096512" cy="475488"/>
          </a:xfrm>
          <a:prstGeom prst="roundRect">
            <a:avLst>
              <a:gd name="adj" fmla="val 9615"/>
            </a:avLst>
          </a:prstGeom>
          <a:solidFill>
            <a:srgbClr val="E0EEFF"/>
          </a:solidFill>
          <a:ln w="12700">
            <a:solidFill>
              <a:srgbClr val="B85215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709160" y="2148840"/>
            <a:ext cx="40050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B85215"/>
                </a:solidFill>
              </a:rPr>
              <a:t>TOOL SELECTION</a:t>
            </a:r>
            <a:endParaRPr lang="en-US" sz="600" dirty="0"/>
          </a:p>
        </p:txBody>
      </p:sp>
      <p:sp>
        <p:nvSpPr>
          <p:cNvPr id="44" name="Text 42"/>
          <p:cNvSpPr txBox="1"/>
          <p:nvPr/>
        </p:nvSpPr>
        <p:spPr>
          <a:xfrm>
            <a:off x="4709160" y="2258568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1C1034"/>
                </a:solidFill>
              </a:rPr>
              <a:t>ADK matches intent → picks tool</a:t>
            </a:r>
            <a:endParaRPr lang="en-US" sz="7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1C1034"/>
                </a:solidFill>
              </a:rPr>
              <a:t>enrich · geo · seo · classify · bulk_enrich</a:t>
            </a:r>
            <a:endParaRPr lang="en-US" sz="750" dirty="0"/>
          </a:p>
        </p:txBody>
      </p:sp>
      <p:sp>
        <p:nvSpPr>
          <p:cNvPr id="45" name="Text 43"/>
          <p:cNvSpPr txBox="1"/>
          <p:nvPr/>
        </p:nvSpPr>
        <p:spPr>
          <a:xfrm>
            <a:off x="6620256" y="2596896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B8AAB"/>
                </a:solidFill>
              </a:rPr>
              <a:t>▼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4663440" y="2642616"/>
            <a:ext cx="4096512" cy="475488"/>
          </a:xfrm>
          <a:prstGeom prst="roundRect">
            <a:avLst>
              <a:gd name="adj" fmla="val 9615"/>
            </a:avLst>
          </a:prstGeom>
          <a:solidFill>
            <a:srgbClr val="E0EEFF"/>
          </a:solidFill>
          <a:ln w="12700">
            <a:solidFill>
              <a:srgbClr val="0A6E60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4709160" y="2670048"/>
            <a:ext cx="40050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0A6E60"/>
                </a:solidFill>
              </a:rPr>
              <a:t>STREAMING OUTPUT</a:t>
            </a:r>
            <a:endParaRPr lang="en-US" sz="600" dirty="0"/>
          </a:p>
        </p:txBody>
      </p:sp>
      <p:sp>
        <p:nvSpPr>
          <p:cNvPr id="48" name="Text 46"/>
          <p:cNvSpPr txBox="1"/>
          <p:nvPr/>
        </p:nvSpPr>
        <p:spPr>
          <a:xfrm>
            <a:off x="4709160" y="2779776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1C1034"/>
                </a:solidFill>
              </a:rPr>
              <a:t>SSE chunks → UI renders progressively</a:t>
            </a:r>
            <a:endParaRPr lang="en-US" sz="750" dirty="0"/>
          </a:p>
        </p:txBody>
      </p:sp>
      <p:sp>
        <p:nvSpPr>
          <p:cNvPr id="49" name="Text 47"/>
          <p:cNvSpPr txBox="1"/>
          <p:nvPr/>
        </p:nvSpPr>
        <p:spPr>
          <a:xfrm>
            <a:off x="6620256" y="3118104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B8AAB"/>
                </a:solidFill>
              </a:rPr>
              <a:t>▼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4663440" y="3163824"/>
            <a:ext cx="4096512" cy="402336"/>
          </a:xfrm>
          <a:prstGeom prst="roundRect">
            <a:avLst>
              <a:gd name="adj" fmla="val 11364"/>
            </a:avLst>
          </a:prstGeom>
          <a:solidFill>
            <a:srgbClr val="E0F4F2"/>
          </a:solidFill>
          <a:ln w="12700">
            <a:solidFill>
              <a:srgbClr val="0A6E60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4709160" y="3209544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0A6E60"/>
                </a:solidFill>
              </a:rPr>
              <a:t>OUTPUT: all 5 use cases via natural language · one conversation can chain multiple tools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4663440" y="3566160"/>
            <a:ext cx="4096512" cy="475488"/>
          </a:xfrm>
          <a:prstGeom prst="roundRect">
            <a:avLst>
              <a:gd name="adj" fmla="val 9615"/>
            </a:avLst>
          </a:prstGeom>
          <a:solidFill>
            <a:srgbClr val="1C1034"/>
          </a:solidFill>
          <a:ln w="12700">
            <a:solidFill>
              <a:srgbClr val="1C1034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4709160" y="3611880"/>
            <a:ext cx="4005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D0BEE8"/>
                </a:solidFill>
              </a:rPr>
              <a:t>VALUE ADD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0FC"/>
          </a:solidFill>
          <a:ln w="12700">
            <a:solidFill>
              <a:srgbClr val="F7F0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603504"/>
            <a:ext cx="8595360" cy="4315968"/>
          </a:xfrm>
          <a:prstGeom prst="roundRect">
            <a:avLst>
              <a:gd name="adj" fmla="val 2119"/>
            </a:avLst>
          </a:prstGeom>
          <a:solidFill>
            <a:srgbClr val="FFFFFF"/>
          </a:solidFill>
          <a:ln w="12700">
            <a:solidFill>
              <a:srgbClr val="DECCF2"/>
            </a:solidFill>
            <a:prstDash val="solid"/>
          </a:ln>
          <a:effectLst>
            <a:outerShdw sx="100000" sy="100000" kx="0" ky="0" algn="bl" rotWithShape="0" blurRad="101600" dist="25400" dir="5400000">
              <a:srgbClr val="C0A0DC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1480" y="192024"/>
            <a:ext cx="64008" cy="64008"/>
          </a:xfrm>
          <a:prstGeom prst="ellipse">
            <a:avLst/>
          </a:prstGeom>
          <a:solidFill>
            <a:srgbClr val="C45FA0"/>
          </a:solidFill>
          <a:ln w="12700">
            <a:solidFill>
              <a:srgbClr val="C45F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28016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10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SDK vs Google ADK — Architecture Comparison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384048" y="749808"/>
            <a:ext cx="2395728" cy="237744"/>
          </a:xfrm>
          <a:prstGeom prst="roundRect">
            <a:avLst>
              <a:gd name="adj" fmla="val 19231"/>
            </a:avLst>
          </a:prstGeom>
          <a:solidFill>
            <a:srgbClr val="1C1034"/>
          </a:solidFill>
          <a:ln w="12700">
            <a:solidFill>
              <a:srgbClr val="1C103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75488" y="786384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0BEE8"/>
                </a:solidFill>
              </a:rPr>
              <a:t>Dimension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871216" y="749808"/>
            <a:ext cx="2816352" cy="237744"/>
          </a:xfrm>
          <a:prstGeom prst="roundRect">
            <a:avLst>
              <a:gd name="adj" fmla="val 19231"/>
            </a:avLst>
          </a:prstGeom>
          <a:solidFill>
            <a:srgbClr val="7026A8"/>
          </a:solidFill>
          <a:ln w="12700">
            <a:solidFill>
              <a:srgbClr val="7026A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62656" y="786384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Claude SDK  (Anthropic)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760720" y="749808"/>
            <a:ext cx="2761488" cy="237744"/>
          </a:xfrm>
          <a:prstGeom prst="roundRect">
            <a:avLst>
              <a:gd name="adj" fmla="val 19231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52160" y="786384"/>
            <a:ext cx="2578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Google ADK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84048" y="1024128"/>
            <a:ext cx="8138160" cy="402336"/>
          </a:xfrm>
          <a:prstGeom prst="rect">
            <a:avLst/>
          </a:prstGeom>
          <a:solidFill>
            <a:srgbClr val="F9F6FE"/>
          </a:solidFill>
          <a:ln w="12700">
            <a:solidFill>
              <a:srgbClr val="E8E0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5488" y="1069848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1C1034"/>
                </a:solidFill>
              </a:rPr>
              <a:t>Tool Definition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2944368" y="1069848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5C3D6E"/>
                </a:solidFill>
              </a:rPr>
              <a:t>MCP server + explicit @mcp.tool() schema declarations; tools called over HTTP/stdio</a:t>
            </a:r>
            <a:endParaRPr lang="en-US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5833872" y="1069848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5C3D6E"/>
                </a:solidFill>
              </a:rPr>
              <a:t>Plain Python async callables; ADK auto-infers schema from type hints + docstrings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852928" y="1024128"/>
            <a:ext cx="18288" cy="402336"/>
          </a:xfrm>
          <a:prstGeom prst="rect">
            <a:avLst/>
          </a:prstGeom>
          <a:solidFill>
            <a:srgbClr val="D8C8F0"/>
          </a:solidFill>
          <a:ln w="12700">
            <a:solidFill>
              <a:srgbClr val="D8C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42432" y="1024128"/>
            <a:ext cx="18288" cy="402336"/>
          </a:xfrm>
          <a:prstGeom prst="rect">
            <a:avLst/>
          </a:prstGeom>
          <a:solidFill>
            <a:srgbClr val="D8C8F0"/>
          </a:solidFill>
          <a:ln w="12700">
            <a:solidFill>
              <a:srgbClr val="D8C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048" y="1463040"/>
            <a:ext cx="8138160" cy="402336"/>
          </a:xfrm>
          <a:prstGeom prst="rect">
            <a:avLst/>
          </a:prstGeom>
          <a:solidFill>
            <a:srgbClr val="FDFBFF"/>
          </a:solidFill>
          <a:ln w="12700">
            <a:solidFill>
              <a:srgbClr val="E8E0F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75488" y="1508760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1C1034"/>
                </a:solidFill>
              </a:rPr>
              <a:t>Agentic Loop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2944368" y="1508760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5C3D6E"/>
                </a:solidFill>
              </a:rPr>
              <a:t>Explicit collect_turn() in executor.py; close_on_presentation_hook ends the turn</a:t>
            </a:r>
            <a:endParaRPr lang="en-US" sz="750" dirty="0"/>
          </a:p>
        </p:txBody>
      </p:sp>
      <p:sp>
        <p:nvSpPr>
          <p:cNvPr id="21" name="Text 19"/>
          <p:cNvSpPr txBox="1"/>
          <p:nvPr/>
        </p:nvSpPr>
        <p:spPr>
          <a:xfrm>
            <a:off x="5833872" y="1508760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5C3D6E"/>
                </a:solidFill>
              </a:rPr>
              <a:t>runner.run_async() handles loop internally; events emitted as AsyncIterator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852928" y="1463040"/>
            <a:ext cx="18288" cy="402336"/>
          </a:xfrm>
          <a:prstGeom prst="rect">
            <a:avLst/>
          </a:prstGeom>
          <a:solidFill>
            <a:srgbClr val="D8C8F0"/>
          </a:solidFill>
          <a:ln w="12700">
            <a:solidFill>
              <a:srgbClr val="D8C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742432" y="1463040"/>
            <a:ext cx="18288" cy="402336"/>
          </a:xfrm>
          <a:prstGeom prst="rect">
            <a:avLst/>
          </a:prstGeom>
          <a:solidFill>
            <a:srgbClr val="D8C8F0"/>
          </a:solidFill>
          <a:ln w="12700">
            <a:solidFill>
              <a:srgbClr val="D8C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048" y="1901952"/>
            <a:ext cx="8138160" cy="402336"/>
          </a:xfrm>
          <a:prstGeom prst="rect">
            <a:avLst/>
          </a:prstGeom>
          <a:solidFill>
            <a:srgbClr val="F9F6FE"/>
          </a:solidFill>
          <a:ln w="12700">
            <a:solidFill>
              <a:srgbClr val="E8E0F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5488" y="1947672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1C1034"/>
                </a:solidFill>
              </a:rPr>
              <a:t>Session Context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2944368" y="1947672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5C3D6E"/>
                </a:solidFill>
              </a:rPr>
              <a:t>MerchantSessionContext Pydantic model passed per tool call; host controls session lifetime</a:t>
            </a:r>
            <a:endParaRPr lang="en-US" sz="750" dirty="0"/>
          </a:p>
        </p:txBody>
      </p:sp>
      <p:sp>
        <p:nvSpPr>
          <p:cNvPr id="27" name="Text 25"/>
          <p:cNvSpPr txBox="1"/>
          <p:nvPr/>
        </p:nvSpPr>
        <p:spPr>
          <a:xfrm>
            <a:off x="5833872" y="1947672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5C3D6E"/>
                </a:solidFill>
              </a:rPr>
              <a:t>InMemorySessionService built into ADK; Runner tracks conversation history automatically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852928" y="1901952"/>
            <a:ext cx="18288" cy="402336"/>
          </a:xfrm>
          <a:prstGeom prst="rect">
            <a:avLst/>
          </a:prstGeom>
          <a:solidFill>
            <a:srgbClr val="D8C8F0"/>
          </a:solidFill>
          <a:ln w="12700">
            <a:solidFill>
              <a:srgbClr val="D8C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742432" y="1901952"/>
            <a:ext cx="18288" cy="402336"/>
          </a:xfrm>
          <a:prstGeom prst="rect">
            <a:avLst/>
          </a:prstGeom>
          <a:solidFill>
            <a:srgbClr val="D8C8F0"/>
          </a:solidFill>
          <a:ln w="12700">
            <a:solidFill>
              <a:srgbClr val="D8C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4048" y="2340864"/>
            <a:ext cx="8138160" cy="402336"/>
          </a:xfrm>
          <a:prstGeom prst="rect">
            <a:avLst/>
          </a:prstGeom>
          <a:solidFill>
            <a:srgbClr val="FDFBFF"/>
          </a:solidFill>
          <a:ln w="12700">
            <a:solidFill>
              <a:srgbClr val="E8E0F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75488" y="2386584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1C1034"/>
                </a:solidFill>
              </a:rPr>
              <a:t>Skills / Knowledge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2944368" y="2386584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5C3D6E"/>
                </a:solidFill>
              </a:rPr>
              <a:t>SkillRegistry + SKILL.md files; read built-in tool loads the right skill at runtime per request</a:t>
            </a:r>
            <a:endParaRPr lang="en-US" sz="750" dirty="0"/>
          </a:p>
        </p:txBody>
      </p:sp>
      <p:sp>
        <p:nvSpPr>
          <p:cNvPr id="33" name="Text 31"/>
          <p:cNvSpPr txBox="1"/>
          <p:nvPr/>
        </p:nvSpPr>
        <p:spPr>
          <a:xfrm>
            <a:off x="5833872" y="2386584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5C3D6E"/>
                </a:solidFill>
              </a:rPr>
              <a:t>No skills system; all knowledge goes in the instruction= string passed to Agent()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852928" y="2340864"/>
            <a:ext cx="18288" cy="402336"/>
          </a:xfrm>
          <a:prstGeom prst="rect">
            <a:avLst/>
          </a:prstGeom>
          <a:solidFill>
            <a:srgbClr val="D8C8F0"/>
          </a:solidFill>
          <a:ln w="12700">
            <a:solidFill>
              <a:srgbClr val="D8C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742432" y="2340864"/>
            <a:ext cx="18288" cy="402336"/>
          </a:xfrm>
          <a:prstGeom prst="rect">
            <a:avLst/>
          </a:prstGeom>
          <a:solidFill>
            <a:srgbClr val="D8C8F0"/>
          </a:solidFill>
          <a:ln w="12700">
            <a:solidFill>
              <a:srgbClr val="D8C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4048" y="2779776"/>
            <a:ext cx="8138160" cy="402336"/>
          </a:xfrm>
          <a:prstGeom prst="rect">
            <a:avLst/>
          </a:prstGeom>
          <a:solidFill>
            <a:srgbClr val="F9F6FE"/>
          </a:solidFill>
          <a:ln w="12700">
            <a:solidFill>
              <a:srgbClr val="E8E0F4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75488" y="2825496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1C1034"/>
                </a:solidFill>
              </a:rPr>
              <a:t>Subagent Support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2944368" y="2825496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5C3D6E"/>
                </a:solidFill>
              </a:rPr>
              <a:t>AgentDefinition for delegate (run-analysis); restricted to read-only tools only</a:t>
            </a:r>
            <a:endParaRPr lang="en-US" sz="750" dirty="0"/>
          </a:p>
        </p:txBody>
      </p:sp>
      <p:sp>
        <p:nvSpPr>
          <p:cNvPr id="39" name="Text 37"/>
          <p:cNvSpPr txBox="1"/>
          <p:nvPr/>
        </p:nvSpPr>
        <p:spPr>
          <a:xfrm>
            <a:off x="5833872" y="2825496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5C3D6E"/>
                </a:solidFill>
              </a:rPr>
              <a:t>No subagent support; single agent handles all tasks within one context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2852928" y="2779776"/>
            <a:ext cx="18288" cy="402336"/>
          </a:xfrm>
          <a:prstGeom prst="rect">
            <a:avLst/>
          </a:prstGeom>
          <a:solidFill>
            <a:srgbClr val="D8C8F0"/>
          </a:solidFill>
          <a:ln w="12700">
            <a:solidFill>
              <a:srgbClr val="D8C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742432" y="2779776"/>
            <a:ext cx="18288" cy="402336"/>
          </a:xfrm>
          <a:prstGeom prst="rect">
            <a:avLst/>
          </a:prstGeom>
          <a:solidFill>
            <a:srgbClr val="D8C8F0"/>
          </a:solidFill>
          <a:ln w="12700">
            <a:solidFill>
              <a:srgbClr val="D8C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84048" y="3218688"/>
            <a:ext cx="8138160" cy="402336"/>
          </a:xfrm>
          <a:prstGeom prst="rect">
            <a:avLst/>
          </a:prstGeom>
          <a:solidFill>
            <a:srgbClr val="FDFBFF"/>
          </a:solidFill>
          <a:ln w="12700">
            <a:solidFill>
              <a:srgbClr val="E8E0F4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75488" y="3264408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1C1034"/>
                </a:solidFill>
              </a:rPr>
              <a:t>Permission Controls</a:t>
            </a:r>
            <a:endParaRPr lang="en-US" sz="850" dirty="0"/>
          </a:p>
        </p:txBody>
      </p:sp>
      <p:sp>
        <p:nvSpPr>
          <p:cNvPr id="44" name="Text 42"/>
          <p:cNvSpPr txBox="1"/>
          <p:nvPr/>
        </p:nvSpPr>
        <p:spPr>
          <a:xfrm>
            <a:off x="2944368" y="3264408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5C3D6E"/>
                </a:solidFill>
              </a:rPr>
              <a:t>Per-tool always_allow / always_ask in agent.yaml; apply_change enforced as always_ask</a:t>
            </a:r>
            <a:endParaRPr lang="en-US" sz="750" dirty="0"/>
          </a:p>
        </p:txBody>
      </p:sp>
      <p:sp>
        <p:nvSpPr>
          <p:cNvPr id="45" name="Text 43"/>
          <p:cNvSpPr txBox="1"/>
          <p:nvPr/>
        </p:nvSpPr>
        <p:spPr>
          <a:xfrm>
            <a:off x="5833872" y="3264408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5C3D6E"/>
                </a:solidFill>
              </a:rPr>
              <a:t>No permission layer; all tools run unconditionally within the FastAPI process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852928" y="3218688"/>
            <a:ext cx="18288" cy="402336"/>
          </a:xfrm>
          <a:prstGeom prst="rect">
            <a:avLst/>
          </a:prstGeom>
          <a:solidFill>
            <a:srgbClr val="D8C8F0"/>
          </a:solidFill>
          <a:ln w="12700">
            <a:solidFill>
              <a:srgbClr val="D8C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742432" y="3218688"/>
            <a:ext cx="18288" cy="402336"/>
          </a:xfrm>
          <a:prstGeom prst="rect">
            <a:avLst/>
          </a:prstGeom>
          <a:solidFill>
            <a:srgbClr val="D8C8F0"/>
          </a:solidFill>
          <a:ln w="12700">
            <a:solidFill>
              <a:srgbClr val="D8C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84048" y="3657600"/>
            <a:ext cx="8138160" cy="402336"/>
          </a:xfrm>
          <a:prstGeom prst="rect">
            <a:avLst/>
          </a:prstGeom>
          <a:solidFill>
            <a:srgbClr val="F9F6FE"/>
          </a:solidFill>
          <a:ln w="12700">
            <a:solidFill>
              <a:srgbClr val="E8E0F4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75488" y="3703320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1C1034"/>
                </a:solidFill>
              </a:rPr>
              <a:t>UI / Presentation</a:t>
            </a:r>
            <a:endParaRPr lang="en-US" sz="850" dirty="0"/>
          </a:p>
        </p:txBody>
      </p:sp>
      <p:sp>
        <p:nvSpPr>
          <p:cNvPr id="50" name="Text 48"/>
          <p:cNvSpPr txBox="1"/>
          <p:nvPr/>
        </p:nvSpPr>
        <p:spPr>
          <a:xfrm>
            <a:off x="2944368" y="3703320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5C3D6E"/>
                </a:solidFill>
              </a:rPr>
              <a:t>Custom presentation tools (present_metrics, present_digest); portal executes + renders them</a:t>
            </a:r>
            <a:endParaRPr lang="en-US" sz="750" dirty="0"/>
          </a:p>
        </p:txBody>
      </p:sp>
      <p:sp>
        <p:nvSpPr>
          <p:cNvPr id="51" name="Text 49"/>
          <p:cNvSpPr txBox="1"/>
          <p:nvPr/>
        </p:nvSpPr>
        <p:spPr>
          <a:xfrm>
            <a:off x="5833872" y="3703320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5C3D6E"/>
                </a:solidFill>
              </a:rPr>
              <a:t>SSE text stream direct to Next.js frontend; no presentation tool abstraction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2852928" y="3657600"/>
            <a:ext cx="18288" cy="402336"/>
          </a:xfrm>
          <a:prstGeom prst="rect">
            <a:avLst/>
          </a:prstGeom>
          <a:solidFill>
            <a:srgbClr val="D8C8F0"/>
          </a:solidFill>
          <a:ln w="12700">
            <a:solidFill>
              <a:srgbClr val="D8C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742432" y="3657600"/>
            <a:ext cx="18288" cy="402336"/>
          </a:xfrm>
          <a:prstGeom prst="rect">
            <a:avLst/>
          </a:prstGeom>
          <a:solidFill>
            <a:srgbClr val="D8C8F0"/>
          </a:solidFill>
          <a:ln w="12700">
            <a:solidFill>
              <a:srgbClr val="D8C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84048" y="4096512"/>
            <a:ext cx="8138160" cy="402336"/>
          </a:xfrm>
          <a:prstGeom prst="rect">
            <a:avLst/>
          </a:prstGeom>
          <a:solidFill>
            <a:srgbClr val="FDFBFF"/>
          </a:solidFill>
          <a:ln w="12700">
            <a:solidFill>
              <a:srgbClr val="E8E0F4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475488" y="4142232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1C1034"/>
                </a:solidFill>
              </a:rPr>
              <a:t>Deployment Paths</a:t>
            </a:r>
            <a:endParaRPr lang="en-US" sz="850" dirty="0"/>
          </a:p>
        </p:txBody>
      </p:sp>
      <p:sp>
        <p:nvSpPr>
          <p:cNvPr id="56" name="Text 54"/>
          <p:cNvSpPr txBox="1"/>
          <p:nvPr/>
        </p:nvSpPr>
        <p:spPr>
          <a:xfrm>
            <a:off x="2944368" y="4142232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5C3D6E"/>
                </a:solidFill>
              </a:rPr>
              <a:t>3 paths: Agent SDK · Messages API · Managed Agents — one domain core serves all three</a:t>
            </a:r>
            <a:endParaRPr lang="en-US" sz="750" dirty="0"/>
          </a:p>
        </p:txBody>
      </p:sp>
      <p:sp>
        <p:nvSpPr>
          <p:cNvPr id="57" name="Text 55"/>
          <p:cNvSpPr txBox="1"/>
          <p:nvPr/>
        </p:nvSpPr>
        <p:spPr>
          <a:xfrm>
            <a:off x="5833872" y="4142232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5C3D6E"/>
                </a:solidFill>
              </a:rPr>
              <a:t>Single FastAPI app on Railway; one deployment model only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2852928" y="4096512"/>
            <a:ext cx="18288" cy="402336"/>
          </a:xfrm>
          <a:prstGeom prst="rect">
            <a:avLst/>
          </a:prstGeom>
          <a:solidFill>
            <a:srgbClr val="D8C8F0"/>
          </a:solidFill>
          <a:ln w="12700">
            <a:solidFill>
              <a:srgbClr val="D8C8F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742432" y="4096512"/>
            <a:ext cx="18288" cy="402336"/>
          </a:xfrm>
          <a:prstGeom prst="rect">
            <a:avLst/>
          </a:prstGeom>
          <a:solidFill>
            <a:srgbClr val="D8C8F0"/>
          </a:solidFill>
          <a:ln w="12700">
            <a:solidFill>
              <a:srgbClr val="D8C8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84048" y="4553712"/>
            <a:ext cx="8138160" cy="292608"/>
          </a:xfrm>
          <a:prstGeom prst="roundRect">
            <a:avLst>
              <a:gd name="adj" fmla="val 15625"/>
            </a:avLst>
          </a:prstGeom>
          <a:solidFill>
            <a:srgbClr val="1C1034"/>
          </a:solidFill>
          <a:ln w="12700">
            <a:solidFill>
              <a:srgbClr val="1C1034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530352" y="4608576"/>
            <a:ext cx="7845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BEE8"/>
                </a:solidFill>
              </a:rPr>
              <a:t>Key difference: Claude SDK externalizes loop, session, skills, and permissions across 3 deployment paths from one domain core.  Google ADK absorbs loop + session into the framework — less setup, one path.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0FC"/>
          </a:solidFill>
          <a:ln w="12700">
            <a:solidFill>
              <a:srgbClr val="F7F0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603504"/>
            <a:ext cx="8595360" cy="4315968"/>
          </a:xfrm>
          <a:prstGeom prst="roundRect">
            <a:avLst>
              <a:gd name="adj" fmla="val 2119"/>
            </a:avLst>
          </a:prstGeom>
          <a:solidFill>
            <a:srgbClr val="FFFFFF"/>
          </a:solidFill>
          <a:ln w="12700">
            <a:solidFill>
              <a:srgbClr val="DECCF2"/>
            </a:solidFill>
            <a:prstDash val="solid"/>
          </a:ln>
          <a:effectLst>
            <a:outerShdw sx="100000" sy="100000" kx="0" ky="0" algn="bl" rotWithShape="0" blurRad="101600" dist="25400" dir="5400000">
              <a:srgbClr val="C0A0DC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1480" y="192024"/>
            <a:ext cx="64008" cy="64008"/>
          </a:xfrm>
          <a:prstGeom prst="ellipse">
            <a:avLst/>
          </a:prstGeom>
          <a:solidFill>
            <a:srgbClr val="C45FA0"/>
          </a:solidFill>
          <a:ln w="12700">
            <a:solidFill>
              <a:srgbClr val="C45F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28016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10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SDK vs Google ADK — Folder Structure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384048" y="749808"/>
            <a:ext cx="4133088" cy="4133088"/>
          </a:xfrm>
          <a:prstGeom prst="roundRect">
            <a:avLst>
              <a:gd name="adj" fmla="val 1770"/>
            </a:avLst>
          </a:prstGeom>
          <a:solidFill>
            <a:srgbClr val="F5EDF9"/>
          </a:solidFill>
          <a:ln w="12700">
            <a:solidFill>
              <a:srgbClr val="DDB8F0"/>
            </a:solidFill>
            <a:prstDash val="solid"/>
          </a:ln>
          <a:effectLst>
            <a:outerShdw sx="100000" sy="100000" kx="0" ky="0" algn="bl" rotWithShape="0" blurRad="63500" dist="25400" dir="5400000">
              <a:srgbClr val="C4A8E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822960"/>
            <a:ext cx="3986784" cy="219456"/>
          </a:xfrm>
          <a:prstGeom prst="roundRect">
            <a:avLst>
              <a:gd name="adj" fmla="val 20833"/>
            </a:avLst>
          </a:prstGeom>
          <a:solidFill>
            <a:srgbClr val="7026A8"/>
          </a:solidFill>
          <a:ln w="12700">
            <a:solidFill>
              <a:srgbClr val="7026A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30352" y="8412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SDK  —  merchant-agent/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530352" y="1097280"/>
            <a:ext cx="190195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02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core/merchant_agent/</a:t>
            </a:r>
            <a:endParaRPr lang="en-US" sz="750" dirty="0"/>
          </a:p>
        </p:txBody>
      </p:sp>
      <p:sp>
        <p:nvSpPr>
          <p:cNvPr id="10" name="Text 8"/>
          <p:cNvSpPr txBox="1"/>
          <p:nvPr/>
        </p:nvSpPr>
        <p:spPr>
          <a:xfrm>
            <a:off x="530352" y="1330452"/>
            <a:ext cx="190195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prompt.py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2487168" y="1330452"/>
            <a:ext cx="193852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B8A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build_static_system()</a:t>
            </a:r>
            <a:endParaRPr lang="en-US" sz="7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1563624"/>
            <a:ext cx="190195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executor.py</a:t>
            </a:r>
            <a:endParaRPr lang="en-US" sz="750" dirty="0"/>
          </a:p>
        </p:txBody>
      </p:sp>
      <p:sp>
        <p:nvSpPr>
          <p:cNvPr id="13" name="Text 11"/>
          <p:cNvSpPr txBox="1"/>
          <p:nvPr/>
        </p:nvSpPr>
        <p:spPr>
          <a:xfrm>
            <a:off x="2487168" y="1563624"/>
            <a:ext cx="193852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B8A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agentic loop + hooks</a:t>
            </a:r>
            <a:endParaRPr lang="en-US" sz="700" dirty="0"/>
          </a:p>
        </p:txBody>
      </p:sp>
      <p:sp>
        <p:nvSpPr>
          <p:cNvPr id="14" name="Text 12"/>
          <p:cNvSpPr txBox="1"/>
          <p:nvPr/>
        </p:nvSpPr>
        <p:spPr>
          <a:xfrm>
            <a:off x="530352" y="1796796"/>
            <a:ext cx="190195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gates.py</a:t>
            </a:r>
            <a:endParaRPr lang="en-US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2487168" y="1796796"/>
            <a:ext cx="193852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B8A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turn guards</a:t>
            </a:r>
            <a:endParaRPr lang="en-US" sz="700" dirty="0"/>
          </a:p>
        </p:txBody>
      </p:sp>
      <p:sp>
        <p:nvSpPr>
          <p:cNvPr id="16" name="Text 14"/>
          <p:cNvSpPr txBox="1"/>
          <p:nvPr/>
        </p:nvSpPr>
        <p:spPr>
          <a:xfrm>
            <a:off x="530352" y="2029968"/>
            <a:ext cx="190195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fencing.py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2487168" y="2029968"/>
            <a:ext cx="193852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B8A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content safety</a:t>
            </a:r>
            <a:endParaRPr lang="en-US" sz="700" dirty="0"/>
          </a:p>
        </p:txBody>
      </p:sp>
      <p:sp>
        <p:nvSpPr>
          <p:cNvPr id="18" name="Text 16"/>
          <p:cNvSpPr txBox="1"/>
          <p:nvPr/>
        </p:nvSpPr>
        <p:spPr>
          <a:xfrm>
            <a:off x="530352" y="2263140"/>
            <a:ext cx="190195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changes.py</a:t>
            </a:r>
            <a:endParaRPr lang="en-US" sz="750" dirty="0"/>
          </a:p>
        </p:txBody>
      </p:sp>
      <p:sp>
        <p:nvSpPr>
          <p:cNvPr id="19" name="Text 17"/>
          <p:cNvSpPr txBox="1"/>
          <p:nvPr/>
        </p:nvSpPr>
        <p:spPr>
          <a:xfrm>
            <a:off x="2487168" y="2263140"/>
            <a:ext cx="193852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B8A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ChangeLedger</a:t>
            </a:r>
            <a:endParaRPr lang="en-US" sz="700" dirty="0"/>
          </a:p>
        </p:txBody>
      </p:sp>
      <p:sp>
        <p:nvSpPr>
          <p:cNvPr id="20" name="Text 18"/>
          <p:cNvSpPr txBox="1"/>
          <p:nvPr/>
        </p:nvSpPr>
        <p:spPr>
          <a:xfrm>
            <a:off x="530352" y="2496312"/>
            <a:ext cx="190195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analysis.py</a:t>
            </a:r>
            <a:endParaRPr lang="en-US" sz="750" dirty="0"/>
          </a:p>
        </p:txBody>
      </p:sp>
      <p:sp>
        <p:nvSpPr>
          <p:cNvPr id="21" name="Text 19"/>
          <p:cNvSpPr txBox="1"/>
          <p:nvPr/>
        </p:nvSpPr>
        <p:spPr>
          <a:xfrm>
            <a:off x="2487168" y="2496312"/>
            <a:ext cx="193852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B8A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delegate subagent config</a:t>
            </a:r>
            <a:endParaRPr lang="en-US" sz="700" dirty="0"/>
          </a:p>
        </p:txBody>
      </p:sp>
      <p:sp>
        <p:nvSpPr>
          <p:cNvPr id="22" name="Text 20"/>
          <p:cNvSpPr txBox="1"/>
          <p:nvPr/>
        </p:nvSpPr>
        <p:spPr>
          <a:xfrm>
            <a:off x="530352" y="2729484"/>
            <a:ext cx="190195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tools/registry.py</a:t>
            </a:r>
            <a:endParaRPr lang="en-US" sz="750" dirty="0"/>
          </a:p>
        </p:txBody>
      </p:sp>
      <p:sp>
        <p:nvSpPr>
          <p:cNvPr id="23" name="Text 21"/>
          <p:cNvSpPr txBox="1"/>
          <p:nvPr/>
        </p:nvSpPr>
        <p:spPr>
          <a:xfrm>
            <a:off x="2487168" y="2729484"/>
            <a:ext cx="193852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B8A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tool schema declarations</a:t>
            </a:r>
            <a:endParaRPr lang="en-US" sz="700" dirty="0"/>
          </a:p>
        </p:txBody>
      </p:sp>
      <p:sp>
        <p:nvSpPr>
          <p:cNvPr id="24" name="Text 22"/>
          <p:cNvSpPr txBox="1"/>
          <p:nvPr/>
        </p:nvSpPr>
        <p:spPr>
          <a:xfrm>
            <a:off x="530352" y="2962656"/>
            <a:ext cx="190195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tools/presentation.py</a:t>
            </a:r>
            <a:endParaRPr lang="en-US" sz="750" dirty="0"/>
          </a:p>
        </p:txBody>
      </p:sp>
      <p:sp>
        <p:nvSpPr>
          <p:cNvPr id="25" name="Text 23"/>
          <p:cNvSpPr txBox="1"/>
          <p:nvPr/>
        </p:nvSpPr>
        <p:spPr>
          <a:xfrm>
            <a:off x="2487168" y="2962656"/>
            <a:ext cx="193852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B8A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UI presentation tools</a:t>
            </a:r>
            <a:endParaRPr lang="en-US" sz="700" dirty="0"/>
          </a:p>
        </p:txBody>
      </p:sp>
      <p:sp>
        <p:nvSpPr>
          <p:cNvPr id="26" name="Text 24"/>
          <p:cNvSpPr txBox="1"/>
          <p:nvPr/>
        </p:nvSpPr>
        <p:spPr>
          <a:xfrm>
            <a:off x="530352" y="3195828"/>
            <a:ext cx="190195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02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skills/</a:t>
            </a:r>
            <a:endParaRPr lang="en-US" sz="750" dirty="0"/>
          </a:p>
        </p:txBody>
      </p:sp>
      <p:sp>
        <p:nvSpPr>
          <p:cNvPr id="27" name="Text 25"/>
          <p:cNvSpPr txBox="1"/>
          <p:nvPr/>
        </p:nvSpPr>
        <p:spPr>
          <a:xfrm>
            <a:off x="2487168" y="3195828"/>
            <a:ext cx="193852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B8A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SKILL.md per flow  (5 flows)</a:t>
            </a:r>
            <a:endParaRPr lang="en-US" sz="700" dirty="0"/>
          </a:p>
        </p:txBody>
      </p:sp>
      <p:sp>
        <p:nvSpPr>
          <p:cNvPr id="28" name="Text 26"/>
          <p:cNvSpPr txBox="1"/>
          <p:nvPr/>
        </p:nvSpPr>
        <p:spPr>
          <a:xfrm>
            <a:off x="530352" y="3429000"/>
            <a:ext cx="190195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64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runtime-agent-sdk/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487168" y="3429000"/>
            <a:ext cx="193852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B8A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Path 1: Claude Agent SDK</a:t>
            </a:r>
            <a:endParaRPr lang="en-US" sz="700" dirty="0"/>
          </a:p>
        </p:txBody>
      </p:sp>
      <p:sp>
        <p:nvSpPr>
          <p:cNvPr id="30" name="Text 28"/>
          <p:cNvSpPr txBox="1"/>
          <p:nvPr/>
        </p:nvSpPr>
        <p:spPr>
          <a:xfrm>
            <a:off x="530352" y="3662172"/>
            <a:ext cx="190195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64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runtime-messages-api/</a:t>
            </a:r>
            <a:endParaRPr lang="en-US" sz="750" dirty="0"/>
          </a:p>
        </p:txBody>
      </p:sp>
      <p:sp>
        <p:nvSpPr>
          <p:cNvPr id="31" name="Text 29"/>
          <p:cNvSpPr txBox="1"/>
          <p:nvPr/>
        </p:nvSpPr>
        <p:spPr>
          <a:xfrm>
            <a:off x="2487168" y="3662172"/>
            <a:ext cx="193852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B8A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Path 2: Messages API</a:t>
            </a:r>
            <a:endParaRPr lang="en-US" sz="700" dirty="0"/>
          </a:p>
        </p:txBody>
      </p:sp>
      <p:sp>
        <p:nvSpPr>
          <p:cNvPr id="32" name="Text 30"/>
          <p:cNvSpPr txBox="1"/>
          <p:nvPr/>
        </p:nvSpPr>
        <p:spPr>
          <a:xfrm>
            <a:off x="530352" y="3895344"/>
            <a:ext cx="190195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64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managed-agents/</a:t>
            </a:r>
            <a:endParaRPr lang="en-US" sz="750" dirty="0"/>
          </a:p>
        </p:txBody>
      </p:sp>
      <p:sp>
        <p:nvSpPr>
          <p:cNvPr id="33" name="Text 31"/>
          <p:cNvSpPr txBox="1"/>
          <p:nvPr/>
        </p:nvSpPr>
        <p:spPr>
          <a:xfrm>
            <a:off x="2487168" y="3895344"/>
            <a:ext cx="193852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B8A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Path 3: Managed Agents API</a:t>
            </a:r>
            <a:endParaRPr lang="en-US" sz="700" dirty="0"/>
          </a:p>
        </p:txBody>
      </p:sp>
      <p:sp>
        <p:nvSpPr>
          <p:cNvPr id="34" name="Text 32"/>
          <p:cNvSpPr txBox="1"/>
          <p:nvPr/>
        </p:nvSpPr>
        <p:spPr>
          <a:xfrm>
            <a:off x="530352" y="4128516"/>
            <a:ext cx="190195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merchant-agent/agent.yaml</a:t>
            </a:r>
            <a:endParaRPr lang="en-US" sz="750" dirty="0"/>
          </a:p>
        </p:txBody>
      </p:sp>
      <p:sp>
        <p:nvSpPr>
          <p:cNvPr id="35" name="Text 33"/>
          <p:cNvSpPr txBox="1"/>
          <p:nvPr/>
        </p:nvSpPr>
        <p:spPr>
          <a:xfrm>
            <a:off x="2487168" y="4128516"/>
            <a:ext cx="193852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B8A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permissions manifest</a:t>
            </a:r>
            <a:endParaRPr lang="en-US" sz="700" dirty="0"/>
          </a:p>
        </p:txBody>
      </p:sp>
      <p:sp>
        <p:nvSpPr>
          <p:cNvPr id="36" name="Text 34"/>
          <p:cNvSpPr txBox="1"/>
          <p:nvPr/>
        </p:nvSpPr>
        <p:spPr>
          <a:xfrm>
            <a:off x="530352" y="4361688"/>
            <a:ext cx="190195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merchant-agent/system.md</a:t>
            </a:r>
            <a:endParaRPr lang="en-US" sz="750" dirty="0"/>
          </a:p>
        </p:txBody>
      </p:sp>
      <p:sp>
        <p:nvSpPr>
          <p:cNvPr id="37" name="Text 35"/>
          <p:cNvSpPr txBox="1"/>
          <p:nvPr/>
        </p:nvSpPr>
        <p:spPr>
          <a:xfrm>
            <a:off x="2487168" y="4361688"/>
            <a:ext cx="193852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B8A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derived static system prompt</a:t>
            </a:r>
            <a:endParaRPr lang="en-US" sz="700" dirty="0"/>
          </a:p>
        </p:txBody>
      </p:sp>
      <p:sp>
        <p:nvSpPr>
          <p:cNvPr id="38" name="Text 36"/>
          <p:cNvSpPr txBox="1"/>
          <p:nvPr/>
        </p:nvSpPr>
        <p:spPr>
          <a:xfrm>
            <a:off x="530352" y="4594860"/>
            <a:ext cx="190195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merchant-mcp-server/</a:t>
            </a:r>
            <a:endParaRPr lang="en-US" sz="750" dirty="0"/>
          </a:p>
        </p:txBody>
      </p:sp>
      <p:sp>
        <p:nvSpPr>
          <p:cNvPr id="39" name="Text 37"/>
          <p:cNvSpPr txBox="1"/>
          <p:nvPr/>
        </p:nvSpPr>
        <p:spPr>
          <a:xfrm>
            <a:off x="2487168" y="4594860"/>
            <a:ext cx="193852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B8A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tools served over MCP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4626864" y="749808"/>
            <a:ext cx="4133088" cy="4133088"/>
          </a:xfrm>
          <a:prstGeom prst="roundRect">
            <a:avLst>
              <a:gd name="adj" fmla="val 1770"/>
            </a:avLst>
          </a:prstGeom>
          <a:solidFill>
            <a:srgbClr val="F2FBF8"/>
          </a:solidFill>
          <a:ln w="12700">
            <a:solidFill>
              <a:srgbClr val="A8DAC8"/>
            </a:solidFill>
            <a:prstDash val="solid"/>
          </a:ln>
          <a:effectLst>
            <a:outerShdw sx="100000" sy="100000" kx="0" ky="0" algn="bl" rotWithShape="0" blurRad="63500" dist="25400" dir="5400000">
              <a:srgbClr val="C4A8E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00016" y="822960"/>
            <a:ext cx="3986784" cy="219456"/>
          </a:xfrm>
          <a:prstGeom prst="roundRect">
            <a:avLst>
              <a:gd name="adj" fmla="val 20833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773168" y="8412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Google ADK  —  examples/gemini/</a:t>
            </a:r>
            <a:endParaRPr lang="en-US" sz="850" dirty="0"/>
          </a:p>
        </p:txBody>
      </p:sp>
      <p:sp>
        <p:nvSpPr>
          <p:cNvPr id="43" name="Text 41"/>
          <p:cNvSpPr txBox="1"/>
          <p:nvPr/>
        </p:nvSpPr>
        <p:spPr>
          <a:xfrm>
            <a:off x="4773168" y="1097280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api/</a:t>
            </a:r>
            <a:endParaRPr lang="en-US" sz="750" dirty="0"/>
          </a:p>
        </p:txBody>
      </p:sp>
      <p:sp>
        <p:nvSpPr>
          <p:cNvPr id="44" name="Text 42"/>
          <p:cNvSpPr txBox="1"/>
          <p:nvPr/>
        </p:nvSpPr>
        <p:spPr>
          <a:xfrm>
            <a:off x="4773168" y="1408176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agent.py</a:t>
            </a:r>
            <a:endParaRPr lang="en-US" sz="750" dirty="0"/>
          </a:p>
        </p:txBody>
      </p:sp>
      <p:sp>
        <p:nvSpPr>
          <p:cNvPr id="45" name="Text 43"/>
          <p:cNvSpPr txBox="1"/>
          <p:nvPr/>
        </p:nvSpPr>
        <p:spPr>
          <a:xfrm>
            <a:off x="6729984" y="1408176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B8A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Agent() + Runner + SessionService</a:t>
            </a:r>
            <a:endParaRPr lang="en-US" sz="700" dirty="0"/>
          </a:p>
        </p:txBody>
      </p:sp>
      <p:sp>
        <p:nvSpPr>
          <p:cNvPr id="46" name="Text 44"/>
          <p:cNvSpPr txBox="1"/>
          <p:nvPr/>
        </p:nvSpPr>
        <p:spPr>
          <a:xfrm>
            <a:off x="4773168" y="1719072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main.py</a:t>
            </a:r>
            <a:endParaRPr lang="en-US" sz="750" dirty="0"/>
          </a:p>
        </p:txBody>
      </p:sp>
      <p:sp>
        <p:nvSpPr>
          <p:cNvPr id="47" name="Text 45"/>
          <p:cNvSpPr txBox="1"/>
          <p:nvPr/>
        </p:nvSpPr>
        <p:spPr>
          <a:xfrm>
            <a:off x="6729984" y="1719072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B8A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FastAPI app + lifespan</a:t>
            </a:r>
            <a:endParaRPr lang="en-US" sz="700" dirty="0"/>
          </a:p>
        </p:txBody>
      </p:sp>
      <p:sp>
        <p:nvSpPr>
          <p:cNvPr id="48" name="Text 46"/>
          <p:cNvSpPr txBox="1"/>
          <p:nvPr/>
        </p:nvSpPr>
        <p:spPr>
          <a:xfrm>
            <a:off x="4773168" y="2029968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tools.py</a:t>
            </a:r>
            <a:endParaRPr lang="en-US" sz="750" dirty="0"/>
          </a:p>
        </p:txBody>
      </p:sp>
      <p:sp>
        <p:nvSpPr>
          <p:cNvPr id="49" name="Text 47"/>
          <p:cNvSpPr txBox="1"/>
          <p:nvPr/>
        </p:nvSpPr>
        <p:spPr>
          <a:xfrm>
            <a:off x="6729984" y="2029968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B8A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ALL_TOOLS (plain async callables)</a:t>
            </a:r>
            <a:endParaRPr lang="en-US" sz="700" dirty="0"/>
          </a:p>
        </p:txBody>
      </p:sp>
      <p:sp>
        <p:nvSpPr>
          <p:cNvPr id="50" name="Text 48"/>
          <p:cNvSpPr txBox="1"/>
          <p:nvPr/>
        </p:nvSpPr>
        <p:spPr>
          <a:xfrm>
            <a:off x="4773168" y="2340864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merchandising.py</a:t>
            </a:r>
            <a:endParaRPr lang="en-US" sz="750" dirty="0"/>
          </a:p>
        </p:txBody>
      </p:sp>
      <p:sp>
        <p:nvSpPr>
          <p:cNvPr id="51" name="Text 49"/>
          <p:cNvSpPr txBox="1"/>
          <p:nvPr/>
        </p:nvSpPr>
        <p:spPr>
          <a:xfrm>
            <a:off x="6729984" y="2340864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B8A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Gemini JSON-mode tools</a:t>
            </a:r>
            <a:endParaRPr lang="en-US" sz="700" dirty="0"/>
          </a:p>
        </p:txBody>
      </p:sp>
      <p:sp>
        <p:nvSpPr>
          <p:cNvPr id="52" name="Text 50"/>
          <p:cNvSpPr txBox="1"/>
          <p:nvPr/>
        </p:nvSpPr>
        <p:spPr>
          <a:xfrm>
            <a:off x="4773168" y="2651760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storefront_tools.py</a:t>
            </a:r>
            <a:endParaRPr lang="en-US" sz="750" dirty="0"/>
          </a:p>
        </p:txBody>
      </p:sp>
      <p:sp>
        <p:nvSpPr>
          <p:cNvPr id="53" name="Text 51"/>
          <p:cNvSpPr txBox="1"/>
          <p:nvPr/>
        </p:nvSpPr>
        <p:spPr>
          <a:xfrm>
            <a:off x="6729984" y="2651760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B8A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storefront read tools</a:t>
            </a:r>
            <a:endParaRPr lang="en-US" sz="700" dirty="0"/>
          </a:p>
        </p:txBody>
      </p:sp>
      <p:sp>
        <p:nvSpPr>
          <p:cNvPr id="54" name="Text 52"/>
          <p:cNvSpPr txBox="1"/>
          <p:nvPr/>
        </p:nvSpPr>
        <p:spPr>
          <a:xfrm>
            <a:off x="4773168" y="2962656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ontology/</a:t>
            </a:r>
            <a:endParaRPr lang="en-US" sz="750" dirty="0"/>
          </a:p>
        </p:txBody>
      </p:sp>
      <p:sp>
        <p:nvSpPr>
          <p:cNvPr id="55" name="Text 53"/>
          <p:cNvSpPr txBox="1"/>
          <p:nvPr/>
        </p:nvSpPr>
        <p:spPr>
          <a:xfrm>
            <a:off x="4773168" y="3273552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schema.py</a:t>
            </a:r>
            <a:endParaRPr lang="en-US" sz="750" dirty="0"/>
          </a:p>
        </p:txBody>
      </p:sp>
      <p:sp>
        <p:nvSpPr>
          <p:cNvPr id="56" name="Text 54"/>
          <p:cNvSpPr txBox="1"/>
          <p:nvPr/>
        </p:nvSpPr>
        <p:spPr>
          <a:xfrm>
            <a:off x="6729984" y="3273552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B8A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Pydantic output models</a:t>
            </a:r>
            <a:endParaRPr lang="en-US" sz="700" dirty="0"/>
          </a:p>
        </p:txBody>
      </p:sp>
      <p:sp>
        <p:nvSpPr>
          <p:cNvPr id="57" name="Text 55"/>
          <p:cNvSpPr txBox="1"/>
          <p:nvPr/>
        </p:nvSpPr>
        <p:spPr>
          <a:xfrm>
            <a:off x="4773168" y="3584448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taxonomy.py</a:t>
            </a:r>
            <a:endParaRPr lang="en-US" sz="750" dirty="0"/>
          </a:p>
        </p:txBody>
      </p:sp>
      <p:sp>
        <p:nvSpPr>
          <p:cNvPr id="58" name="Text 56"/>
          <p:cNvSpPr txBox="1"/>
          <p:nvPr/>
        </p:nvSpPr>
        <p:spPr>
          <a:xfrm>
            <a:off x="6729984" y="3584448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B8A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BBW reference data dicts</a:t>
            </a:r>
            <a:endParaRPr lang="en-US" sz="700" dirty="0"/>
          </a:p>
        </p:txBody>
      </p:sp>
      <p:sp>
        <p:nvSpPr>
          <p:cNvPr id="59" name="Text 57"/>
          <p:cNvSpPr txBox="1"/>
          <p:nvPr/>
        </p:nvSpPr>
        <p:spPr>
          <a:xfrm>
            <a:off x="4773168" y="3895344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bbw_products.py</a:t>
            </a:r>
            <a:endParaRPr lang="en-US" sz="750" dirty="0"/>
          </a:p>
        </p:txBody>
      </p:sp>
      <p:sp>
        <p:nvSpPr>
          <p:cNvPr id="60" name="Text 58"/>
          <p:cNvSpPr txBox="1"/>
          <p:nvPr/>
        </p:nvSpPr>
        <p:spPr>
          <a:xfrm>
            <a:off x="6729984" y="3895344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B8A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12 fixture products</a:t>
            </a:r>
            <a:endParaRPr lang="en-US" sz="700" dirty="0"/>
          </a:p>
        </p:txBody>
      </p:sp>
      <p:sp>
        <p:nvSpPr>
          <p:cNvPr id="61" name="Text 59"/>
          <p:cNvSpPr txBox="1"/>
          <p:nvPr/>
        </p:nvSpPr>
        <p:spPr>
          <a:xfrm>
            <a:off x="4773168" y="4206240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64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merchant-web/</a:t>
            </a:r>
            <a:endParaRPr lang="en-US" sz="750" dirty="0"/>
          </a:p>
        </p:txBody>
      </p:sp>
      <p:sp>
        <p:nvSpPr>
          <p:cNvPr id="62" name="Text 60"/>
          <p:cNvSpPr txBox="1"/>
          <p:nvPr/>
        </p:nvSpPr>
        <p:spPr>
          <a:xfrm>
            <a:off x="6729984" y="4206240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B8A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Next.js merchant UI</a:t>
            </a:r>
            <a:endParaRPr lang="en-US" sz="700" dirty="0"/>
          </a:p>
        </p:txBody>
      </p:sp>
      <p:sp>
        <p:nvSpPr>
          <p:cNvPr id="63" name="Text 61"/>
          <p:cNvSpPr txBox="1"/>
          <p:nvPr/>
        </p:nvSpPr>
        <p:spPr>
          <a:xfrm>
            <a:off x="4773168" y="4517136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64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storefront-web/</a:t>
            </a:r>
            <a:endParaRPr lang="en-US" sz="750" dirty="0"/>
          </a:p>
        </p:txBody>
      </p:sp>
      <p:sp>
        <p:nvSpPr>
          <p:cNvPr id="64" name="Text 62"/>
          <p:cNvSpPr txBox="1"/>
          <p:nvPr/>
        </p:nvSpPr>
        <p:spPr>
          <a:xfrm>
            <a:off x="6729984" y="4517136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B8A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Next.js storefront UI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457200" y="4443984"/>
            <a:ext cx="3986784" cy="365760"/>
          </a:xfrm>
          <a:prstGeom prst="roundRect">
            <a:avLst>
              <a:gd name="adj" fmla="val 12500"/>
            </a:avLst>
          </a:prstGeom>
          <a:solidFill>
            <a:srgbClr val="7026A8"/>
          </a:solidFill>
          <a:ln w="12700">
            <a:solidFill>
              <a:srgbClr val="7026A8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530352" y="45171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FFFFFF"/>
                </a:solidFill>
              </a:rPr>
              <a:t>3 runtime paths, 1 domain core — loop + safety live in executor.py, not repeated per path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4700016" y="4443984"/>
            <a:ext cx="3986784" cy="365760"/>
          </a:xfrm>
          <a:prstGeom prst="roundRect">
            <a:avLst>
              <a:gd name="adj" fmla="val 125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4773168" y="45171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FFFFFF"/>
                </a:solidFill>
              </a:rPr>
              <a:t>1 api/ directory — ADK absorbs loop, session, and tool dispatch; ontology/ is the only addition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0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0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ADK Framework: Maximized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3D6E"/>
                </a:solidFill>
              </a:rPr>
              <a:t>Five ADK-native features active in the live Railway deployment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50792" cy="1444752"/>
          </a:xfrm>
          <a:prstGeom prst="roundRect">
            <a:avLst>
              <a:gd name="adj" fmla="val 4430"/>
            </a:avLst>
          </a:prstGeom>
          <a:solidFill>
            <a:srgbClr val="FFFFFF"/>
          </a:solidFill>
          <a:ln w="25400">
            <a:solidFill>
              <a:srgbClr val="7026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4050792" cy="347472"/>
          </a:xfrm>
          <a:prstGeom prst="roundRect">
            <a:avLst>
              <a:gd name="adj" fmla="val 18421"/>
            </a:avLst>
          </a:prstGeom>
          <a:solidFill>
            <a:srgbClr val="7026A8"/>
          </a:solidFill>
          <a:ln w="12700">
            <a:solidFill>
              <a:srgbClr val="7026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62456"/>
            <a:ext cx="4050792" cy="173736"/>
          </a:xfrm>
          <a:prstGeom prst="roundRect">
            <a:avLst/>
          </a:prstGeom>
          <a:solidFill>
            <a:srgbClr val="7026A8"/>
          </a:solidFill>
          <a:ln w="12700">
            <a:solidFill>
              <a:srgbClr val="7026A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1243584"/>
            <a:ext cx="3831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before_model_callback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609344"/>
            <a:ext cx="3831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C1034"/>
                </a:solidFill>
              </a:rPr>
              <a:t>WHAT: Fires before every LLM call — injects today's date and store name into the system instruction.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2139696"/>
            <a:ext cx="3831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C3D6E"/>
                </a:solidFill>
              </a:rPr>
              <a:t>WHY: Keeps the model context-aware without storing dynamic data in the static prompt.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636008" y="1188720"/>
            <a:ext cx="4050792" cy="1444752"/>
          </a:xfrm>
          <a:prstGeom prst="roundRect">
            <a:avLst>
              <a:gd name="adj" fmla="val 4430"/>
            </a:avLst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36008" y="1188720"/>
            <a:ext cx="4050792" cy="347472"/>
          </a:xfrm>
          <a:prstGeom prst="roundRect">
            <a:avLst>
              <a:gd name="adj" fmla="val 18421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36008" y="1362456"/>
            <a:ext cx="4050792" cy="173736"/>
          </a:xfrm>
          <a:prstGeom prst="round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45736" y="1243584"/>
            <a:ext cx="3831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after_tool_callback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4745736" y="1609344"/>
            <a:ext cx="3831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C1034"/>
                </a:solidFill>
              </a:rPr>
              <a:t>WHAT: Fires after every tool returns — caches get_business_snapshot result in session.state; trims search_listings arrays to 20 items.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4745736" y="2139696"/>
            <a:ext cx="3831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C3D6E"/>
                </a:solidFill>
              </a:rPr>
              <a:t>WHY: Reduces context-window pressure and persists key metrics across turns.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7200" y="2761488"/>
            <a:ext cx="2657856" cy="1444752"/>
          </a:xfrm>
          <a:prstGeom prst="roundRect">
            <a:avLst>
              <a:gd name="adj" fmla="val 4430"/>
            </a:avLst>
          </a:prstGeom>
          <a:solidFill>
            <a:srgbClr val="FFFFFF"/>
          </a:solidFill>
          <a:ln w="25400">
            <a:solidFill>
              <a:srgbClr val="164E7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761488"/>
            <a:ext cx="2657856" cy="347472"/>
          </a:xfrm>
          <a:prstGeom prst="roundRect">
            <a:avLst>
              <a:gd name="adj" fmla="val 18421"/>
            </a:avLst>
          </a:prstGeom>
          <a:solidFill>
            <a:srgbClr val="164E7A"/>
          </a:solidFill>
          <a:ln w="12700">
            <a:solidFill>
              <a:srgbClr val="164E7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935224"/>
            <a:ext cx="2657856" cy="173736"/>
          </a:xfrm>
          <a:prstGeom prst="roundRect">
            <a:avLst/>
          </a:prstGeom>
          <a:solidFill>
            <a:srgbClr val="164E7A"/>
          </a:solidFill>
          <a:ln w="12700">
            <a:solidFill>
              <a:srgbClr val="164E7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2816352"/>
            <a:ext cx="2474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sub_agents = [MerchandisingAgent]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182112"/>
            <a:ext cx="2474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1C1034"/>
                </a:solidFill>
              </a:rPr>
              <a:t>WHAT: Orchestrator auto-gets a transfer_to_merchandising_agent tool. All enrich / SEO / geo / classify calls route to the specialist.</a:t>
            </a:r>
            <a:endParaRPr lang="en-US" sz="7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3712464"/>
            <a:ext cx="24749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5C3D6E"/>
                </a:solidFill>
              </a:rPr>
              <a:t>WHY: Clean role separation: orchestrator owns business ops; subagent owns content pipeline.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3243072" y="2761488"/>
            <a:ext cx="2657856" cy="1444752"/>
          </a:xfrm>
          <a:prstGeom prst="roundRect">
            <a:avLst>
              <a:gd name="adj" fmla="val 4430"/>
            </a:avLst>
          </a:prstGeom>
          <a:solidFill>
            <a:srgbClr val="FFFFFF"/>
          </a:solidFill>
          <a:ln w="25400">
            <a:solidFill>
              <a:srgbClr val="DC6C3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43072" y="2761488"/>
            <a:ext cx="2657856" cy="347472"/>
          </a:xfrm>
          <a:prstGeom prst="roundRect">
            <a:avLst>
              <a:gd name="adj" fmla="val 18421"/>
            </a:avLst>
          </a:prstGeom>
          <a:solidFill>
            <a:srgbClr val="DC6C38"/>
          </a:solidFill>
          <a:ln w="12700">
            <a:solidFill>
              <a:srgbClr val="DC6C3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43072" y="2935224"/>
            <a:ext cx="2657856" cy="173736"/>
          </a:xfrm>
          <a:prstGeom prst="roundRect">
            <a:avLst/>
          </a:prstGeom>
          <a:solidFill>
            <a:srgbClr val="DC6C38"/>
          </a:solidFill>
          <a:ln w="12700">
            <a:solidFill>
              <a:srgbClr val="DC6C3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334512" y="2816352"/>
            <a:ext cx="2474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session.state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3334512" y="3182112"/>
            <a:ext cx="2474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1C1034"/>
                </a:solidFill>
              </a:rPr>
              <a:t>WHAT: Seeded with {"store_name": "DreamHaus"} at create_session(). after_tool_callback writes snapshot + alert counts after each tool call.</a:t>
            </a:r>
            <a:endParaRPr lang="en-US" sz="750" dirty="0"/>
          </a:p>
        </p:txBody>
      </p:sp>
      <p:sp>
        <p:nvSpPr>
          <p:cNvPr id="27" name="Text 25"/>
          <p:cNvSpPr txBox="1"/>
          <p:nvPr/>
        </p:nvSpPr>
        <p:spPr>
          <a:xfrm>
            <a:off x="3334512" y="3712464"/>
            <a:ext cx="24749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5C3D6E"/>
                </a:solidFill>
              </a:rPr>
              <a:t>WHY: Persistent across turns — before_model_callback reads store_name every turn without a DB.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6028944" y="2761488"/>
            <a:ext cx="2657856" cy="1444752"/>
          </a:xfrm>
          <a:prstGeom prst="roundRect">
            <a:avLst>
              <a:gd name="adj" fmla="val 4430"/>
            </a:avLst>
          </a:prstGeom>
          <a:solidFill>
            <a:srgbClr val="FFFFFF"/>
          </a:solidFill>
          <a:ln w="25400">
            <a:solidFill>
              <a:srgbClr val="2E706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28944" y="2761488"/>
            <a:ext cx="2657856" cy="347472"/>
          </a:xfrm>
          <a:prstGeom prst="roundRect">
            <a:avLst>
              <a:gd name="adj" fmla="val 18421"/>
            </a:avLst>
          </a:prstGeom>
          <a:solidFill>
            <a:srgbClr val="2E7060"/>
          </a:solidFill>
          <a:ln w="12700">
            <a:solidFill>
              <a:srgbClr val="2E706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28944" y="2935224"/>
            <a:ext cx="2657856" cy="173736"/>
          </a:xfrm>
          <a:prstGeom prst="roundRect">
            <a:avLst/>
          </a:prstGeom>
          <a:solidFill>
            <a:srgbClr val="2E7060"/>
          </a:solidFill>
          <a:ln w="12700">
            <a:solidFill>
              <a:srgbClr val="2E706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120384" y="2816352"/>
            <a:ext cx="2474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prime_session()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6120384" y="3182112"/>
            <a:ext cx="2474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1C1034"/>
                </a:solidFill>
              </a:rPr>
              <a:t>WHAT: Called in the background on POST /session — fetches snapshot + alerts proactively. GET /api/merchant/briefing returns the cached result.</a:t>
            </a:r>
            <a:endParaRPr lang="en-US" sz="750" dirty="0"/>
          </a:p>
        </p:txBody>
      </p:sp>
      <p:sp>
        <p:nvSpPr>
          <p:cNvPr id="33" name="Text 31"/>
          <p:cNvSpPr txBox="1"/>
          <p:nvPr/>
        </p:nvSpPr>
        <p:spPr>
          <a:xfrm>
            <a:off x="6120384" y="3712464"/>
            <a:ext cx="24749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5C3D6E"/>
                </a:solidFill>
              </a:rPr>
              <a:t>WHY: First "what needs attention?" message gets instant data, no tool call wait.</a:t>
            </a:r>
            <a:endParaRPr lang="en-US" sz="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1034"/>
          </a:solidFill>
          <a:ln w="12700">
            <a:solidFill>
              <a:srgbClr val="1C103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0" y="-1554480"/>
            <a:ext cx="4023360" cy="4023360"/>
          </a:xfrm>
          <a:prstGeom prst="ellipse">
            <a:avLst/>
          </a:prstGeom>
          <a:solidFill>
            <a:srgbClr val="C45FA0">
              <a:alpha val="9000"/>
            </a:srgbClr>
          </a:solidFill>
          <a:ln w="12700">
            <a:solidFill>
              <a:srgbClr val="C45F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188720" y="2743200"/>
            <a:ext cx="3291840" cy="3291840"/>
          </a:xfrm>
          <a:prstGeom prst="ellipse">
            <a:avLst/>
          </a:prstGeom>
          <a:solidFill>
            <a:srgbClr val="028090">
              <a:alpha val="11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2743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Multi-Agent Architecture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8229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BEE8"/>
                </a:solidFill>
              </a:rPr>
              <a:t>Orchestrator + MerchandisingAgent sub-agent via ADK sub_agents=[]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3474720" cy="2011680"/>
          </a:xfrm>
          <a:prstGeom prst="roundRect">
            <a:avLst>
              <a:gd name="adj" fmla="val 4545"/>
            </a:avLst>
          </a:prstGeom>
          <a:solidFill>
            <a:srgbClr val="2A1248"/>
          </a:solidFill>
          <a:ln w="25400">
            <a:solidFill>
              <a:srgbClr val="7026A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3441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5FA0"/>
                </a:solidFill>
              </a:rPr>
              <a:t>Orchestrator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63677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B8A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gemini_merchant_agent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94360" y="1892808"/>
            <a:ext cx="3200400" cy="164592"/>
          </a:xfrm>
          <a:prstGeom prst="roundRect">
            <a:avLst>
              <a:gd name="adj" fmla="val 22222"/>
            </a:avLst>
          </a:prstGeom>
          <a:solidFill>
            <a:srgbClr val="3D1870"/>
          </a:solidFill>
          <a:ln w="6350">
            <a:solidFill>
              <a:srgbClr val="5A2A9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1901952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B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get_business_snapshot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94360" y="2075688"/>
            <a:ext cx="3200400" cy="164592"/>
          </a:xfrm>
          <a:prstGeom prst="roundRect">
            <a:avLst>
              <a:gd name="adj" fmla="val 22222"/>
            </a:avLst>
          </a:prstGeom>
          <a:solidFill>
            <a:srgbClr val="3D1870"/>
          </a:solidFill>
          <a:ln w="6350">
            <a:solidFill>
              <a:srgbClr val="5A2A9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084832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B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get_inventory_alerts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94360" y="2258568"/>
            <a:ext cx="3200400" cy="164592"/>
          </a:xfrm>
          <a:prstGeom prst="roundRect">
            <a:avLst>
              <a:gd name="adj" fmla="val 22222"/>
            </a:avLst>
          </a:prstGeom>
          <a:solidFill>
            <a:srgbClr val="3D1870"/>
          </a:solidFill>
          <a:ln w="6350">
            <a:solidFill>
              <a:srgbClr val="5A2A9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267712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B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get_order_issues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94360" y="2441448"/>
            <a:ext cx="3200400" cy="164592"/>
          </a:xfrm>
          <a:prstGeom prst="roundRect">
            <a:avLst>
              <a:gd name="adj" fmla="val 22222"/>
            </a:avLst>
          </a:prstGeom>
          <a:solidFill>
            <a:srgbClr val="3D1870"/>
          </a:solidFill>
          <a:ln w="6350">
            <a:solidFill>
              <a:srgbClr val="5A2A9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2450592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B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search_listings / get_listing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94360" y="2624328"/>
            <a:ext cx="3200400" cy="164592"/>
          </a:xfrm>
          <a:prstGeom prst="roundRect">
            <a:avLst>
              <a:gd name="adj" fmla="val 22222"/>
            </a:avLst>
          </a:prstGeom>
          <a:solidFill>
            <a:srgbClr val="3D1870"/>
          </a:solidFill>
          <a:ln w="6350">
            <a:solidFill>
              <a:srgbClr val="5A2A9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2633472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B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get_pending_changes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94360" y="2807208"/>
            <a:ext cx="3200400" cy="164592"/>
          </a:xfrm>
          <a:prstGeom prst="roundRect">
            <a:avLst>
              <a:gd name="adj" fmla="val 22222"/>
            </a:avLst>
          </a:prstGeom>
          <a:solidFill>
            <a:srgbClr val="3D1870"/>
          </a:solidFill>
          <a:ln w="6350">
            <a:solidFill>
              <a:srgbClr val="5A2A9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2816352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B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stage_inventory_action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94360" y="2990088"/>
            <a:ext cx="3200400" cy="164592"/>
          </a:xfrm>
          <a:prstGeom prst="roundRect">
            <a:avLst>
              <a:gd name="adj" fmla="val 22222"/>
            </a:avLst>
          </a:prstGeom>
          <a:solidFill>
            <a:srgbClr val="3D1870"/>
          </a:solidFill>
          <a:ln w="6350">
            <a:solidFill>
              <a:srgbClr val="5A2A9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2999232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B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apply_change / discard_change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023360" y="2011680"/>
            <a:ext cx="1234440" cy="457200"/>
          </a:xfrm>
          <a:prstGeom prst="roundRect">
            <a:avLst>
              <a:gd name="adj" fmla="val 12000"/>
            </a:avLst>
          </a:prstGeom>
          <a:solidFill>
            <a:srgbClr val="1A2A4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041648" y="2048256"/>
            <a:ext cx="1197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transfer_to_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merch_agent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931920" y="2212848"/>
            <a:ext cx="91440" cy="54864"/>
          </a:xfrm>
          <a:prstGeom prst="round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03520" y="2212848"/>
            <a:ext cx="91440" cy="54864"/>
          </a:xfrm>
          <a:prstGeom prst="round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40680" y="1234440"/>
            <a:ext cx="3474720" cy="2011680"/>
          </a:xfrm>
          <a:prstGeom prst="roundRect">
            <a:avLst>
              <a:gd name="adj" fmla="val 4545"/>
            </a:avLst>
          </a:prstGeom>
          <a:solidFill>
            <a:srgbClr val="102030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577840" y="13441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</a:rPr>
              <a:t>MerchandisingAgent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577840" y="163677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8A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merchandising_agent  (sub-agent)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577840" y="1892808"/>
            <a:ext cx="3200400" cy="164592"/>
          </a:xfrm>
          <a:prstGeom prst="roundRect">
            <a:avLst>
              <a:gd name="adj" fmla="val 22222"/>
            </a:avLst>
          </a:prstGeom>
          <a:solidFill>
            <a:srgbClr val="152840"/>
          </a:solidFill>
          <a:ln w="6350">
            <a:solidFill>
              <a:srgbClr val="20405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623560" y="1901952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B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classify_product_ontology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5577840" y="2075688"/>
            <a:ext cx="3200400" cy="164592"/>
          </a:xfrm>
          <a:prstGeom prst="roundRect">
            <a:avLst>
              <a:gd name="adj" fmla="val 22222"/>
            </a:avLst>
          </a:prstGeom>
          <a:solidFill>
            <a:srgbClr val="152840"/>
          </a:solidFill>
          <a:ln w="6350">
            <a:solidFill>
              <a:srgbClr val="20405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623560" y="2084832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B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enrich_product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5577840" y="2258568"/>
            <a:ext cx="3200400" cy="164592"/>
          </a:xfrm>
          <a:prstGeom prst="roundRect">
            <a:avLst>
              <a:gd name="adj" fmla="val 22222"/>
            </a:avLst>
          </a:prstGeom>
          <a:solidFill>
            <a:srgbClr val="152840"/>
          </a:solidFill>
          <a:ln w="6350">
            <a:solidFill>
              <a:srgbClr val="20405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623560" y="2267712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B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generate_seo_content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5577840" y="2441448"/>
            <a:ext cx="3200400" cy="164592"/>
          </a:xfrm>
          <a:prstGeom prst="roundRect">
            <a:avLst>
              <a:gd name="adj" fmla="val 22222"/>
            </a:avLst>
          </a:prstGeom>
          <a:solidFill>
            <a:srgbClr val="152840"/>
          </a:solidFill>
          <a:ln w="6350">
            <a:solidFill>
              <a:srgbClr val="20405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623560" y="2450592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B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generate_geo_content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5577840" y="2624328"/>
            <a:ext cx="3200400" cy="164592"/>
          </a:xfrm>
          <a:prstGeom prst="roundRect">
            <a:avLst>
              <a:gd name="adj" fmla="val 22222"/>
            </a:avLst>
          </a:prstGeom>
          <a:solidFill>
            <a:srgbClr val="152840"/>
          </a:solidFill>
          <a:ln w="6350">
            <a:solidFill>
              <a:srgbClr val="20405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623560" y="2633472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B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lookup_product_entities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5577840" y="2807208"/>
            <a:ext cx="3200400" cy="164592"/>
          </a:xfrm>
          <a:prstGeom prst="roundRect">
            <a:avLst>
              <a:gd name="adj" fmla="val 22222"/>
            </a:avLst>
          </a:prstGeom>
          <a:solidFill>
            <a:srgbClr val="152840"/>
          </a:solidFill>
          <a:ln w="6350">
            <a:solidFill>
              <a:srgbClr val="20405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623560" y="2816352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B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stage_listing_update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57200" y="3447288"/>
            <a:ext cx="3474720" cy="502920"/>
          </a:xfrm>
          <a:prstGeom prst="roundRect">
            <a:avLst>
              <a:gd name="adj" fmla="val 14545"/>
            </a:avLst>
          </a:prstGeom>
          <a:solidFill>
            <a:srgbClr val="1A1035"/>
          </a:solidFill>
          <a:ln w="19050">
            <a:solidFill>
              <a:srgbClr val="7026A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85216" y="3502152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02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before_model_callback + after_tool_callback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440680" y="3447288"/>
            <a:ext cx="3474720" cy="502920"/>
          </a:xfrm>
          <a:prstGeom prst="roundRect">
            <a:avLst>
              <a:gd name="adj" fmla="val 14545"/>
            </a:avLst>
          </a:prstGeom>
          <a:solidFill>
            <a:srgbClr val="1A1035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568696" y="3502152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before_model_callback + after_tool_callback</a:t>
            </a:r>
            <a:endParaRPr lang="en-US" sz="850" dirty="0"/>
          </a:p>
        </p:txBody>
      </p:sp>
      <p:sp>
        <p:nvSpPr>
          <p:cNvPr id="47" name="Text 45"/>
          <p:cNvSpPr txBox="1"/>
          <p:nvPr/>
        </p:nvSpPr>
        <p:spPr>
          <a:xfrm>
            <a:off x="457200" y="3703320"/>
            <a:ext cx="8732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8AAB"/>
                </a:solidFill>
              </a:rPr>
              <a:t>Callbacks wired on both agents — context injection and state caching happen at every layer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57200" y="4087368"/>
            <a:ext cx="8229600" cy="438912"/>
          </a:xfrm>
          <a:prstGeom prst="roundRect">
            <a:avLst>
              <a:gd name="adj" fmla="val 14583"/>
            </a:avLst>
          </a:prstGeom>
          <a:solidFill>
            <a:srgbClr val="0D2030"/>
          </a:solidFill>
          <a:ln w="19050">
            <a:solidFill>
              <a:srgbClr val="2E7060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94360" y="41422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prime_session()  →  GET /api/merchant/briefing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4754880" y="41422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8A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session.state["store_name"]  ·  session.state["last_snapshot"]  ·  session.state["last_alerts_count"]</a:t>
            </a:r>
            <a:endParaRPr lang="en-US" sz="800" dirty="0"/>
          </a:p>
        </p:txBody>
      </p:sp>
      <p:sp>
        <p:nvSpPr>
          <p:cNvPr id="51" name="Text 49"/>
          <p:cNvSpPr txBox="1"/>
          <p:nvPr/>
        </p:nvSpPr>
        <p:spPr>
          <a:xfrm>
            <a:off x="594360" y="4325112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BEE8"/>
                </a:solidFill>
              </a:rPr>
              <a:t>Proactive briefing cached at login. State keys persist across every turn — no extra DB needed.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0FC"/>
          </a:solidFill>
          <a:ln w="12700">
            <a:solidFill>
              <a:srgbClr val="F7F0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603504"/>
            <a:ext cx="8595360" cy="4315968"/>
          </a:xfrm>
          <a:prstGeom prst="roundRect">
            <a:avLst>
              <a:gd name="adj" fmla="val 2119"/>
            </a:avLst>
          </a:prstGeom>
          <a:solidFill>
            <a:srgbClr val="FFFFFF"/>
          </a:solidFill>
          <a:ln w="12700">
            <a:solidFill>
              <a:srgbClr val="DECCF2"/>
            </a:solidFill>
            <a:prstDash val="solid"/>
          </a:ln>
          <a:effectLst>
            <a:outerShdw sx="100000" sy="100000" kx="0" ky="0" algn="bl" rotWithShape="0" blurRad="101600" dist="25400" dir="5400000">
              <a:srgbClr val="C0A0DC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1480" y="192024"/>
            <a:ext cx="64008" cy="64008"/>
          </a:xfrm>
          <a:prstGeom prst="ellipse">
            <a:avLst/>
          </a:prstGeom>
          <a:solidFill>
            <a:srgbClr val="C45FA0"/>
          </a:solidFill>
          <a:ln w="12700">
            <a:solidFill>
              <a:srgbClr val="C45F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28016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10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Graph Integration — Google ADK + KG Search API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365760" y="768096"/>
            <a:ext cx="1591056" cy="1024128"/>
          </a:xfrm>
          <a:prstGeom prst="roundRect">
            <a:avLst>
              <a:gd name="adj" fmla="val 7143"/>
            </a:avLst>
          </a:prstGeom>
          <a:solidFill>
            <a:srgbClr val="EEF3FA"/>
          </a:solidFill>
          <a:ln w="12700">
            <a:solidFill>
              <a:srgbClr val="B4CCEE"/>
            </a:solidFill>
            <a:prstDash val="solid"/>
          </a:ln>
          <a:effectLst>
            <a:outerShdw sx="100000" sy="100000" kx="0" ky="0" algn="bl" rotWithShape="0" blurRad="63500" dist="25400" dir="5400000">
              <a:srgbClr val="C4A8E0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57200" y="822960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164E7A"/>
                </a:solidFill>
              </a:rPr>
              <a:t>Product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164E7A"/>
                </a:solidFill>
              </a:rPr>
              <a:t>Lookup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115568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9B8AAB"/>
                </a:solidFill>
              </a:rPr>
              <a:t>BBW fixtures</a:t>
            </a:r>
            <a:endParaRPr lang="en-US" sz="7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9B8AAB"/>
                </a:solidFill>
              </a:rPr>
              <a:t>or SFCC OCAPI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139696" y="768096"/>
            <a:ext cx="1828800" cy="1024128"/>
          </a:xfrm>
          <a:prstGeom prst="roundRect">
            <a:avLst>
              <a:gd name="adj" fmla="val 7143"/>
            </a:avLst>
          </a:prstGeom>
          <a:solidFill>
            <a:srgbClr val="F5EDF9"/>
          </a:solidFill>
          <a:ln w="12700">
            <a:solidFill>
              <a:srgbClr val="DDB8F0"/>
            </a:solidFill>
            <a:prstDash val="solid"/>
          </a:ln>
          <a:effectLst>
            <a:outerShdw sx="100000" sy="100000" kx="0" ky="0" algn="bl" rotWithShape="0" blurRad="63500" dist="25400" dir="5400000">
              <a:srgbClr val="C4A8E0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231136" y="822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7026A8"/>
                </a:solidFill>
              </a:rPr>
              <a:t>classify_product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7026A8"/>
                </a:solidFill>
              </a:rPr>
              <a:t>_ontology()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2231136" y="111556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9B8AAB"/>
                </a:solidFill>
              </a:rPr>
              <a:t>Gemini → Pydantic</a:t>
            </a:r>
            <a:endParaRPr lang="en-US" sz="7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9B8AAB"/>
                </a:solidFill>
              </a:rPr>
              <a:t>ProductOntology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4151376" y="768096"/>
            <a:ext cx="2011680" cy="1024128"/>
          </a:xfrm>
          <a:prstGeom prst="roundRect">
            <a:avLst>
              <a:gd name="adj" fmla="val 7143"/>
            </a:avLst>
          </a:prstGeom>
          <a:solidFill>
            <a:srgbClr val="F2FBF8"/>
          </a:solidFill>
          <a:ln w="12700">
            <a:solidFill>
              <a:srgbClr val="A8DAC8"/>
            </a:solidFill>
            <a:prstDash val="solid"/>
          </a:ln>
          <a:effectLst>
            <a:outerShdw sx="100000" sy="100000" kx="0" ky="0" algn="bl" rotWithShape="0" blurRad="63500" dist="25400" dir="5400000">
              <a:srgbClr val="C4A8E0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242816" y="822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028090"/>
                </a:solidFill>
              </a:rPr>
              <a:t>_lookup_kg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028090"/>
                </a:solidFill>
              </a:rPr>
              <a:t>_entities()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4242816" y="11155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9B8AAB"/>
                </a:solidFill>
              </a:rPr>
              <a:t>urllib → KG API</a:t>
            </a:r>
            <a:endParaRPr lang="en-US" sz="7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9B8AAB"/>
                </a:solidFill>
              </a:rPr>
              <a:t>run_in_executor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6345936" y="768096"/>
            <a:ext cx="1554480" cy="1024128"/>
          </a:xfrm>
          <a:prstGeom prst="roundRect">
            <a:avLst>
              <a:gd name="adj" fmla="val 7143"/>
            </a:avLst>
          </a:prstGeom>
          <a:solidFill>
            <a:srgbClr val="FFF4EE"/>
          </a:solidFill>
          <a:ln w="12700">
            <a:solidFill>
              <a:srgbClr val="F5D8B8"/>
            </a:solidFill>
            <a:prstDash val="solid"/>
          </a:ln>
          <a:effectLst>
            <a:outerShdw sx="100000" sy="100000" kx="0" ky="0" algn="bl" rotWithShape="0" blurRad="63500" dist="25400" dir="5400000">
              <a:srgbClr val="C4A8E0">
                <a:alpha val="1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437376" y="822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DC6C38"/>
                </a:solidFill>
              </a:rPr>
              <a:t>Merge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DC6C38"/>
                </a:solidFill>
              </a:rPr>
              <a:t>Attributes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6437376" y="11155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9B8AAB"/>
                </a:solidFill>
              </a:rPr>
              <a:t>existing +</a:t>
            </a:r>
            <a:endParaRPr lang="en-US" sz="7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9B8AAB"/>
                </a:solidFill>
              </a:rPr>
              <a:t>kg_attrs list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8083296" y="768096"/>
            <a:ext cx="822960" cy="1024128"/>
          </a:xfrm>
          <a:prstGeom prst="roundRect">
            <a:avLst>
              <a:gd name="adj" fmla="val 8889"/>
            </a:avLst>
          </a:prstGeom>
          <a:solidFill>
            <a:srgbClr val="F0EBF8"/>
          </a:solidFill>
          <a:ln w="12700">
            <a:solidFill>
              <a:srgbClr val="C8A8E8"/>
            </a:solidFill>
            <a:prstDash val="solid"/>
          </a:ln>
          <a:effectLst>
            <a:outerShdw sx="100000" sy="100000" kx="0" ky="0" algn="bl" rotWithShape="0" blurRad="63500" dist="25400" dir="5400000">
              <a:srgbClr val="C4A8E0">
                <a:alpha val="1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174736" y="822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82268A"/>
                </a:solidFill>
              </a:rPr>
              <a:t>Output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8174736" y="11155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9B8AAB"/>
                </a:solidFill>
              </a:rPr>
              <a:t>enriched</a:t>
            </a:r>
            <a:endParaRPr lang="en-US" sz="7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9B8AAB"/>
                </a:solidFill>
              </a:rPr>
              <a:t>ontology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1956816" y="1271016"/>
            <a:ext cx="-731520" cy="18288"/>
          </a:xfrm>
          <a:prstGeom prst="rect">
            <a:avLst/>
          </a:prstGeom>
          <a:solidFill>
            <a:srgbClr val="9B8AAB"/>
          </a:solidFill>
          <a:ln w="12700">
            <a:solidFill>
              <a:srgbClr val="9B8AA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97280" y="1197864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8AAB"/>
                </a:solidFill>
              </a:rPr>
              <a:t>▶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968496" y="1271016"/>
            <a:ext cx="-1737360" cy="18288"/>
          </a:xfrm>
          <a:prstGeom prst="rect">
            <a:avLst/>
          </a:prstGeom>
          <a:solidFill>
            <a:srgbClr val="9B8AAB"/>
          </a:solidFill>
          <a:ln w="12700">
            <a:solidFill>
              <a:srgbClr val="9B8AA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103120" y="1197864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8AAB"/>
                </a:solidFill>
              </a:rPr>
              <a:t>▶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63056" y="1271016"/>
            <a:ext cx="-1920240" cy="18288"/>
          </a:xfrm>
          <a:prstGeom prst="rect">
            <a:avLst/>
          </a:prstGeom>
          <a:solidFill>
            <a:srgbClr val="9B8AAB"/>
          </a:solidFill>
          <a:ln w="12700">
            <a:solidFill>
              <a:srgbClr val="9B8AA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114800" y="1197864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8AAB"/>
                </a:solidFill>
              </a:rPr>
              <a:t>▶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900416" y="1271016"/>
            <a:ext cx="-1554480" cy="18288"/>
          </a:xfrm>
          <a:prstGeom prst="rect">
            <a:avLst/>
          </a:prstGeom>
          <a:solidFill>
            <a:srgbClr val="9B8AAB"/>
          </a:solidFill>
          <a:ln w="12700">
            <a:solidFill>
              <a:srgbClr val="9B8AA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17920" y="1197864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8AAB"/>
                </a:solidFill>
              </a:rPr>
              <a:t>▶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1956816"/>
            <a:ext cx="4645152" cy="1170432"/>
          </a:xfrm>
          <a:prstGeom prst="roundRect">
            <a:avLst>
              <a:gd name="adj" fmla="val 3906"/>
            </a:avLst>
          </a:prstGeom>
          <a:solidFill>
            <a:srgbClr val="1C1034"/>
          </a:solidFill>
          <a:ln w="12700">
            <a:solidFill>
              <a:srgbClr val="1C103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12064" y="2029968"/>
            <a:ext cx="4352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merchandising.py  —  _lookup_kg_entities_sync()</a:t>
            </a:r>
            <a:endParaRPr lang="en-US" sz="750" dirty="0"/>
          </a:p>
        </p:txBody>
      </p:sp>
      <p:sp>
        <p:nvSpPr>
          <p:cNvPr id="31" name="Text 29"/>
          <p:cNvSpPr txBox="1"/>
          <p:nvPr/>
        </p:nvSpPr>
        <p:spPr>
          <a:xfrm>
            <a:off x="512064" y="2231136"/>
            <a:ext cx="43525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D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kgsearch.googleapis.com/v1/entities:search</a:t>
            </a:r>
            <a:endParaRPr lang="en-US" sz="750" dirty="0"/>
          </a:p>
        </p:txBody>
      </p:sp>
      <p:sp>
        <p:nvSpPr>
          <p:cNvPr id="32" name="Text 30"/>
          <p:cNvSpPr txBox="1"/>
          <p:nvPr/>
        </p:nvSpPr>
        <p:spPr>
          <a:xfrm>
            <a:off x="512064" y="2377440"/>
            <a:ext cx="43525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B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?query=Mahogany+Teakwood</a:t>
            </a:r>
            <a:endParaRPr lang="en-US" sz="750" dirty="0"/>
          </a:p>
        </p:txBody>
      </p:sp>
      <p:sp>
        <p:nvSpPr>
          <p:cNvPr id="33" name="Text 31"/>
          <p:cNvSpPr txBox="1"/>
          <p:nvPr/>
        </p:nvSpPr>
        <p:spPr>
          <a:xfrm>
            <a:off x="512064" y="2523744"/>
            <a:ext cx="43525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B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&amp;key=GOOGLE_API_KEY</a:t>
            </a:r>
            <a:endParaRPr lang="en-US" sz="750" dirty="0"/>
          </a:p>
        </p:txBody>
      </p:sp>
      <p:sp>
        <p:nvSpPr>
          <p:cNvPr id="34" name="Text 32"/>
          <p:cNvSpPr txBox="1"/>
          <p:nvPr/>
        </p:nvSpPr>
        <p:spPr>
          <a:xfrm>
            <a:off x="512064" y="2670048"/>
            <a:ext cx="43525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B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&amp;limit=1</a:t>
            </a:r>
            <a:endParaRPr lang="en-US" sz="750" dirty="0"/>
          </a:p>
        </p:txBody>
      </p:sp>
      <p:sp>
        <p:nvSpPr>
          <p:cNvPr id="35" name="Text 33"/>
          <p:cNvSpPr txBox="1"/>
          <p:nvPr/>
        </p:nvSpPr>
        <p:spPr>
          <a:xfrm>
            <a:off x="512064" y="2816352"/>
            <a:ext cx="43525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36" name="Text 34"/>
          <p:cNvSpPr txBox="1"/>
          <p:nvPr/>
        </p:nvSpPr>
        <p:spPr>
          <a:xfrm>
            <a:off x="512064" y="2962656"/>
            <a:ext cx="43525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8A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run via asyncio.get_running_loop().run_in_executor(None, ...)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5102352" y="1956816"/>
            <a:ext cx="3712464" cy="1170432"/>
          </a:xfrm>
          <a:prstGeom prst="roundRect">
            <a:avLst>
              <a:gd name="adj" fmla="val 3906"/>
            </a:avLst>
          </a:prstGeom>
          <a:solidFill>
            <a:srgbClr val="1C1034"/>
          </a:solidFill>
          <a:ln w="12700">
            <a:solidFill>
              <a:srgbClr val="1C1034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248656" y="2029968"/>
            <a:ext cx="3419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KG response → semantic_attributes appended:</a:t>
            </a:r>
            <a:endParaRPr lang="en-US" sz="750" dirty="0"/>
          </a:p>
        </p:txBody>
      </p:sp>
      <p:sp>
        <p:nvSpPr>
          <p:cNvPr id="39" name="Text 37"/>
          <p:cNvSpPr txBox="1"/>
          <p:nvPr/>
        </p:nvSpPr>
        <p:spPr>
          <a:xfrm>
            <a:off x="5248656" y="2231136"/>
            <a:ext cx="3419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B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 "name": "Teak",</a:t>
            </a:r>
            <a:endParaRPr lang="en-US" sz="750" dirty="0"/>
          </a:p>
        </p:txBody>
      </p:sp>
      <p:sp>
        <p:nvSpPr>
          <p:cNvPr id="40" name="Text 38"/>
          <p:cNvSpPr txBox="1"/>
          <p:nvPr/>
        </p:nvSpPr>
        <p:spPr>
          <a:xfrm>
            <a:off x="5248656" y="2377440"/>
            <a:ext cx="3419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B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"types": ["Plant"],</a:t>
            </a:r>
            <a:endParaRPr lang="en-US" sz="750" dirty="0"/>
          </a:p>
        </p:txBody>
      </p:sp>
      <p:sp>
        <p:nvSpPr>
          <p:cNvPr id="41" name="Text 39"/>
          <p:cNvSpPr txBox="1"/>
          <p:nvPr/>
        </p:nvSpPr>
        <p:spPr>
          <a:xfrm>
            <a:off x="5248656" y="2523744"/>
            <a:ext cx="3419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B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"description": "Tropical hardwood",</a:t>
            </a:r>
            <a:endParaRPr lang="en-US" sz="750" dirty="0"/>
          </a:p>
        </p:txBody>
      </p:sp>
      <p:sp>
        <p:nvSpPr>
          <p:cNvPr id="42" name="Text 40"/>
          <p:cNvSpPr txBox="1"/>
          <p:nvPr/>
        </p:nvSpPr>
        <p:spPr>
          <a:xfrm>
            <a:off x="5248656" y="2670048"/>
            <a:ext cx="3419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B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"url": "…/wiki/Teak",</a:t>
            </a:r>
            <a:endParaRPr lang="en-US" sz="750" dirty="0"/>
          </a:p>
        </p:txBody>
      </p:sp>
      <p:sp>
        <p:nvSpPr>
          <p:cNvPr id="43" name="Text 41"/>
          <p:cNvSpPr txBox="1"/>
          <p:nvPr/>
        </p:nvSpPr>
        <p:spPr>
          <a:xfrm>
            <a:off x="5248656" y="2816352"/>
            <a:ext cx="3419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B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"score": 2841.0  }</a:t>
            </a:r>
            <a:endParaRPr lang="en-US" sz="750" dirty="0"/>
          </a:p>
        </p:txBody>
      </p:sp>
      <p:sp>
        <p:nvSpPr>
          <p:cNvPr id="44" name="Text 42"/>
          <p:cNvSpPr txBox="1"/>
          <p:nvPr/>
        </p:nvSpPr>
        <p:spPr>
          <a:xfrm>
            <a:off x="5248656" y="2962656"/>
            <a:ext cx="3419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0B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source: "knowledge_graph"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365760" y="3218688"/>
            <a:ext cx="2816352" cy="512064"/>
          </a:xfrm>
          <a:prstGeom prst="roundRect">
            <a:avLst>
              <a:gd name="adj" fmla="val 14286"/>
            </a:avLst>
          </a:prstGeom>
          <a:solidFill>
            <a:srgbClr val="F2FBF8"/>
          </a:solidFill>
          <a:ln w="12700">
            <a:solidFill>
              <a:srgbClr val="A8DAC8"/>
            </a:solidFill>
            <a:prstDash val="solid"/>
          </a:ln>
          <a:effectLst>
            <a:outerShdw sx="100000" sy="100000" kx="0" ky="0" algn="bl" rotWithShape="0" blurRad="63500" dist="25400" dir="5400000">
              <a:srgbClr val="C4A8E0">
                <a:alpha val="10000"/>
              </a:srgbClr>
            </a:outerShdw>
          </a:effectLst>
        </p:spPr>
      </p:sp>
      <p:sp>
        <p:nvSpPr>
          <p:cNvPr id="46" name="Text 44"/>
          <p:cNvSpPr txBox="1"/>
          <p:nvPr/>
        </p:nvSpPr>
        <p:spPr>
          <a:xfrm>
            <a:off x="475488" y="3291840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</a:rPr>
              <a:t>Zero new credentials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475488" y="3493008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5C3D6E"/>
                </a:solidFill>
              </a:rPr>
              <a:t>Uses existing GOOGLE_API_KEY / GEMINI_API_KEY. No GCP project, no billing account, no service account required.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3273552" y="3218688"/>
            <a:ext cx="2816352" cy="512064"/>
          </a:xfrm>
          <a:prstGeom prst="roundRect">
            <a:avLst>
              <a:gd name="adj" fmla="val 14286"/>
            </a:avLst>
          </a:prstGeom>
          <a:solidFill>
            <a:srgbClr val="F5EDF9"/>
          </a:solidFill>
          <a:ln w="12700">
            <a:solidFill>
              <a:srgbClr val="DDB8F0"/>
            </a:solidFill>
            <a:prstDash val="solid"/>
          </a:ln>
          <a:effectLst>
            <a:outerShdw sx="100000" sy="100000" kx="0" ky="0" algn="bl" rotWithShape="0" blurRad="63500" dist="25400" dir="5400000">
              <a:srgbClr val="C4A8E0">
                <a:alpha val="10000"/>
              </a:srgbClr>
            </a:outerShdw>
          </a:effectLst>
        </p:spPr>
      </p:sp>
      <p:sp>
        <p:nvSpPr>
          <p:cNvPr id="49" name="Text 47"/>
          <p:cNvSpPr txBox="1"/>
          <p:nvPr/>
        </p:nvSpPr>
        <p:spPr>
          <a:xfrm>
            <a:off x="3383280" y="3291840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026A8"/>
                </a:solidFill>
              </a:rPr>
              <a:t>Free — 100K queries/day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3383280" y="3493008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5C3D6E"/>
                </a:solidFill>
              </a:rPr>
              <a:t>Knowledge Graph Search API has a 100K requests/day free tier. Each classify call makes ≤ 3 KG lookups.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6181344" y="3218688"/>
            <a:ext cx="2816352" cy="512064"/>
          </a:xfrm>
          <a:prstGeom prst="roundRect">
            <a:avLst>
              <a:gd name="adj" fmla="val 14286"/>
            </a:avLst>
          </a:prstGeom>
          <a:solidFill>
            <a:srgbClr val="FFF4EE"/>
          </a:solidFill>
          <a:ln w="12700">
            <a:solidFill>
              <a:srgbClr val="F5D8B8"/>
            </a:solidFill>
            <a:prstDash val="solid"/>
          </a:ln>
          <a:effectLst>
            <a:outerShdw sx="100000" sy="100000" kx="0" ky="0" algn="bl" rotWithShape="0" blurRad="63500" dist="25400" dir="5400000">
              <a:srgbClr val="C4A8E0">
                <a:alpha val="10000"/>
              </a:srgbClr>
            </a:outerShdw>
          </a:effectLst>
        </p:spPr>
      </p:sp>
      <p:sp>
        <p:nvSpPr>
          <p:cNvPr id="52" name="Text 50"/>
          <p:cNvSpPr txBox="1"/>
          <p:nvPr/>
        </p:nvSpPr>
        <p:spPr>
          <a:xfrm>
            <a:off x="6291072" y="3291840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6C38"/>
                </a:solidFill>
              </a:rPr>
              <a:t>Thread-safe async</a:t>
            </a:r>
            <a:endParaRPr lang="en-US" sz="900" dirty="0"/>
          </a:p>
        </p:txBody>
      </p:sp>
      <p:sp>
        <p:nvSpPr>
          <p:cNvPr id="53" name="Text 51"/>
          <p:cNvSpPr txBox="1"/>
          <p:nvPr/>
        </p:nvSpPr>
        <p:spPr>
          <a:xfrm>
            <a:off x="6291072" y="3493008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5C3D6E"/>
                </a:solidFill>
              </a:rPr>
              <a:t>Sync urllib call runs in asyncio thread-pool executor — never blocks the event loop or other Gemini calls.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0FC"/>
          </a:solidFill>
          <a:ln w="12700">
            <a:solidFill>
              <a:srgbClr val="F7F0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603504"/>
            <a:ext cx="8595360" cy="4315968"/>
          </a:xfrm>
          <a:prstGeom prst="roundRect">
            <a:avLst>
              <a:gd name="adj" fmla="val 2119"/>
            </a:avLst>
          </a:prstGeom>
          <a:solidFill>
            <a:srgbClr val="FFFFFF"/>
          </a:solidFill>
          <a:ln w="12700">
            <a:solidFill>
              <a:srgbClr val="DECCF2"/>
            </a:solidFill>
            <a:prstDash val="solid"/>
          </a:ln>
          <a:effectLst>
            <a:outerShdw sx="100000" sy="100000" kx="0" ky="0" algn="bl" rotWithShape="0" blurRad="101600" dist="25400" dir="5400000">
              <a:srgbClr val="C0A0DC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1480" y="192024"/>
            <a:ext cx="64008" cy="64008"/>
          </a:xfrm>
          <a:prstGeom prst="ellipse">
            <a:avLst/>
          </a:prstGeom>
          <a:solidFill>
            <a:srgbClr val="C45FA0"/>
          </a:solidFill>
          <a:ln w="12700">
            <a:solidFill>
              <a:srgbClr val="C45F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28016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10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Graph Enrichment — Before vs After semantic_attributes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749808"/>
            <a:ext cx="8449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8A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Example: BBW-C001  Mahogany Teakwood 3-Wick Candle  (category: candles, fragrance_family: woody, scent_notes: mahogany, teakwood, dark oak)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4114800" cy="3547872"/>
          </a:xfrm>
          <a:prstGeom prst="roundRect">
            <a:avLst>
              <a:gd name="adj" fmla="val 2062"/>
            </a:avLst>
          </a:prstGeom>
          <a:solidFill>
            <a:srgbClr val="FFF0EC"/>
          </a:solidFill>
          <a:ln w="12700">
            <a:solidFill>
              <a:srgbClr val="F5C8B8"/>
            </a:solidFill>
            <a:prstDash val="solid"/>
          </a:ln>
          <a:effectLst>
            <a:outerShdw sx="100000" sy="100000" kx="0" ky="0" algn="bl" rotWithShape="0" blurRad="63500" dist="25400" dir="5400000">
              <a:srgbClr val="C4A8E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38912" y="1078992"/>
            <a:ext cx="3968496" cy="237744"/>
          </a:xfrm>
          <a:prstGeom prst="roundRect">
            <a:avLst>
              <a:gd name="adj" fmla="val 19231"/>
            </a:avLst>
          </a:prstGeom>
          <a:solidFill>
            <a:srgbClr val="C0350A"/>
          </a:solidFill>
          <a:ln w="12700">
            <a:solidFill>
              <a:srgbClr val="C0350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12064" y="1097280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BEFORE  —  Gemini only  (source: "ai_generated")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38912" y="1389888"/>
            <a:ext cx="3968496" cy="3035808"/>
          </a:xfrm>
          <a:prstGeom prst="roundRect">
            <a:avLst>
              <a:gd name="adj" fmla="val 1506"/>
            </a:avLst>
          </a:prstGeom>
          <a:solidFill>
            <a:srgbClr val="1C1034"/>
          </a:solidFill>
          <a:ln w="12700">
            <a:solidFill>
              <a:srgbClr val="1C103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1463040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B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"semantic_attributes": [</a:t>
            </a:r>
            <a:endParaRPr lang="en-US" sz="7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1642262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B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"key": "fragrance_family",</a:t>
            </a:r>
            <a:endParaRPr lang="en-US" sz="7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1821485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B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"value": "woody",</a:t>
            </a:r>
            <a:endParaRPr lang="en-US" sz="7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2000707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B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"confidence": 0.9,</a:t>
            </a:r>
            <a:endParaRPr lang="en-US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2179930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0B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"source": "product_data" },</a:t>
            </a:r>
            <a:endParaRPr lang="en-US" sz="7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2359152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B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"key": "scent_intensity",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2538374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B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"value": "strong",</a:t>
            </a:r>
            <a:endParaRPr lang="en-US" sz="7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2717597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B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"confidence": 0.7,</a:t>
            </a:r>
            <a:endParaRPr lang="en-US" sz="7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2896819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0B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"source": "ai_generated" },</a:t>
            </a:r>
            <a:endParaRPr lang="en-US" sz="7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076042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B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"key": "occasion",</a:t>
            </a:r>
            <a:endParaRPr lang="en-US" sz="7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3255264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B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"value": "home decor",</a:t>
            </a:r>
            <a:endParaRPr lang="en-US" sz="7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3434486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B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"confidence": 0.85,</a:t>
            </a:r>
            <a:endParaRPr lang="en-US" sz="7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3613709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0B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"source": "ai_generated" }</a:t>
            </a:r>
            <a:endParaRPr lang="en-US" sz="7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3792931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B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}</a:t>
            </a:r>
            <a:endParaRPr lang="en-US" sz="7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3972154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4151376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 attributes — all AI-inferred</a:t>
            </a:r>
            <a:endParaRPr lang="en-US" sz="7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330598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 real-world anchor or verification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645152" y="1005840"/>
            <a:ext cx="4114800" cy="3547872"/>
          </a:xfrm>
          <a:prstGeom prst="roundRect">
            <a:avLst>
              <a:gd name="adj" fmla="val 2062"/>
            </a:avLst>
          </a:prstGeom>
          <a:solidFill>
            <a:srgbClr val="F0FBF0"/>
          </a:solidFill>
          <a:ln w="12700">
            <a:solidFill>
              <a:srgbClr val="A8D8A8"/>
            </a:solidFill>
            <a:prstDash val="solid"/>
          </a:ln>
          <a:effectLst>
            <a:outerShdw sx="100000" sy="100000" kx="0" ky="0" algn="bl" rotWithShape="0" blurRad="63500" dist="25400" dir="5400000">
              <a:srgbClr val="C4A8E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18304" y="1078992"/>
            <a:ext cx="3968496" cy="237744"/>
          </a:xfrm>
          <a:prstGeom prst="roundRect">
            <a:avLst>
              <a:gd name="adj" fmla="val 19231"/>
            </a:avLst>
          </a:prstGeom>
          <a:solidFill>
            <a:srgbClr val="1A7A40"/>
          </a:solidFill>
          <a:ln w="12700">
            <a:solidFill>
              <a:srgbClr val="1A7A4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791456" y="1097280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AFTER  —  Gemini + Knowledge Graph  (3 KG calls)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718304" y="1389888"/>
            <a:ext cx="3968496" cy="3035808"/>
          </a:xfrm>
          <a:prstGeom prst="roundRect">
            <a:avLst>
              <a:gd name="adj" fmla="val 1506"/>
            </a:avLst>
          </a:prstGeom>
          <a:solidFill>
            <a:srgbClr val="1C1034"/>
          </a:solidFill>
          <a:ln w="12700">
            <a:solidFill>
              <a:srgbClr val="1C103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828032" y="1463040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B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 (same 3 Gemini attributes above) ...</a:t>
            </a:r>
            <a:endParaRPr lang="en-US" sz="750" dirty="0"/>
          </a:p>
        </p:txBody>
      </p:sp>
      <p:sp>
        <p:nvSpPr>
          <p:cNvPr id="33" name="Text 31"/>
          <p:cNvSpPr txBox="1"/>
          <p:nvPr/>
        </p:nvSpPr>
        <p:spPr>
          <a:xfrm>
            <a:off x="4828032" y="1642262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34" name="Text 32"/>
          <p:cNvSpPr txBox="1"/>
          <p:nvPr/>
        </p:nvSpPr>
        <p:spPr>
          <a:xfrm>
            <a:off x="4828032" y="1821485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E7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+ KG: product title "Mahogany Teakwood 3-Wick"</a:t>
            </a:r>
            <a:endParaRPr lang="en-US" sz="750" dirty="0"/>
          </a:p>
        </p:txBody>
      </p:sp>
      <p:sp>
        <p:nvSpPr>
          <p:cNvPr id="35" name="Text 33"/>
          <p:cNvSpPr txBox="1"/>
          <p:nvPr/>
        </p:nvSpPr>
        <p:spPr>
          <a:xfrm>
            <a:off x="4828032" y="2000707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B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"key": "kg_entity:mahogany_teakwood_3-wick...",</a:t>
            </a:r>
            <a:endParaRPr lang="en-US" sz="750" dirty="0"/>
          </a:p>
        </p:txBody>
      </p:sp>
      <p:sp>
        <p:nvSpPr>
          <p:cNvPr id="36" name="Text 34"/>
          <p:cNvSpPr txBox="1"/>
          <p:nvPr/>
        </p:nvSpPr>
        <p:spPr>
          <a:xfrm>
            <a:off x="4828032" y="2179930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B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"value": "Teak",</a:t>
            </a:r>
            <a:endParaRPr lang="en-US" sz="750" dirty="0"/>
          </a:p>
        </p:txBody>
      </p:sp>
      <p:sp>
        <p:nvSpPr>
          <p:cNvPr id="37" name="Text 35"/>
          <p:cNvSpPr txBox="1"/>
          <p:nvPr/>
        </p:nvSpPr>
        <p:spPr>
          <a:xfrm>
            <a:off x="4828032" y="2359152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B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"confidence": 0.9,</a:t>
            </a:r>
            <a:endParaRPr lang="en-US" sz="750" dirty="0"/>
          </a:p>
        </p:txBody>
      </p:sp>
      <p:sp>
        <p:nvSpPr>
          <p:cNvPr id="38" name="Text 36"/>
          <p:cNvSpPr txBox="1"/>
          <p:nvPr/>
        </p:nvSpPr>
        <p:spPr>
          <a:xfrm>
            <a:off x="4828032" y="2538374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D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"source": "knowledge_graph" },</a:t>
            </a:r>
            <a:endParaRPr lang="en-US" sz="750" dirty="0"/>
          </a:p>
        </p:txBody>
      </p:sp>
      <p:sp>
        <p:nvSpPr>
          <p:cNvPr id="39" name="Text 37"/>
          <p:cNvSpPr txBox="1"/>
          <p:nvPr/>
        </p:nvSpPr>
        <p:spPr>
          <a:xfrm>
            <a:off x="4828032" y="2717597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B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"key": "kg_description:mahogany_teakwood...",</a:t>
            </a:r>
            <a:endParaRPr lang="en-US" sz="750" dirty="0"/>
          </a:p>
        </p:txBody>
      </p:sp>
      <p:sp>
        <p:nvSpPr>
          <p:cNvPr id="40" name="Text 38"/>
          <p:cNvSpPr txBox="1"/>
          <p:nvPr/>
        </p:nvSpPr>
        <p:spPr>
          <a:xfrm>
            <a:off x="4828032" y="2896819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B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"value": "Tropical hardwood tree",</a:t>
            </a:r>
            <a:endParaRPr lang="en-US" sz="750" dirty="0"/>
          </a:p>
        </p:txBody>
      </p:sp>
      <p:sp>
        <p:nvSpPr>
          <p:cNvPr id="41" name="Text 39"/>
          <p:cNvSpPr txBox="1"/>
          <p:nvPr/>
        </p:nvSpPr>
        <p:spPr>
          <a:xfrm>
            <a:off x="4828032" y="3076042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E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"confidence": 1.0,</a:t>
            </a:r>
            <a:endParaRPr lang="en-US" sz="750" dirty="0"/>
          </a:p>
        </p:txBody>
      </p:sp>
      <p:sp>
        <p:nvSpPr>
          <p:cNvPr id="42" name="Text 40"/>
          <p:cNvSpPr txBox="1"/>
          <p:nvPr/>
        </p:nvSpPr>
        <p:spPr>
          <a:xfrm>
            <a:off x="4828032" y="3255264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D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"source": "knowledge_graph" },</a:t>
            </a:r>
            <a:endParaRPr lang="en-US" sz="750" dirty="0"/>
          </a:p>
        </p:txBody>
      </p:sp>
      <p:sp>
        <p:nvSpPr>
          <p:cNvPr id="43" name="Text 41"/>
          <p:cNvSpPr txBox="1"/>
          <p:nvPr/>
        </p:nvSpPr>
        <p:spPr>
          <a:xfrm>
            <a:off x="4828032" y="3434486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B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"key": "kg_url:mahogany_teakwood...",</a:t>
            </a:r>
            <a:endParaRPr lang="en-US" sz="750" dirty="0"/>
          </a:p>
        </p:txBody>
      </p:sp>
      <p:sp>
        <p:nvSpPr>
          <p:cNvPr id="44" name="Text 42"/>
          <p:cNvSpPr txBox="1"/>
          <p:nvPr/>
        </p:nvSpPr>
        <p:spPr>
          <a:xfrm>
            <a:off x="4828032" y="3613709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B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"value": "https://en.wikipedia.org/wiki/Teak",</a:t>
            </a:r>
            <a:endParaRPr lang="en-US" sz="750" dirty="0"/>
          </a:p>
        </p:txBody>
      </p:sp>
      <p:sp>
        <p:nvSpPr>
          <p:cNvPr id="45" name="Text 43"/>
          <p:cNvSpPr txBox="1"/>
          <p:nvPr/>
        </p:nvSpPr>
        <p:spPr>
          <a:xfrm>
            <a:off x="4828032" y="3792931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E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"confidence": 1.0,</a:t>
            </a:r>
            <a:endParaRPr lang="en-US" sz="750" dirty="0"/>
          </a:p>
        </p:txBody>
      </p:sp>
      <p:sp>
        <p:nvSpPr>
          <p:cNvPr id="46" name="Text 44"/>
          <p:cNvSpPr txBox="1"/>
          <p:nvPr/>
        </p:nvSpPr>
        <p:spPr>
          <a:xfrm>
            <a:off x="4828032" y="3972154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D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"source": "knowledge_graph" },</a:t>
            </a:r>
            <a:endParaRPr lang="en-US" sz="750" dirty="0"/>
          </a:p>
        </p:txBody>
      </p:sp>
      <p:sp>
        <p:nvSpPr>
          <p:cNvPr id="47" name="Text 45"/>
          <p:cNvSpPr txBox="1"/>
          <p:nvPr/>
        </p:nvSpPr>
        <p:spPr>
          <a:xfrm>
            <a:off x="4828032" y="4151376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E7A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+ KG: scent note "mahogany" → entity "Mahogany"</a:t>
            </a:r>
            <a:endParaRPr lang="en-US" sz="750" dirty="0"/>
          </a:p>
        </p:txBody>
      </p:sp>
      <p:sp>
        <p:nvSpPr>
          <p:cNvPr id="48" name="Text 46"/>
          <p:cNvSpPr txBox="1"/>
          <p:nvPr/>
        </p:nvSpPr>
        <p:spPr>
          <a:xfrm>
            <a:off x="4828032" y="4330598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B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"key": "kg_entity:mahogany", "value": "Mahogany",</a:t>
            </a:r>
            <a:endParaRPr lang="en-US" sz="750" dirty="0"/>
          </a:p>
        </p:txBody>
      </p:sp>
      <p:sp>
        <p:nvSpPr>
          <p:cNvPr id="49" name="Text 47"/>
          <p:cNvSpPr txBox="1"/>
          <p:nvPr/>
        </p:nvSpPr>
        <p:spPr>
          <a:xfrm>
            <a:off x="4828032" y="4509821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DE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"source": "knowledge_graph" } ]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365760" y="4626864"/>
            <a:ext cx="8449056" cy="329184"/>
          </a:xfrm>
          <a:prstGeom prst="roundRect">
            <a:avLst>
              <a:gd name="adj" fmla="val 13889"/>
            </a:avLst>
          </a:prstGeom>
          <a:solidFill>
            <a:srgbClr val="1C1034"/>
          </a:solidFill>
          <a:ln w="12700">
            <a:solidFill>
              <a:srgbClr val="1C1034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12064" y="470001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BEE8"/>
                </a:solidFill>
              </a:rPr>
              <a:t>Value: every classify result now carries a verifiable real-world anchor — Wikipedia URL, canonical name, entity type — distinguishable by source="knowledge_graph" for downstream filtering, auditing, or search indexing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1034"/>
          </a:solidFill>
          <a:ln w="12700">
            <a:solidFill>
              <a:srgbClr val="1C103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1737360"/>
            <a:ext cx="4572000" cy="4572000"/>
          </a:xfrm>
          <a:prstGeom prst="ellipse">
            <a:avLst/>
          </a:prstGeom>
          <a:solidFill>
            <a:srgbClr val="C45FA0">
              <a:alpha val="9000"/>
            </a:srgbClr>
          </a:solidFill>
          <a:ln w="12700">
            <a:solidFill>
              <a:srgbClr val="C45F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2926080"/>
            <a:ext cx="3657600" cy="3657600"/>
          </a:xfrm>
          <a:prstGeom prst="ellipse">
            <a:avLst/>
          </a:prstGeom>
          <a:solidFill>
            <a:srgbClr val="DC6C38">
              <a:alpha val="11000"/>
            </a:srgbClr>
          </a:solidFill>
          <a:ln w="12700">
            <a:solidFill>
              <a:srgbClr val="DC6C3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6858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It Live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984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5FA0"/>
                </a:solidFill>
              </a:rPr>
              <a:t>gemini-merchant-web-production.up.railway.app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645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BEE8"/>
                </a:solidFill>
              </a:rPr>
              <a:t>Navigate to the Merchandising tab → select a BBW product → run Enrich / SEO / Geo / Classify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1480" y="2103120"/>
            <a:ext cx="3913632" cy="1298448"/>
          </a:xfrm>
          <a:prstGeom prst="roundRect">
            <a:avLst>
              <a:gd name="adj" fmla="val 5634"/>
            </a:avLst>
          </a:prstGeom>
          <a:solidFill>
            <a:srgbClr val="2D1850"/>
          </a:solidFill>
          <a:ln w="12700">
            <a:solidFill>
              <a:srgbClr val="4A2A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9496" y="2231136"/>
            <a:ext cx="329184" cy="329184"/>
          </a:xfrm>
          <a:prstGeom prst="ellipse">
            <a:avLst/>
          </a:prstGeom>
          <a:solidFill>
            <a:srgbClr val="C45FA0"/>
          </a:solidFill>
          <a:ln w="12700">
            <a:solidFill>
              <a:srgbClr val="C45FA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9496" y="22311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2249424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Stage + Apply Changes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39496" y="26060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0BEE8"/>
                </a:solidFill>
              </a:rPr>
              <a:t>Add auto_stage=True to enrich_product to write enriched content directly back to SFCC via stage_listing_update.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26280" y="2103120"/>
            <a:ext cx="3913632" cy="1298448"/>
          </a:xfrm>
          <a:prstGeom prst="roundRect">
            <a:avLst>
              <a:gd name="adj" fmla="val 5634"/>
            </a:avLst>
          </a:prstGeom>
          <a:solidFill>
            <a:srgbClr val="2D1850"/>
          </a:solidFill>
          <a:ln w="12700">
            <a:solidFill>
              <a:srgbClr val="4A2A7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54296" y="2231136"/>
            <a:ext cx="329184" cy="329184"/>
          </a:xfrm>
          <a:prstGeom prst="ellipse">
            <a:avLst/>
          </a:prstGeom>
          <a:solidFill>
            <a:srgbClr val="DC6C38"/>
          </a:solidFill>
          <a:ln w="12700">
            <a:solidFill>
              <a:srgbClr val="DC6C3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54296" y="22311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074920" y="2249424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Bulk Catalog Enrichment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654296" y="26060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0BEE8"/>
                </a:solidFill>
              </a:rPr>
              <a:t>POST /bulk with limit=5 enriches up to 5 products in one call. Extend for full catalog batch jobs with async queuing.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3566160"/>
            <a:ext cx="3913632" cy="1298448"/>
          </a:xfrm>
          <a:prstGeom prst="roundRect">
            <a:avLst>
              <a:gd name="adj" fmla="val 5634"/>
            </a:avLst>
          </a:prstGeom>
          <a:solidFill>
            <a:srgbClr val="2D1850"/>
          </a:solidFill>
          <a:ln w="12700">
            <a:solidFill>
              <a:srgbClr val="4A2A7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9496" y="3694176"/>
            <a:ext cx="329184" cy="3291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39496" y="3694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960120" y="3712464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Seasonal Campaign Flows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39496" y="40690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0BEE8"/>
                </a:solidFill>
              </a:rPr>
              <a:t>Combine geo + seo + enrich in a single agent skill to auto-generate a full holiday campaign package per product.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26280" y="3566160"/>
            <a:ext cx="3913632" cy="1298448"/>
          </a:xfrm>
          <a:prstGeom prst="roundRect">
            <a:avLst>
              <a:gd name="adj" fmla="val 5634"/>
            </a:avLst>
          </a:prstGeom>
          <a:solidFill>
            <a:srgbClr val="2D1850"/>
          </a:solidFill>
          <a:ln w="12700">
            <a:solidFill>
              <a:srgbClr val="4A2A7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54296" y="3694176"/>
            <a:ext cx="329184" cy="329184"/>
          </a:xfrm>
          <a:prstGeom prst="ellipse">
            <a:avLst/>
          </a:prstGeom>
          <a:solidFill>
            <a:srgbClr val="7026A8"/>
          </a:solidFill>
          <a:ln w="12700">
            <a:solidFill>
              <a:srgbClr val="7026A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654296" y="3694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5074920" y="3712464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Connect Live SFCC Catalog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654296" y="40690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0BEE8"/>
                </a:solidFill>
              </a:rPr>
              <a:t>Remove BBW fixture fallback so all 4 tools run against real SFCC products. Same tools, no code changes needed.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2026-09-28T15:09:08Z</dcterms:created>
  <dcterms:modified xsi:type="dcterms:W3CDTF">2026-09-28T15:09:08Z</dcterms:modified>
</cp:coreProperties>
</file>