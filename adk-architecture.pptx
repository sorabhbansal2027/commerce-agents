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overview. Four layers: browser (left), FastAPI (outer shell), ADK Runner (purple, the core), Gemini Flash (at bottom, shared). The two agents live inside ADK Runner. Callbacks (before_model_callback, after_tool_callback) are on both agents — they fire on every model call and tool execution respectively. session.state persists across turns; prime_session() pre-fills it at login.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 flow. Every turn follows this exact sequence: (1) POST /chat received; (2) before_model_callback always fires first — date + store injected into system instruction; (3) Gemini called with full context; (4) model returns branch A or B; (5) SSE stream emitted back. The key ADK insight: callbacks are framework hooks that wrap every model call and tool call automatically — the developer writes them once and they apply to all agents in the hierarchy.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Comparison slide. Ten dimensions, side by side. Starred cells show a framework advantage. Claude merchant agent wins on: write safety (four hard gates), skills system (six structured flows), dedicated analysis delegate, and cross-session memory. Gemini ADK wins on: framework-native session state, automatic sub-agent routing (zero boilerplate), before/after callbacks (no manual prompt building each turn), and Knowledge Graph grounding. Neither is universally better — choose based on safety requirements and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guidance. Not a verdict — both agents do the same job (read SFCC, stage writes, stream to the browser). The choice is which ecosystem and which trade-offs fit the deployment. Claude wins on audit-grade write safety and structured skill governance. Gemini ADK wins on framework-managed state and zero-boilerplate multi-agent wiring. The bottom callout is critical: both share the same backend and staging contract, so switching is feasible without a ground-up rewrite.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8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91440"/>
            <a:ext cx="1161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Merchant App on Railway — ADK Architecture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74320" y="566928"/>
            <a:ext cx="1161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gemini-merchant-api-production.up.railway.app  ·  Google ADK v2.10.0  ·  Gemini Flash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28600" y="859536"/>
            <a:ext cx="11704320" cy="5394960"/>
          </a:xfrm>
          <a:prstGeom prst="roundRect">
            <a:avLst>
              <a:gd name="adj" fmla="val 2712"/>
            </a:avLst>
          </a:prstGeom>
          <a:solidFill>
            <a:srgbClr val="1A3050"/>
          </a:solidFill>
          <a:ln w="25400">
            <a:solidFill>
              <a:srgbClr val="2D7D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8778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  Railway — production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" y="1188720"/>
            <a:ext cx="2377440" cy="4892040"/>
          </a:xfrm>
          <a:prstGeom prst="roundRect">
            <a:avLst>
              <a:gd name="adj" fmla="val 3846"/>
            </a:avLst>
          </a:prstGeom>
          <a:solidFill>
            <a:srgbClr val="0E2038"/>
          </a:solidFill>
          <a:ln w="25400">
            <a:solidFill>
              <a:srgbClr val="4A8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4048" y="12070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merchant-web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84048" y="14813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 ·  port 3000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12064" y="1773936"/>
            <a:ext cx="2121408" cy="713232"/>
          </a:xfrm>
          <a:prstGeom prst="roundRect">
            <a:avLst>
              <a:gd name="adj" fmla="val 8974"/>
            </a:avLst>
          </a:prstGeom>
          <a:solidFill>
            <a:srgbClr val="162840"/>
          </a:solidFill>
          <a:ln w="25400">
            <a:solidFill>
              <a:srgbClr val="3A609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1828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121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&amp; orders overview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12064" y="2615184"/>
            <a:ext cx="2121408" cy="713232"/>
          </a:xfrm>
          <a:prstGeom prst="roundRect">
            <a:avLst>
              <a:gd name="adj" fmla="val 8974"/>
            </a:avLst>
          </a:prstGeom>
          <a:solidFill>
            <a:srgbClr val="162840"/>
          </a:solidFill>
          <a:ln w="25400">
            <a:solidFill>
              <a:srgbClr val="3A609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26700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MerchandisingView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296265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/ SEO / classify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12064" y="3456432"/>
            <a:ext cx="2121408" cy="713232"/>
          </a:xfrm>
          <a:prstGeom prst="roundRect">
            <a:avLst>
              <a:gd name="adj" fmla="val 8974"/>
            </a:avLst>
          </a:prstGeom>
          <a:solidFill>
            <a:srgbClr val="162840"/>
          </a:solidFill>
          <a:ln w="25400">
            <a:solidFill>
              <a:srgbClr val="3A609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35112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AssistantPanel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80390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interface + SSE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2064" y="4297680"/>
            <a:ext cx="2121408" cy="713232"/>
          </a:xfrm>
          <a:prstGeom prst="roundRect">
            <a:avLst>
              <a:gd name="adj" fmla="val 8974"/>
            </a:avLst>
          </a:prstGeom>
          <a:solidFill>
            <a:srgbClr val="162840"/>
          </a:solidFill>
          <a:ln w="25400">
            <a:solidFill>
              <a:srgbClr val="3A609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43525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AgentApi.chatStream()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6451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/chat + readEventStream()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12064" y="5138928"/>
            <a:ext cx="2121408" cy="713232"/>
          </a:xfrm>
          <a:prstGeom prst="roundRect">
            <a:avLst>
              <a:gd name="adj" fmla="val 8974"/>
            </a:avLst>
          </a:prstGeom>
          <a:solidFill>
            <a:srgbClr val="162840"/>
          </a:solidFill>
          <a:ln w="25400">
            <a:solidFill>
              <a:srgbClr val="3A609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51937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useSession() / useMerchantChat()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486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hooks: state, refresh, actOnChange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761488" y="4059936"/>
            <a:ext cx="530352" cy="9144"/>
          </a:xfrm>
          <a:prstGeom prst="line">
            <a:avLst/>
          </a:prstGeom>
          <a:noFill/>
          <a:ln w="31750">
            <a:solidFill>
              <a:srgbClr val="E0703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2761488" y="3877056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E07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 →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61488" y="4370832"/>
            <a:ext cx="530352" cy="9144"/>
          </a:xfrm>
          <a:prstGeom prst="line">
            <a:avLst/>
          </a:prstGeom>
          <a:noFill/>
          <a:ln w="31750">
            <a:solidFill>
              <a:srgbClr val="2D7DD2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2761488" y="4187952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POST /chat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91840" y="1188720"/>
            <a:ext cx="8412480" cy="4892040"/>
          </a:xfrm>
          <a:prstGeom prst="roundRect">
            <a:avLst>
              <a:gd name="adj" fmla="val 1869"/>
            </a:avLst>
          </a:prstGeom>
          <a:solidFill>
            <a:srgbClr val="100822"/>
          </a:solidFill>
          <a:ln w="25400">
            <a:solidFill>
              <a:srgbClr val="804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91840" y="120700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804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merchant-api  (FastAPI · Uvicorn · port 8000)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438144" y="1536192"/>
            <a:ext cx="8119872" cy="347472"/>
          </a:xfrm>
          <a:prstGeom prst="roundRect">
            <a:avLst>
              <a:gd name="adj" fmla="val 15789"/>
            </a:avLst>
          </a:prstGeom>
          <a:solidFill>
            <a:srgbClr val="1A0E38"/>
          </a:solidFill>
          <a:ln w="25400">
            <a:solidFill>
              <a:srgbClr val="5A38A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474720" y="153619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/session  ·  /chat  ·  /overview  ·  /alerts  ·  /merchandising/*  ·  /briefing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438144" y="1956816"/>
            <a:ext cx="8119872" cy="3968496"/>
          </a:xfrm>
          <a:prstGeom prst="roundRect">
            <a:avLst>
              <a:gd name="adj" fmla="val 2304"/>
            </a:avLst>
          </a:prstGeom>
          <a:solidFill>
            <a:srgbClr val="180A3A"/>
          </a:solidFill>
          <a:ln w="25400">
            <a:solidFill>
              <a:srgbClr val="8040C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38144" y="197510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804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Runner  +  InMemorySessionService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595360" y="1956816"/>
            <a:ext cx="2871216" cy="640080"/>
          </a:xfrm>
          <a:prstGeom prst="roundRect">
            <a:avLst>
              <a:gd name="adj" fmla="val 11429"/>
            </a:avLst>
          </a:prstGeom>
          <a:solidFill>
            <a:srgbClr val="2A1808"/>
          </a:solidFill>
          <a:ln w="25400">
            <a:solidFill>
              <a:srgbClr val="E0703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668512" y="1975104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E07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session.state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668512" y="2231136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store_name · last_snapshot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last_alerts_count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595360" y="2670048"/>
            <a:ext cx="2871216" cy="640080"/>
          </a:xfrm>
          <a:prstGeom prst="roundRect">
            <a:avLst>
              <a:gd name="adj" fmla="val 11429"/>
            </a:avLst>
          </a:prstGeom>
          <a:solidFill>
            <a:srgbClr val="081E10"/>
          </a:solidFill>
          <a:ln w="25400">
            <a:solidFill>
              <a:srgbClr val="38A06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668512" y="2688336"/>
            <a:ext cx="2724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38A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prime_session()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8668512" y="2944368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at login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GET /briefing (instant)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584448" y="2304288"/>
            <a:ext cx="4846320" cy="548640"/>
          </a:xfrm>
          <a:prstGeom prst="roundRect">
            <a:avLst>
              <a:gd name="adj" fmla="val 11667"/>
            </a:avLst>
          </a:prstGeom>
          <a:solidFill>
            <a:srgbClr val="082830"/>
          </a:solidFill>
          <a:ln w="25400">
            <a:solidFill>
              <a:srgbClr val="02A0B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657600" y="23225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2A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before_model_callback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657600" y="2578608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injects today's date + store_name into system_instruction on EVERY model call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584448" y="2944368"/>
            <a:ext cx="4846320" cy="548640"/>
          </a:xfrm>
          <a:prstGeom prst="roundRect">
            <a:avLst>
              <a:gd name="adj" fmla="val 11667"/>
            </a:avLst>
          </a:prstGeom>
          <a:solidFill>
            <a:srgbClr val="082830"/>
          </a:solidFill>
          <a:ln w="25400">
            <a:solidFill>
              <a:srgbClr val="02A0B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657600" y="29626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2A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after_tool_callback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3657600" y="3218688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caches snapshot/alerts in session.state · trims arrays &gt; 20 items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584448" y="3584448"/>
            <a:ext cx="2231136" cy="2176272"/>
          </a:xfrm>
          <a:prstGeom prst="roundRect">
            <a:avLst>
              <a:gd name="adj" fmla="val 3361"/>
            </a:avLst>
          </a:prstGeom>
          <a:solidFill>
            <a:srgbClr val="1C0A40"/>
          </a:solidFill>
          <a:ln w="25400">
            <a:solidFill>
              <a:srgbClr val="8040C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621024" y="3602736"/>
            <a:ext cx="2157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804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Agent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694176" y="3913632"/>
            <a:ext cx="2029968" cy="237744"/>
          </a:xfrm>
          <a:prstGeom prst="roundRect">
            <a:avLst>
              <a:gd name="adj" fmla="val 15385"/>
            </a:avLst>
          </a:prstGeom>
          <a:solidFill>
            <a:srgbClr val="2A1250"/>
          </a:solidFill>
          <a:ln w="25400">
            <a:solidFill>
              <a:srgbClr val="6A40A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730752" y="391363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C0A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get_business_snapshot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94176" y="4187952"/>
            <a:ext cx="2029968" cy="237744"/>
          </a:xfrm>
          <a:prstGeom prst="roundRect">
            <a:avLst>
              <a:gd name="adj" fmla="val 15385"/>
            </a:avLst>
          </a:prstGeom>
          <a:solidFill>
            <a:srgbClr val="2A1250"/>
          </a:solidFill>
          <a:ln w="25400">
            <a:solidFill>
              <a:srgbClr val="6A40A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730752" y="41879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C0A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get_inventory_alerts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694176" y="4462272"/>
            <a:ext cx="2029968" cy="237744"/>
          </a:xfrm>
          <a:prstGeom prst="roundRect">
            <a:avLst>
              <a:gd name="adj" fmla="val 15385"/>
            </a:avLst>
          </a:prstGeom>
          <a:solidFill>
            <a:srgbClr val="2A1250"/>
          </a:solidFill>
          <a:ln w="25400">
            <a:solidFill>
              <a:srgbClr val="6A40A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730752" y="446227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C0A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get_order_issues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694176" y="4736592"/>
            <a:ext cx="2029968" cy="237744"/>
          </a:xfrm>
          <a:prstGeom prst="roundRect">
            <a:avLst>
              <a:gd name="adj" fmla="val 15385"/>
            </a:avLst>
          </a:prstGeom>
          <a:solidFill>
            <a:srgbClr val="2A1250"/>
          </a:solidFill>
          <a:ln w="25400">
            <a:solidFill>
              <a:srgbClr val="6A40A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730752" y="473659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C0A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/ get_listing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694176" y="5010912"/>
            <a:ext cx="2029968" cy="237744"/>
          </a:xfrm>
          <a:prstGeom prst="roundRect">
            <a:avLst>
              <a:gd name="adj" fmla="val 15385"/>
            </a:avLst>
          </a:prstGeom>
          <a:solidFill>
            <a:srgbClr val="2A1250"/>
          </a:solidFill>
          <a:ln w="25400">
            <a:solidFill>
              <a:srgbClr val="6A40A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3730752" y="501091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C0A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get_pending_changes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3694176" y="5285232"/>
            <a:ext cx="2029968" cy="237744"/>
          </a:xfrm>
          <a:prstGeom prst="roundRect">
            <a:avLst>
              <a:gd name="adj" fmla="val 15385"/>
            </a:avLst>
          </a:prstGeom>
          <a:solidFill>
            <a:srgbClr val="2A1250"/>
          </a:solidFill>
          <a:ln w="25400">
            <a:solidFill>
              <a:srgbClr val="6A40A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730752" y="528523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C0A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/ apply / discard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5815584" y="4663440"/>
            <a:ext cx="384048" cy="9144"/>
          </a:xfrm>
          <a:prstGeom prst="line">
            <a:avLst/>
          </a:prstGeom>
          <a:noFill/>
          <a:ln w="31750">
            <a:solidFill>
              <a:srgbClr val="02A0B0"/>
            </a:solidFill>
            <a:prstDash val="solid"/>
            <a:tailEnd type="triangle"/>
          </a:ln>
        </p:spPr>
      </p:sp>
      <p:sp>
        <p:nvSpPr>
          <p:cNvPr id="61" name="Text 59"/>
          <p:cNvSpPr txBox="1"/>
          <p:nvPr/>
        </p:nvSpPr>
        <p:spPr>
          <a:xfrm>
            <a:off x="5815584" y="448056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02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→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99632" y="3584448"/>
            <a:ext cx="2523744" cy="2176272"/>
          </a:xfrm>
          <a:prstGeom prst="roundRect">
            <a:avLst>
              <a:gd name="adj" fmla="val 3361"/>
            </a:avLst>
          </a:prstGeom>
          <a:solidFill>
            <a:srgbClr val="041820"/>
          </a:solidFill>
          <a:ln w="25400">
            <a:solidFill>
              <a:srgbClr val="02A0B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236208" y="3602736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2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MerchandisingAgent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6236208" y="3858768"/>
            <a:ext cx="2450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  ·  same callbacks ↑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6291072" y="4078224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082030"/>
          </a:solidFill>
          <a:ln w="25400">
            <a:solidFill>
              <a:srgbClr val="30888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327648" y="407822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0D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classify_product_ontology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291072" y="4334256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082030"/>
          </a:solidFill>
          <a:ln w="25400">
            <a:solidFill>
              <a:srgbClr val="30888A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327648" y="433425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0D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enrich_product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6291072" y="4590288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082030"/>
          </a:solidFill>
          <a:ln w="25400">
            <a:solidFill>
              <a:srgbClr val="30888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327648" y="4590288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0D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generate_seo_content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6291072" y="4846320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082030"/>
          </a:solidFill>
          <a:ln w="25400">
            <a:solidFill>
              <a:srgbClr val="30888A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327648" y="4846320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0D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generate_geo_content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6291072" y="5102352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082030"/>
          </a:solidFill>
          <a:ln w="25400">
            <a:solidFill>
              <a:srgbClr val="30888A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6327648" y="51023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0D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lookup_product_entities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6291072" y="5358384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082030"/>
          </a:solidFill>
          <a:ln w="25400">
            <a:solidFill>
              <a:srgbClr val="30888A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6327648" y="5358384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80D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stage_listing_update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3438144" y="5815584"/>
            <a:ext cx="8119872" cy="621792"/>
          </a:xfrm>
          <a:prstGeom prst="roundRect">
            <a:avLst>
              <a:gd name="adj" fmla="val 14706"/>
            </a:avLst>
          </a:prstGeom>
          <a:solidFill>
            <a:srgbClr val="28081A"/>
          </a:solidFill>
          <a:ln w="25400">
            <a:solidFill>
              <a:srgbClr val="D060A8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493008" y="58338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D06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Gemini Flash  (gemini-2.0-flash)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6766560" y="5833872"/>
            <a:ext cx="4663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by Orchestrator + MerchandisingAgent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function_call | transfer_to_agent | text response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4700016" y="5760720"/>
            <a:ext cx="9144" cy="54864"/>
          </a:xfrm>
          <a:prstGeom prst="line">
            <a:avLst/>
          </a:prstGeom>
          <a:noFill/>
          <a:ln w="31750">
            <a:solidFill>
              <a:srgbClr val="D060A8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7461504" y="5760720"/>
            <a:ext cx="9144" cy="54864"/>
          </a:xfrm>
          <a:prstGeom prst="line">
            <a:avLst/>
          </a:prstGeom>
          <a:noFill/>
          <a:ln w="31750">
            <a:solidFill>
              <a:srgbClr val="D060A8"/>
            </a:solidFill>
            <a:prstDash val="solid"/>
            <a:tailEnd type="triangle"/>
          </a:ln>
        </p:spPr>
      </p:sp>
      <p:sp>
        <p:nvSpPr>
          <p:cNvPr id="82" name="Text 80"/>
          <p:cNvSpPr txBox="1"/>
          <p:nvPr/>
        </p:nvSpPr>
        <p:spPr>
          <a:xfrm>
            <a:off x="274320" y="65105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Operator (browser)</a:t>
            </a:r>
            <a:endParaRPr lang="en-US" sz="950" dirty="0"/>
          </a:p>
        </p:txBody>
      </p:sp>
      <p:sp>
        <p:nvSpPr>
          <p:cNvPr id="83" name="Text 81"/>
          <p:cNvSpPr txBox="1"/>
          <p:nvPr/>
        </p:nvSpPr>
        <p:spPr>
          <a:xfrm>
            <a:off x="3328416" y="6510528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tool calls  →  SFCC (commercecloud.salesforce.com)  ·  Wikidata / Google Knowledge Graph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8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73152"/>
            <a:ext cx="11430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Message Flow — What Happens Inside ADK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12064"/>
            <a:ext cx="11430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operator sends a chat message, here is the exact sequence through the ADK framework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28600" y="987552"/>
            <a:ext cx="548640" cy="548640"/>
          </a:xfrm>
          <a:prstGeom prst="ellipse">
            <a:avLst/>
          </a:prstGeom>
          <a:solidFill>
            <a:srgbClr val="2D7DD2"/>
          </a:solidFill>
          <a:ln w="12700">
            <a:solidFill>
              <a:srgbClr val="2D7D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28600" y="987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</a:rPr>
              <a:t>1</a:t>
            </a:r>
            <a:endParaRPr lang="en-US" sz="1560" dirty="0"/>
          </a:p>
        </p:txBody>
      </p:sp>
      <p:sp>
        <p:nvSpPr>
          <p:cNvPr id="6" name="Shape 4"/>
          <p:cNvSpPr/>
          <p:nvPr/>
        </p:nvSpPr>
        <p:spPr>
          <a:xfrm>
            <a:off x="841248" y="859536"/>
            <a:ext cx="1463040" cy="292608"/>
          </a:xfrm>
          <a:prstGeom prst="roundRect">
            <a:avLst>
              <a:gd name="adj" fmla="val 25000"/>
            </a:avLst>
          </a:prstGeom>
          <a:solidFill>
            <a:srgbClr val="1A3050"/>
          </a:solidFill>
          <a:ln w="25400">
            <a:solidFill>
              <a:srgbClr val="2D7D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8595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2D7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1207008"/>
            <a:ext cx="10972800" cy="877824"/>
          </a:xfrm>
          <a:prstGeom prst="roundRect">
            <a:avLst>
              <a:gd name="adj" fmla="val 8333"/>
            </a:avLst>
          </a:prstGeom>
          <a:solidFill>
            <a:srgbClr val="0E1E34"/>
          </a:solidFill>
          <a:ln w="25400">
            <a:solidFill>
              <a:srgbClr val="2D7D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87552" y="126187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sends message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554480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→ AgentApi.chatStream() → POST /api/merchant/chat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validates X-Session-Id, creates StreamingResponse, calls Runner.run_async()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1536192"/>
            <a:ext cx="9144" cy="658368"/>
          </a:xfrm>
          <a:prstGeom prst="line">
            <a:avLst/>
          </a:prstGeom>
          <a:noFill/>
          <a:ln w="31750">
            <a:solidFill>
              <a:srgbClr val="4A607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28600" y="2377440"/>
            <a:ext cx="548640" cy="548640"/>
          </a:xfrm>
          <a:prstGeom prst="ellipse">
            <a:avLst/>
          </a:prstGeom>
          <a:solidFill>
            <a:srgbClr val="02A0B0"/>
          </a:solidFill>
          <a:ln w="12700">
            <a:solidFill>
              <a:srgbClr val="02A0B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86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</a:rPr>
              <a:t>2</a:t>
            </a:r>
            <a:endParaRPr lang="en-US" sz="1560" dirty="0"/>
          </a:p>
        </p:txBody>
      </p:sp>
      <p:sp>
        <p:nvSpPr>
          <p:cNvPr id="14" name="Shape 12"/>
          <p:cNvSpPr/>
          <p:nvPr/>
        </p:nvSpPr>
        <p:spPr>
          <a:xfrm>
            <a:off x="841248" y="2249424"/>
            <a:ext cx="1463040" cy="292608"/>
          </a:xfrm>
          <a:prstGeom prst="roundRect">
            <a:avLst>
              <a:gd name="adj" fmla="val 25000"/>
            </a:avLst>
          </a:prstGeom>
          <a:solidFill>
            <a:srgbClr val="1A3050"/>
          </a:solidFill>
          <a:ln w="25400">
            <a:solidFill>
              <a:srgbClr val="02A0B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" y="22494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02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Callback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41248" y="2596896"/>
            <a:ext cx="10972800" cy="877824"/>
          </a:xfrm>
          <a:prstGeom prst="roundRect">
            <a:avLst>
              <a:gd name="adj" fmla="val 8333"/>
            </a:avLst>
          </a:prstGeom>
          <a:solidFill>
            <a:srgbClr val="0E1E34"/>
          </a:solidFill>
          <a:ln w="25400">
            <a:solidFill>
              <a:srgbClr val="02A0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7552" y="265176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before_model_callback fires  (every turn)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294436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session.state["store_name"] and today's date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Appends to system_instruction: "[Context — Today: 2026-09-29 | Store: DreamHaus]"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926080"/>
            <a:ext cx="9144" cy="658368"/>
          </a:xfrm>
          <a:prstGeom prst="line">
            <a:avLst/>
          </a:prstGeom>
          <a:noFill/>
          <a:ln w="31750">
            <a:solidFill>
              <a:srgbClr val="4A607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" y="3767328"/>
            <a:ext cx="548640" cy="548640"/>
          </a:xfrm>
          <a:prstGeom prst="ellipse">
            <a:avLst/>
          </a:prstGeom>
          <a:solidFill>
            <a:srgbClr val="D060A8"/>
          </a:solidFill>
          <a:ln w="12700">
            <a:solidFill>
              <a:srgbClr val="D060A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8600" y="37673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</a:rPr>
              <a:t>3</a:t>
            </a:r>
            <a:endParaRPr lang="en-US" sz="1560" dirty="0"/>
          </a:p>
        </p:txBody>
      </p:sp>
      <p:sp>
        <p:nvSpPr>
          <p:cNvPr id="22" name="Shape 20"/>
          <p:cNvSpPr/>
          <p:nvPr/>
        </p:nvSpPr>
        <p:spPr>
          <a:xfrm>
            <a:off x="841248" y="3639312"/>
            <a:ext cx="1463040" cy="292608"/>
          </a:xfrm>
          <a:prstGeom prst="roundRect">
            <a:avLst>
              <a:gd name="adj" fmla="val 25000"/>
            </a:avLst>
          </a:prstGeom>
          <a:solidFill>
            <a:srgbClr val="1A3050"/>
          </a:solidFill>
          <a:ln w="25400">
            <a:solidFill>
              <a:srgbClr val="D060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" y="36393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D06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41248" y="3986784"/>
            <a:ext cx="10972800" cy="877824"/>
          </a:xfrm>
          <a:prstGeom prst="roundRect">
            <a:avLst>
              <a:gd name="adj" fmla="val 8333"/>
            </a:avLst>
          </a:prstGeom>
          <a:solidFill>
            <a:srgbClr val="0E1E34"/>
          </a:solidFill>
          <a:ln w="25400">
            <a:solidFill>
              <a:srgbClr val="D060A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7552" y="404164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model called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4334256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modified system_instruction + full conversation history + tool_declarations + transfer_to_merchandising_agent (auto-added by ADK)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returns: function_call  OR  transfer_to_merchandising_agent  OR  text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65760" y="4974336"/>
            <a:ext cx="11448288" cy="292608"/>
          </a:xfrm>
          <a:prstGeom prst="roundRect">
            <a:avLst>
              <a:gd name="adj" fmla="val 18750"/>
            </a:avLst>
          </a:prstGeom>
          <a:solidFill>
            <a:srgbClr val="1A2A40"/>
          </a:solidFill>
          <a:ln w="25400">
            <a:solidFill>
              <a:srgbClr val="3A5A7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02336" y="4974336"/>
            <a:ext cx="11375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decision  ▸  Branch A: business tool call  OR  Branch B: transfer to MerchandisingAgent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5340096"/>
            <a:ext cx="5303520" cy="1261872"/>
          </a:xfrm>
          <a:prstGeom prst="roundRect">
            <a:avLst>
              <a:gd name="adj" fmla="val 7246"/>
            </a:avLst>
          </a:prstGeom>
          <a:solidFill>
            <a:srgbClr val="1A0840"/>
          </a:solidFill>
          <a:ln w="25400">
            <a:solidFill>
              <a:srgbClr val="8040C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53949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804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A — Business Tool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687568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executes (e.g. get_inventory_alerts → SFCC)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after_tool_callback fires: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caches result in session.state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trims arrays &gt; 20 rows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108192" y="5340096"/>
            <a:ext cx="5669280" cy="1261872"/>
          </a:xfrm>
          <a:prstGeom prst="roundRect">
            <a:avLst>
              <a:gd name="adj" fmla="val 7246"/>
            </a:avLst>
          </a:prstGeom>
          <a:solidFill>
            <a:srgbClr val="041820"/>
          </a:solidFill>
          <a:ln w="25400">
            <a:solidFill>
              <a:srgbClr val="02A0B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54496" y="5394960"/>
            <a:ext cx="5376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2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B — MerchandisingAgent (sub-agent)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254496" y="5687568"/>
            <a:ext cx="53766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before_model_callback fires again (same injection)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call (merch agent context)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classify → enrich → seo / geo / lookup → stage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after_tool_callback: caches + trims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returned to Orchestrator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4334256"/>
            <a:ext cx="9144" cy="640080"/>
          </a:xfrm>
          <a:prstGeom prst="line">
            <a:avLst/>
          </a:prstGeom>
          <a:noFill/>
          <a:ln w="31750">
            <a:solidFill>
              <a:srgbClr val="4A607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02920" y="5971032"/>
            <a:ext cx="5239512" cy="9144"/>
          </a:xfrm>
          <a:prstGeom prst="line">
            <a:avLst/>
          </a:prstGeom>
          <a:noFill/>
          <a:ln w="31750">
            <a:solidFill>
              <a:srgbClr val="4A6070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806440" y="5971032"/>
            <a:ext cx="301752" cy="9144"/>
          </a:xfrm>
          <a:prstGeom prst="line">
            <a:avLst/>
          </a:prstGeom>
          <a:noFill/>
          <a:ln w="31750">
            <a:solidFill>
              <a:srgbClr val="4A607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228600" y="6784848"/>
            <a:ext cx="548640" cy="548640"/>
          </a:xfrm>
          <a:prstGeom prst="ellipse">
            <a:avLst/>
          </a:prstGeom>
          <a:solidFill>
            <a:srgbClr val="E07030"/>
          </a:solidFill>
          <a:ln w="12700">
            <a:solidFill>
              <a:srgbClr val="E0703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28600" y="6784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</a:rPr>
              <a:t>5</a:t>
            </a:r>
            <a:endParaRPr lang="en-US" sz="1560" dirty="0"/>
          </a:p>
        </p:txBody>
      </p:sp>
      <p:sp>
        <p:nvSpPr>
          <p:cNvPr id="40" name="Shape 38"/>
          <p:cNvSpPr/>
          <p:nvPr/>
        </p:nvSpPr>
        <p:spPr>
          <a:xfrm>
            <a:off x="502920" y="6601968"/>
            <a:ext cx="9144" cy="109728"/>
          </a:xfrm>
          <a:prstGeom prst="line">
            <a:avLst/>
          </a:prstGeom>
          <a:noFill/>
          <a:ln w="31750">
            <a:solidFill>
              <a:srgbClr val="4A6070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1248" y="6766560"/>
            <a:ext cx="1463040" cy="292608"/>
          </a:xfrm>
          <a:prstGeom prst="roundRect">
            <a:avLst>
              <a:gd name="adj" fmla="val 25000"/>
            </a:avLst>
          </a:prstGeom>
          <a:solidFill>
            <a:srgbClr val="1A3050"/>
          </a:solidFill>
          <a:ln w="25400">
            <a:solidFill>
              <a:srgbClr val="E0703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41248" y="67665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E07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41248" y="7114032"/>
            <a:ext cx="10972800" cy="713232"/>
          </a:xfrm>
          <a:prstGeom prst="roundRect">
            <a:avLst>
              <a:gd name="adj" fmla="val 10256"/>
            </a:avLst>
          </a:prstGeom>
          <a:solidFill>
            <a:srgbClr val="0E1E34"/>
          </a:solidFill>
          <a:ln w="25400">
            <a:solidFill>
              <a:srgbClr val="E0703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87552" y="7168896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generates final text → streamed back as SSE events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987552" y="7424928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Events:  text_delta (each text chunk)  ·  tool_call (function invoked)  ·  tool_result (result)  ·  turn_complete (done)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 AssistantPanel renders text + change_preview cards in real time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91440"/>
            <a:ext cx="11430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ADK vs Claude — Merchant Agent Comparison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06624" y="585216"/>
            <a:ext cx="4206240" cy="475488"/>
          </a:xfrm>
          <a:prstGeom prst="roundRect">
            <a:avLst>
              <a:gd name="adj" fmla="val 19231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706624" y="585216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6B4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Merchant Agent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114032" y="585216"/>
            <a:ext cx="4206240" cy="475488"/>
          </a:xfrm>
          <a:prstGeom prst="roundRect">
            <a:avLst>
              <a:gd name="adj" fmla="val 19231"/>
            </a:avLst>
          </a:prstGeom>
          <a:solidFill>
            <a:srgbClr val="051B3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14032" y="585216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ADK Agent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9184" y="58521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" y="1152144"/>
            <a:ext cx="2286000" cy="530352"/>
          </a:xfrm>
          <a:prstGeom prst="roundRect">
            <a:avLst>
              <a:gd name="adj" fmla="val 6897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4048" y="1152144"/>
            <a:ext cx="21762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06624" y="1152144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79776" y="1152144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SDK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paths: Messages API · Agent SDK · Managed Agents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114032" y="1152144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87184" y="1152144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ADK v2.10.0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path: Agent + Runner + InMemorySessionService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" y="1719072"/>
            <a:ext cx="2286000" cy="530352"/>
          </a:xfrm>
          <a:prstGeom prst="roundRect">
            <a:avLst>
              <a:gd name="adj" fmla="val 6897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4048" y="1719072"/>
            <a:ext cx="21762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06624" y="1719072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779776" y="1719072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4.5 / Opus 4 / Haiku 4.5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Swappable via config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114032" y="1719072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87184" y="1719072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(gemini-2.0-flash)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 for orchestrator + sub-agent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9184" y="2286000"/>
            <a:ext cx="2286000" cy="530352"/>
          </a:xfrm>
          <a:prstGeom prst="roundRect">
            <a:avLst>
              <a:gd name="adj" fmla="val 6897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4048" y="2286000"/>
            <a:ext cx="21762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06624" y="2286000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779776" y="2286000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system prompt (Anthropic prompt cache)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fenced data block per turn (context_clock)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bytes on every turn → cache hit every call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114032" y="2286000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05152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87184" y="2286000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before_model_callback injects date + store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system_instruction on EVERY model call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hook — no manual string building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114032" y="2286000"/>
            <a:ext cx="201168" cy="530352"/>
          </a:xfrm>
          <a:prstGeom prst="roundRect">
            <a:avLst>
              <a:gd name="adj" fmla="val 18182"/>
            </a:avLst>
          </a:prstGeom>
          <a:solidFill>
            <a:srgbClr val="1A73E8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14032" y="2286000"/>
            <a:ext cx="201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9184" y="2852928"/>
            <a:ext cx="2286000" cy="530352"/>
          </a:xfrm>
          <a:prstGeom prst="roundRect">
            <a:avLst>
              <a:gd name="adj" fmla="val 6897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84048" y="2852928"/>
            <a:ext cx="21762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&amp;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06624" y="2852928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779776" y="2852928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MerchantSessionState passed per-request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MERCHANT_FENCE provenance fence per session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cross-turn persistence by default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114032" y="2852928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05152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87184" y="2852928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InMemorySessionService (framework-native)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session.state dict persists across turns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prime_session() pre-fills state at login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114032" y="2852928"/>
            <a:ext cx="201168" cy="530352"/>
          </a:xfrm>
          <a:prstGeom prst="roundRect">
            <a:avLst>
              <a:gd name="adj" fmla="val 18182"/>
            </a:avLst>
          </a:prstGeom>
          <a:solidFill>
            <a:srgbClr val="1A73E8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14032" y="2852928"/>
            <a:ext cx="201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184" y="3419856"/>
            <a:ext cx="2286000" cy="530352"/>
          </a:xfrm>
          <a:prstGeom prst="roundRect">
            <a:avLst>
              <a:gd name="adj" fmla="val 6897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84048" y="3419856"/>
            <a:ext cx="21762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706624" y="3419856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779776" y="3419856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AgentTool (explicit tool declaration)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Managed Agents system (hosted)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wires routing manually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114032" y="3419856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05152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187184" y="3419856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sub_agents=[merch_agent]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auto-creates transfer_to_merchandising_agent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handles routing — zero boilerplate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114032" y="3419856"/>
            <a:ext cx="201168" cy="530352"/>
          </a:xfrm>
          <a:prstGeom prst="roundRect">
            <a:avLst>
              <a:gd name="adj" fmla="val 18182"/>
            </a:avLst>
          </a:prstGeom>
          <a:solidFill>
            <a:srgbClr val="1A73E8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114032" y="3419856"/>
            <a:ext cx="201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184" y="3986784"/>
            <a:ext cx="2286000" cy="530352"/>
          </a:xfrm>
          <a:prstGeom prst="roundRect">
            <a:avLst>
              <a:gd name="adj" fmla="val 6897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84048" y="3986784"/>
            <a:ext cx="21762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Safety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Gates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706624" y="3986784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779776" y="3986784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explicit gates in gates.py: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· OPTIONS · GUARDRAIL · APPROVAL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blocked unless operator approved in host UI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06624" y="3986784"/>
            <a:ext cx="201168" cy="530352"/>
          </a:xfrm>
          <a:prstGeom prst="roundRect">
            <a:avLst>
              <a:gd name="adj" fmla="val 18182"/>
            </a:avLst>
          </a:prstGeom>
          <a:solidFill>
            <a:srgbClr val="6B4EFF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706624" y="3986784"/>
            <a:ext cx="201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114032" y="3986784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187184" y="3986784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staging pattern: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stage_* → operator says approve → apply_change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framework-level gate enforcement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9184" y="4553712"/>
            <a:ext cx="2286000" cy="530352"/>
          </a:xfrm>
          <a:prstGeom prst="roundRect">
            <a:avLst>
              <a:gd name="adj" fmla="val 6897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84048" y="4553712"/>
            <a:ext cx="21762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&amp;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706624" y="4553712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779776" y="4553712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skills per role (SKILL.md per flow)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· inventory · marketing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· performance · merchandising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2706624" y="4553712"/>
            <a:ext cx="201168" cy="530352"/>
          </a:xfrm>
          <a:prstGeom prst="roundRect">
            <a:avLst>
              <a:gd name="adj" fmla="val 18182"/>
            </a:avLst>
          </a:prstGeom>
          <a:solidFill>
            <a:srgbClr val="6B4EFF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706624" y="4553712"/>
            <a:ext cx="201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14032" y="4553712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187184" y="4553712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skills system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directly on agents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Ontology layer + merchandising tools instead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29184" y="5120640"/>
            <a:ext cx="2286000" cy="530352"/>
          </a:xfrm>
          <a:prstGeom prst="roundRect">
            <a:avLst>
              <a:gd name="adj" fmla="val 6897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384048" y="5120640"/>
            <a:ext cx="21762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706624" y="5120640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779776" y="5120640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run_analysis delegate (analysis.py)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SQL-like queries on snapshot data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metrics card in UI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2706624" y="5120640"/>
            <a:ext cx="201168" cy="530352"/>
          </a:xfrm>
          <a:prstGeom prst="roundRect">
            <a:avLst>
              <a:gd name="adj" fmla="val 18182"/>
            </a:avLst>
          </a:prstGeom>
          <a:solidFill>
            <a:srgbClr val="6B4EFF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706624" y="5120640"/>
            <a:ext cx="201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114032" y="5120640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187184" y="5120640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dedicated analysis delegate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reasons from raw tool results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via JSON response_mime_type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329184" y="5687568"/>
            <a:ext cx="2286000" cy="530352"/>
          </a:xfrm>
          <a:prstGeom prst="roundRect">
            <a:avLst>
              <a:gd name="adj" fmla="val 6897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84048" y="5687568"/>
            <a:ext cx="21762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2706624" y="5687568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0A1620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2779776" y="5687568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standard agent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114032" y="5687568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05152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187184" y="5687568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Wikidata + Google KG integration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lookup_product_entities grounded in KG IDs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classify_product_ontology uses KG descriptions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114032" y="5687568"/>
            <a:ext cx="201168" cy="530352"/>
          </a:xfrm>
          <a:prstGeom prst="roundRect">
            <a:avLst>
              <a:gd name="adj" fmla="val 18182"/>
            </a:avLst>
          </a:prstGeom>
          <a:solidFill>
            <a:srgbClr val="1A73E8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114032" y="5687568"/>
            <a:ext cx="201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329184" y="6254496"/>
            <a:ext cx="2286000" cy="530352"/>
          </a:xfrm>
          <a:prstGeom prst="roundRect">
            <a:avLst>
              <a:gd name="adj" fmla="val 6897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384048" y="6254496"/>
            <a:ext cx="21762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2706624" y="6254496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779776" y="6254496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memory.py: MemoryFact persisted across sessions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injected into fenced data block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2706624" y="6254496"/>
            <a:ext cx="201168" cy="530352"/>
          </a:xfrm>
          <a:prstGeom prst="roundRect">
            <a:avLst>
              <a:gd name="adj" fmla="val 18182"/>
            </a:avLst>
          </a:prstGeom>
          <a:solidFill>
            <a:srgbClr val="6B4EFF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2706624" y="6254496"/>
            <a:ext cx="2011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7114032" y="6254496"/>
            <a:ext cx="4206240" cy="530352"/>
          </a:xfrm>
          <a:prstGeom prst="roundRect">
            <a:avLst>
              <a:gd name="adj" fmla="val 6897"/>
            </a:avLst>
          </a:prstGeom>
          <a:solidFill>
            <a:srgbClr val="0D1E2C"/>
          </a:solidFill>
          <a:ln w="25400">
            <a:solidFill>
              <a:srgbClr val="2A3A50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7187184" y="6254496"/>
            <a:ext cx="4078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session.state: within session only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prime_session briefing cache (in-process)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cross-session memory by default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329184" y="6711696"/>
            <a:ext cx="11484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4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highlighted cell = framework advantage in this dimension  ·  Claude excels at safety gates, skill flows, analysis, memory  ·  Gemini ADK excels at callback hooks, session state, sub-agent routing, Knowledge Graph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91440"/>
            <a:ext cx="11430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Choose Each Approach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530352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agents do the same job — choose by which trade-offs match your deployment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29184" y="859536"/>
            <a:ext cx="5486400" cy="5303520"/>
          </a:xfrm>
          <a:prstGeom prst="roundRect">
            <a:avLst>
              <a:gd name="adj" fmla="val 2069"/>
            </a:avLst>
          </a:prstGeom>
          <a:solidFill>
            <a:srgbClr val="1A0E3A"/>
          </a:solidFill>
          <a:ln w="25400">
            <a:solidFill>
              <a:srgbClr val="6B4E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9184" y="87782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6B4E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Claude when…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" y="1353312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12082A"/>
          </a:solidFill>
          <a:ln w="25400">
            <a:solidFill>
              <a:srgbClr val="4A30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408176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safety is non-negotiable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682496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framework-enforced gates (provenance, options,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guardrail, approval) block invalid writes in code,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in the prompt.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5488" y="2286000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12082A"/>
          </a:solidFill>
          <a:ln w="25400">
            <a:solidFill>
              <a:srgbClr val="4A30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40864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structured skill flows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15184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SKILL.md-defined flows per role give you auditable,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business logic separate from the model prompt.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" y="3218688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12082A"/>
          </a:solidFill>
          <a:ln w="25400">
            <a:solidFill>
              <a:srgbClr val="4A30A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273552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analysis is required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547872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run_analysis delegate computes trend segments and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cross-metric correlations — rendered as metrics cards in the UI.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" y="4151376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12082A"/>
          </a:solidFill>
          <a:ln w="25400">
            <a:solidFill>
              <a:srgbClr val="4A30A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206240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Cross-session memory matters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480560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MemoryFact objects persist facts across logins;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into each session's fenced data block.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" y="5084064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12082A"/>
          </a:solidFill>
          <a:ln w="25400">
            <a:solidFill>
              <a:srgbClr val="4A30A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5138928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0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ecosystem (MCP, Claude Code)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413248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MCP server, Claude Code plugin, managed agents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on Anthropic infrastructure.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364224" y="859536"/>
            <a:ext cx="5486400" cy="5303520"/>
          </a:xfrm>
          <a:prstGeom prst="roundRect">
            <a:avLst>
              <a:gd name="adj" fmla="val 2069"/>
            </a:avLst>
          </a:prstGeom>
          <a:solidFill>
            <a:srgbClr val="051B3A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64224" y="87782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A7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Gemini ADK when…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10528" y="1353312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04152A"/>
          </a:solidFill>
          <a:ln w="25400">
            <a:solidFill>
              <a:srgbClr val="1A60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75120" y="1408176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framework-managed session state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0" y="1682496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InMemorySessionService + session.state persist data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turns automatically — no manual plumbing.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510528" y="2286000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04152A"/>
          </a:solidFill>
          <a:ln w="25400">
            <a:solidFill>
              <a:srgbClr val="1A60C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75120" y="2340864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routing should be automatic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675120" y="2615184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sub_agents=[] and ADK generates the transfer tool;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boilerplate routing code to write or maintain.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10528" y="3218688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04152A"/>
          </a:solidFill>
          <a:ln w="25400">
            <a:solidFill>
              <a:srgbClr val="1A60C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75120" y="3273552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for cross-cutting concerns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675120" y="3547872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before_model_callback / after_tool_callback run on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in the hierarchy — write once, applies everywhere.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510528" y="4151376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04152A"/>
          </a:solidFill>
          <a:ln w="25400">
            <a:solidFill>
              <a:srgbClr val="1A60C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75120" y="4206240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grounding is needed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675120" y="4480560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classify_product_ontology and lookup_product_entities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Wikidata + Google KG for fact-grounded copy.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510528" y="5084064"/>
            <a:ext cx="5193792" cy="841248"/>
          </a:xfrm>
          <a:prstGeom prst="roundRect">
            <a:avLst>
              <a:gd name="adj" fmla="val 7609"/>
            </a:avLst>
          </a:prstGeom>
          <a:solidFill>
            <a:srgbClr val="04152A"/>
          </a:solidFill>
          <a:ln w="25400">
            <a:solidFill>
              <a:srgbClr val="1A60C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75120" y="5138928"/>
            <a:ext cx="4901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9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/ Vertex AI ecosystem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675120" y="5413248"/>
            <a:ext cx="4901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integrates natively with Vertex AI, Cloud Run,</a:t>
            </a:r>
            <a:endParaRPr lang="en-US" sz="9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Google's broader agent tooling roadmap.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9184" y="6254496"/>
            <a:ext cx="11521440" cy="438912"/>
          </a:xfrm>
          <a:prstGeom prst="roundRect">
            <a:avLst>
              <a:gd name="adj" fmla="val 16667"/>
            </a:avLst>
          </a:prstGeom>
          <a:solidFill>
            <a:srgbClr val="0E1E2C"/>
          </a:solidFill>
          <a:ln w="25400">
            <a:solidFill>
              <a:srgbClr val="3A607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5488" y="6254496"/>
            <a:ext cx="11228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0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Both share the same SFCC backend, MerchantSessionContext, and staging pattern. A platform swap is a dependency swap + prompt rewrite, not a full rebuild.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2026-09-29T02:33:52Z</dcterms:created>
  <dcterms:modified xsi:type="dcterms:W3CDTF">2026-09-29T02:33:52Z</dcterms:modified>
</cp:coreProperties>
</file>