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overview. Four layers: browser (left), FastAPI (outer shell), ADK Runner (purple, the core), Gemini Flash (at bottom, shared). The two agents live inside ADK Runner. Callbacks (before_model_callback, after_tool_callback) are on both agents — they fire on every model call and tool execution respectively. session.state persists across turns; prime_session() pre-fills it at login.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Message flow. Every turn follows this exact sequence: (1) POST /chat received; (2) before_model_callback always fires first — date + store injected into system instruction; (3) Gemini called with full context; (4) model returns branch A or B; (5) SSE stream emitted back. The key ADK insight: callbacks are framework hooks that wrap every model call and tool call automatically — the developer writes them once and they apply to all agents in the hierarchy.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8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Merchant App on Railway — ADK Architecture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566928"/>
            <a:ext cx="1161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gemini-merchant-api-production.up.railway.app  ·  Google ADK v2.10.0  ·  Gemini Flash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28600" y="859536"/>
            <a:ext cx="11704320" cy="5394960"/>
          </a:xfrm>
          <a:prstGeom prst="roundRect">
            <a:avLst>
              <a:gd name="adj" fmla="val 2712"/>
            </a:avLst>
          </a:prstGeom>
          <a:solidFill>
            <a:srgbClr val="1A3050"/>
          </a:solidFill>
          <a:ln w="25400">
            <a:solidFill>
              <a:srgbClr val="2D7D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1480" y="8778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 Railway — production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84048" y="1188720"/>
            <a:ext cx="2377440" cy="4892040"/>
          </a:xfrm>
          <a:prstGeom prst="roundRect">
            <a:avLst>
              <a:gd name="adj" fmla="val 3846"/>
            </a:avLst>
          </a:prstGeom>
          <a:solidFill>
            <a:srgbClr val="0E2038"/>
          </a:solidFill>
          <a:ln w="25400">
            <a:solidFill>
              <a:srgbClr val="4A80C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84048" y="12070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merchant-web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84048" y="14813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 ·  port 3000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12064" y="1773936"/>
            <a:ext cx="2121408" cy="713232"/>
          </a:xfrm>
          <a:prstGeom prst="roundRect">
            <a:avLst>
              <a:gd name="adj" fmla="val 8974"/>
            </a:avLst>
          </a:prstGeom>
          <a:solidFill>
            <a:srgbClr val="162840"/>
          </a:solidFill>
          <a:ln w="25400">
            <a:solidFill>
              <a:srgbClr val="3A609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HomeView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21214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orders overview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12064" y="2615184"/>
            <a:ext cx="2121408" cy="713232"/>
          </a:xfrm>
          <a:prstGeom prst="roundRect">
            <a:avLst>
              <a:gd name="adj" fmla="val 8974"/>
            </a:avLst>
          </a:prstGeom>
          <a:solidFill>
            <a:srgbClr val="162840"/>
          </a:solidFill>
          <a:ln w="25400">
            <a:solidFill>
              <a:srgbClr val="3A609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26700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MerchandisingView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296265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 / SEO / classify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12064" y="3456432"/>
            <a:ext cx="2121408" cy="713232"/>
          </a:xfrm>
          <a:prstGeom prst="roundRect">
            <a:avLst>
              <a:gd name="adj" fmla="val 8974"/>
            </a:avLst>
          </a:prstGeom>
          <a:solidFill>
            <a:srgbClr val="162840"/>
          </a:solidFill>
          <a:ln w="25400">
            <a:solidFill>
              <a:srgbClr val="3A609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" y="35112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AssistantPanel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380390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interface + SSE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12064" y="4297680"/>
            <a:ext cx="2121408" cy="713232"/>
          </a:xfrm>
          <a:prstGeom prst="roundRect">
            <a:avLst>
              <a:gd name="adj" fmla="val 8974"/>
            </a:avLst>
          </a:prstGeom>
          <a:solidFill>
            <a:srgbClr val="162840"/>
          </a:solidFill>
          <a:ln w="25400">
            <a:solidFill>
              <a:srgbClr val="3A609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66928" y="43525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AgentApi.chatStream()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46451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/chat + readEventStream()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12064" y="5138928"/>
            <a:ext cx="2121408" cy="713232"/>
          </a:xfrm>
          <a:prstGeom prst="roundRect">
            <a:avLst>
              <a:gd name="adj" fmla="val 8974"/>
            </a:avLst>
          </a:prstGeom>
          <a:solidFill>
            <a:srgbClr val="162840"/>
          </a:solidFill>
          <a:ln w="25400">
            <a:solidFill>
              <a:srgbClr val="3A609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66928" y="51937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useSession() / useMerchantChat()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54864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hooks: state, refresh, actOnChange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61488" y="4059936"/>
            <a:ext cx="530352" cy="9144"/>
          </a:xfrm>
          <a:prstGeom prst="line">
            <a:avLst/>
          </a:prstGeom>
          <a:noFill/>
          <a:ln w="31750">
            <a:solidFill>
              <a:srgbClr val="E07030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2761488" y="387705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07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stream →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61488" y="4370832"/>
            <a:ext cx="530352" cy="9144"/>
          </a:xfrm>
          <a:prstGeom prst="line">
            <a:avLst/>
          </a:prstGeom>
          <a:noFill/>
          <a:ln w="31750">
            <a:solidFill>
              <a:srgbClr val="2D7DD2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2761488" y="4187952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POST /chat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91840" y="1188720"/>
            <a:ext cx="8412480" cy="4892040"/>
          </a:xfrm>
          <a:prstGeom prst="roundRect">
            <a:avLst>
              <a:gd name="adj" fmla="val 1869"/>
            </a:avLst>
          </a:prstGeom>
          <a:solidFill>
            <a:srgbClr val="100822"/>
          </a:solidFill>
          <a:ln w="25400">
            <a:solidFill>
              <a:srgbClr val="8040C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291840" y="12070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804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merchant-api  (FastAPI · Uvicorn · port 8000)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438144" y="1536192"/>
            <a:ext cx="8119872" cy="347472"/>
          </a:xfrm>
          <a:prstGeom prst="roundRect">
            <a:avLst>
              <a:gd name="adj" fmla="val 15789"/>
            </a:avLst>
          </a:prstGeom>
          <a:solidFill>
            <a:srgbClr val="1A0E38"/>
          </a:solidFill>
          <a:ln w="25400">
            <a:solidFill>
              <a:srgbClr val="5A38A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474720" y="153619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/session  ·  /chat  ·  /overview  ·  /alerts  ·  /merchandising/*  ·  /briefing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438144" y="1956816"/>
            <a:ext cx="8119872" cy="3968496"/>
          </a:xfrm>
          <a:prstGeom prst="roundRect">
            <a:avLst>
              <a:gd name="adj" fmla="val 2304"/>
            </a:avLst>
          </a:prstGeom>
          <a:solidFill>
            <a:srgbClr val="180A3A"/>
          </a:solidFill>
          <a:ln w="25400">
            <a:solidFill>
              <a:srgbClr val="8040C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438144" y="197510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804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Runner  +  InMemorySessionService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595360" y="1956816"/>
            <a:ext cx="2871216" cy="640080"/>
          </a:xfrm>
          <a:prstGeom prst="roundRect">
            <a:avLst>
              <a:gd name="adj" fmla="val 11429"/>
            </a:avLst>
          </a:prstGeom>
          <a:solidFill>
            <a:srgbClr val="2A1808"/>
          </a:solidFill>
          <a:ln w="25400">
            <a:solidFill>
              <a:srgbClr val="E0703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668512" y="1975104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E07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session.state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8668512" y="2231136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store_name · last_snapshot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last_alerts_count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595360" y="2670048"/>
            <a:ext cx="2871216" cy="640080"/>
          </a:xfrm>
          <a:prstGeom prst="roundRect">
            <a:avLst>
              <a:gd name="adj" fmla="val 11429"/>
            </a:avLst>
          </a:prstGeom>
          <a:solidFill>
            <a:srgbClr val="081E10"/>
          </a:solidFill>
          <a:ln w="25400">
            <a:solidFill>
              <a:srgbClr val="38A06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668512" y="2688336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38A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prime_session()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668512" y="2944368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at login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GET /briefing (instant)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584448" y="2304288"/>
            <a:ext cx="4846320" cy="548640"/>
          </a:xfrm>
          <a:prstGeom prst="roundRect">
            <a:avLst>
              <a:gd name="adj" fmla="val 11667"/>
            </a:avLst>
          </a:prstGeom>
          <a:solidFill>
            <a:srgbClr val="082830"/>
          </a:solidFill>
          <a:ln w="25400">
            <a:solidFill>
              <a:srgbClr val="02A0B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657600" y="23225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2A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before_model_callback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3657600" y="257860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injects today's date + store_name into system_instruction on EVERY model call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584448" y="2944368"/>
            <a:ext cx="4846320" cy="548640"/>
          </a:xfrm>
          <a:prstGeom prst="roundRect">
            <a:avLst>
              <a:gd name="adj" fmla="val 11667"/>
            </a:avLst>
          </a:prstGeom>
          <a:solidFill>
            <a:srgbClr val="082830"/>
          </a:solidFill>
          <a:ln w="25400">
            <a:solidFill>
              <a:srgbClr val="02A0B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657600" y="29626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2A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after_tool_callback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3657600" y="321868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caches snapshot/alerts in session.state · trims arrays &gt; 20 items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584448" y="3584448"/>
            <a:ext cx="2231136" cy="2176272"/>
          </a:xfrm>
          <a:prstGeom prst="roundRect">
            <a:avLst>
              <a:gd name="adj" fmla="val 3361"/>
            </a:avLst>
          </a:prstGeom>
          <a:solidFill>
            <a:srgbClr val="1C0A40"/>
          </a:solidFill>
          <a:ln w="25400">
            <a:solidFill>
              <a:srgbClr val="8040C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621024" y="3602736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804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Agent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694176" y="3913632"/>
            <a:ext cx="2029968" cy="237744"/>
          </a:xfrm>
          <a:prstGeom prst="roundRect">
            <a:avLst>
              <a:gd name="adj" fmla="val 15385"/>
            </a:avLst>
          </a:prstGeom>
          <a:solidFill>
            <a:srgbClr val="2A1250"/>
          </a:solidFill>
          <a:ln w="25400">
            <a:solidFill>
              <a:srgbClr val="6A40A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3730752" y="3913632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C0A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get_business_snapshot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694176" y="4187952"/>
            <a:ext cx="2029968" cy="237744"/>
          </a:xfrm>
          <a:prstGeom prst="roundRect">
            <a:avLst>
              <a:gd name="adj" fmla="val 15385"/>
            </a:avLst>
          </a:prstGeom>
          <a:solidFill>
            <a:srgbClr val="2A1250"/>
          </a:solidFill>
          <a:ln w="25400">
            <a:solidFill>
              <a:srgbClr val="6A40A8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3730752" y="4187952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C0A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get_inventory_alerts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694176" y="4462272"/>
            <a:ext cx="2029968" cy="237744"/>
          </a:xfrm>
          <a:prstGeom prst="roundRect">
            <a:avLst>
              <a:gd name="adj" fmla="val 15385"/>
            </a:avLst>
          </a:prstGeom>
          <a:solidFill>
            <a:srgbClr val="2A1250"/>
          </a:solidFill>
          <a:ln w="25400">
            <a:solidFill>
              <a:srgbClr val="6A40A8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3730752" y="4462272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C0A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get_order_issues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694176" y="4736592"/>
            <a:ext cx="2029968" cy="237744"/>
          </a:xfrm>
          <a:prstGeom prst="roundRect">
            <a:avLst>
              <a:gd name="adj" fmla="val 15385"/>
            </a:avLst>
          </a:prstGeom>
          <a:solidFill>
            <a:srgbClr val="2A1250"/>
          </a:solidFill>
          <a:ln w="25400">
            <a:solidFill>
              <a:srgbClr val="6A40A8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3730752" y="4736592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C0A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 / get_listing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3694176" y="5010912"/>
            <a:ext cx="2029968" cy="237744"/>
          </a:xfrm>
          <a:prstGeom prst="roundRect">
            <a:avLst>
              <a:gd name="adj" fmla="val 15385"/>
            </a:avLst>
          </a:prstGeom>
          <a:solidFill>
            <a:srgbClr val="2A1250"/>
          </a:solidFill>
          <a:ln w="25400">
            <a:solidFill>
              <a:srgbClr val="6A40A8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3730752" y="5010912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C0A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get_pending_changes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3694176" y="5285232"/>
            <a:ext cx="2029968" cy="237744"/>
          </a:xfrm>
          <a:prstGeom prst="roundRect">
            <a:avLst>
              <a:gd name="adj" fmla="val 15385"/>
            </a:avLst>
          </a:prstGeom>
          <a:solidFill>
            <a:srgbClr val="2A1250"/>
          </a:solidFill>
          <a:ln w="25400">
            <a:solidFill>
              <a:srgbClr val="6A40A8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3730752" y="5285232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C0A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/ apply / discard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5815584" y="4663440"/>
            <a:ext cx="384048" cy="9144"/>
          </a:xfrm>
          <a:prstGeom prst="line">
            <a:avLst/>
          </a:prstGeom>
          <a:noFill/>
          <a:ln w="31750">
            <a:solidFill>
              <a:srgbClr val="02A0B0"/>
            </a:solidFill>
            <a:prstDash val="solid"/>
            <a:tailEnd type="triangle"/>
          </a:ln>
        </p:spPr>
      </p:sp>
      <p:sp>
        <p:nvSpPr>
          <p:cNvPr id="61" name="Text 59"/>
          <p:cNvSpPr txBox="1"/>
          <p:nvPr/>
        </p:nvSpPr>
        <p:spPr>
          <a:xfrm>
            <a:off x="5815584" y="448056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2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→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199632" y="3584448"/>
            <a:ext cx="2523744" cy="2176272"/>
          </a:xfrm>
          <a:prstGeom prst="roundRect">
            <a:avLst>
              <a:gd name="adj" fmla="val 3361"/>
            </a:avLst>
          </a:prstGeom>
          <a:solidFill>
            <a:srgbClr val="041820"/>
          </a:solidFill>
          <a:ln w="25400">
            <a:solidFill>
              <a:srgbClr val="02A0B0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6236208" y="360273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2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MerchandisingAgent</a:t>
            </a:r>
            <a:endParaRPr lang="en-US" sz="1100" dirty="0"/>
          </a:p>
        </p:txBody>
      </p:sp>
      <p:sp>
        <p:nvSpPr>
          <p:cNvPr id="64" name="Text 62"/>
          <p:cNvSpPr txBox="1"/>
          <p:nvPr/>
        </p:nvSpPr>
        <p:spPr>
          <a:xfrm>
            <a:off x="6236208" y="3858768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  ·  same callbacks ↑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6291072" y="4078224"/>
            <a:ext cx="2340864" cy="219456"/>
          </a:xfrm>
          <a:prstGeom prst="roundRect">
            <a:avLst>
              <a:gd name="adj" fmla="val 16667"/>
            </a:avLst>
          </a:prstGeom>
          <a:solidFill>
            <a:srgbClr val="082030"/>
          </a:solidFill>
          <a:ln w="25400">
            <a:solidFill>
              <a:srgbClr val="30888A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6327648" y="4078224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80D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classify_product_ontology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6291072" y="4334256"/>
            <a:ext cx="2340864" cy="219456"/>
          </a:xfrm>
          <a:prstGeom prst="roundRect">
            <a:avLst>
              <a:gd name="adj" fmla="val 16667"/>
            </a:avLst>
          </a:prstGeom>
          <a:solidFill>
            <a:srgbClr val="082030"/>
          </a:solidFill>
          <a:ln w="25400">
            <a:solidFill>
              <a:srgbClr val="30888A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6327648" y="4334256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80D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enrich_product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6291072" y="4590288"/>
            <a:ext cx="2340864" cy="219456"/>
          </a:xfrm>
          <a:prstGeom prst="roundRect">
            <a:avLst>
              <a:gd name="adj" fmla="val 16667"/>
            </a:avLst>
          </a:prstGeom>
          <a:solidFill>
            <a:srgbClr val="082030"/>
          </a:solidFill>
          <a:ln w="25400">
            <a:solidFill>
              <a:srgbClr val="30888A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6327648" y="4590288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80D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generate_seo_content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6291072" y="4846320"/>
            <a:ext cx="2340864" cy="219456"/>
          </a:xfrm>
          <a:prstGeom prst="roundRect">
            <a:avLst>
              <a:gd name="adj" fmla="val 16667"/>
            </a:avLst>
          </a:prstGeom>
          <a:solidFill>
            <a:srgbClr val="082030"/>
          </a:solidFill>
          <a:ln w="25400">
            <a:solidFill>
              <a:srgbClr val="30888A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6327648" y="4846320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80D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generate_geo_content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6291072" y="5102352"/>
            <a:ext cx="2340864" cy="219456"/>
          </a:xfrm>
          <a:prstGeom prst="roundRect">
            <a:avLst>
              <a:gd name="adj" fmla="val 16667"/>
            </a:avLst>
          </a:prstGeom>
          <a:solidFill>
            <a:srgbClr val="082030"/>
          </a:solidFill>
          <a:ln w="25400">
            <a:solidFill>
              <a:srgbClr val="30888A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6327648" y="5102352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80D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lookup_product_entities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6291072" y="5358384"/>
            <a:ext cx="2340864" cy="219456"/>
          </a:xfrm>
          <a:prstGeom prst="roundRect">
            <a:avLst>
              <a:gd name="adj" fmla="val 16667"/>
            </a:avLst>
          </a:prstGeom>
          <a:solidFill>
            <a:srgbClr val="082030"/>
          </a:solidFill>
          <a:ln w="25400">
            <a:solidFill>
              <a:srgbClr val="30888A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6327648" y="5358384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80D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stage_listing_update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3438144" y="5815584"/>
            <a:ext cx="8119872" cy="621792"/>
          </a:xfrm>
          <a:prstGeom prst="roundRect">
            <a:avLst>
              <a:gd name="adj" fmla="val 14706"/>
            </a:avLst>
          </a:prstGeom>
          <a:solidFill>
            <a:srgbClr val="28081A"/>
          </a:solidFill>
          <a:ln w="25400">
            <a:solidFill>
              <a:srgbClr val="D060A8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3493008" y="58338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D06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Gemini Flash  (gemini-3.8-flash)</a:t>
            </a:r>
            <a:endParaRPr lang="en-US" sz="1300" dirty="0"/>
          </a:p>
        </p:txBody>
      </p:sp>
      <p:sp>
        <p:nvSpPr>
          <p:cNvPr id="79" name="Text 77"/>
          <p:cNvSpPr txBox="1"/>
          <p:nvPr/>
        </p:nvSpPr>
        <p:spPr>
          <a:xfrm>
            <a:off x="6766560" y="5833872"/>
            <a:ext cx="4663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by Orchestrator + MerchandisingAgent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Returns: function_call | transfer_to_agent | text response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4700016" y="5760720"/>
            <a:ext cx="9144" cy="54864"/>
          </a:xfrm>
          <a:prstGeom prst="line">
            <a:avLst/>
          </a:prstGeom>
          <a:noFill/>
          <a:ln w="31750">
            <a:solidFill>
              <a:srgbClr val="D060A8"/>
            </a:solidFill>
            <a:prstDash val="solid"/>
            <a:tailEnd type="triangle"/>
          </a:ln>
        </p:spPr>
      </p:sp>
      <p:sp>
        <p:nvSpPr>
          <p:cNvPr id="81" name="Shape 79"/>
          <p:cNvSpPr/>
          <p:nvPr/>
        </p:nvSpPr>
        <p:spPr>
          <a:xfrm>
            <a:off x="7461504" y="5760720"/>
            <a:ext cx="9144" cy="54864"/>
          </a:xfrm>
          <a:prstGeom prst="line">
            <a:avLst/>
          </a:prstGeom>
          <a:noFill/>
          <a:ln w="31750">
            <a:solidFill>
              <a:srgbClr val="D060A8"/>
            </a:solidFill>
            <a:prstDash val="solid"/>
            <a:tailEnd type="triangle"/>
          </a:ln>
        </p:spPr>
      </p:sp>
      <p:sp>
        <p:nvSpPr>
          <p:cNvPr id="82" name="Shape 80"/>
          <p:cNvSpPr/>
          <p:nvPr/>
        </p:nvSpPr>
        <p:spPr>
          <a:xfrm>
            <a:off x="228600" y="6510528"/>
            <a:ext cx="2377440" cy="219456"/>
          </a:xfrm>
          <a:prstGeom prst="roundRect">
            <a:avLst>
              <a:gd name="adj" fmla="val 16667"/>
            </a:avLst>
          </a:prstGeom>
          <a:solidFill>
            <a:srgbClr val="0C1824"/>
          </a:solidFill>
          <a:ln w="25400">
            <a:solidFill>
              <a:srgbClr val="0C1824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274320" y="651052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Operator (browser)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3291840" y="6510528"/>
            <a:ext cx="4023360" cy="219456"/>
          </a:xfrm>
          <a:prstGeom prst="roundRect">
            <a:avLst>
              <a:gd name="adj" fmla="val 16667"/>
            </a:avLst>
          </a:prstGeom>
          <a:solidFill>
            <a:srgbClr val="0C1824"/>
          </a:solidFill>
          <a:ln w="25400">
            <a:solidFill>
              <a:srgbClr val="0C1824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3328416" y="6510528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tool calls  →  SFCC (commercecloud.salesforce.com)  ·  Wikidata / Google Knowledge Graph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8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73152"/>
            <a:ext cx="11430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Message Flow — What Happens Inside ADK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12064"/>
            <a:ext cx="11430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operator sends a chat message, here is the exact sequence through the ADK framework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28600" y="987552"/>
            <a:ext cx="548640" cy="548640"/>
          </a:xfrm>
          <a:prstGeom prst="ellipse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28600" y="987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</a:rPr>
              <a:t>1</a:t>
            </a:r>
            <a:endParaRPr lang="en-US" sz="1560" dirty="0"/>
          </a:p>
        </p:txBody>
      </p:sp>
      <p:sp>
        <p:nvSpPr>
          <p:cNvPr id="6" name="Shape 4"/>
          <p:cNvSpPr/>
          <p:nvPr/>
        </p:nvSpPr>
        <p:spPr>
          <a:xfrm>
            <a:off x="841248" y="859536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1A3050"/>
          </a:solidFill>
          <a:ln w="25400">
            <a:solidFill>
              <a:srgbClr val="2D7DD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85953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207008"/>
            <a:ext cx="10972800" cy="877824"/>
          </a:xfrm>
          <a:prstGeom prst="roundRect">
            <a:avLst>
              <a:gd name="adj" fmla="val 8333"/>
            </a:avLst>
          </a:prstGeom>
          <a:solidFill>
            <a:srgbClr val="0E1E34"/>
          </a:solidFill>
          <a:ln w="25400">
            <a:solidFill>
              <a:srgbClr val="2D7DD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87552" y="126187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sends message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1554480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→ AgentApi.chatStream() → POST /api/merchant/chat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validates X-Session-Id, creates StreamingResponse, calls Runner.run_async()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1536192"/>
            <a:ext cx="9144" cy="658368"/>
          </a:xfrm>
          <a:prstGeom prst="line">
            <a:avLst/>
          </a:prstGeom>
          <a:noFill/>
          <a:ln w="31750">
            <a:solidFill>
              <a:srgbClr val="4A607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28600" y="2377440"/>
            <a:ext cx="548640" cy="548640"/>
          </a:xfrm>
          <a:prstGeom prst="ellipse">
            <a:avLst/>
          </a:prstGeom>
          <a:solidFill>
            <a:srgbClr val="02A0B0"/>
          </a:solidFill>
          <a:ln w="12700">
            <a:solidFill>
              <a:srgbClr val="02A0B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2860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</a:rPr>
              <a:t>2</a:t>
            </a:r>
            <a:endParaRPr lang="en-US" sz="1560" dirty="0"/>
          </a:p>
        </p:txBody>
      </p:sp>
      <p:sp>
        <p:nvSpPr>
          <p:cNvPr id="14" name="Shape 12"/>
          <p:cNvSpPr/>
          <p:nvPr/>
        </p:nvSpPr>
        <p:spPr>
          <a:xfrm>
            <a:off x="841248" y="2249424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1A3050"/>
          </a:solidFill>
          <a:ln w="25400">
            <a:solidFill>
              <a:srgbClr val="02A0B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1248" y="224942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2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Callback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41248" y="2596896"/>
            <a:ext cx="10972800" cy="877824"/>
          </a:xfrm>
          <a:prstGeom prst="roundRect">
            <a:avLst>
              <a:gd name="adj" fmla="val 8333"/>
            </a:avLst>
          </a:prstGeom>
          <a:solidFill>
            <a:srgbClr val="0E1E34"/>
          </a:solidFill>
          <a:ln w="25400">
            <a:solidFill>
              <a:srgbClr val="02A0B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87552" y="265176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before_model_callback fires  (every turn)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87552" y="294436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session.state["store_name"] and today's date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Appends to system_instruction: "[Context — Today: 2026-09-29 | Store: DreamHaus]"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2926080"/>
            <a:ext cx="9144" cy="658368"/>
          </a:xfrm>
          <a:prstGeom prst="line">
            <a:avLst/>
          </a:prstGeom>
          <a:noFill/>
          <a:ln w="31750">
            <a:solidFill>
              <a:srgbClr val="4A607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28600" y="3767328"/>
            <a:ext cx="548640" cy="548640"/>
          </a:xfrm>
          <a:prstGeom prst="ellipse">
            <a:avLst/>
          </a:prstGeom>
          <a:solidFill>
            <a:srgbClr val="D060A8"/>
          </a:solidFill>
          <a:ln w="12700">
            <a:solidFill>
              <a:srgbClr val="D060A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28600" y="3767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</a:rPr>
              <a:t>3</a:t>
            </a:r>
            <a:endParaRPr lang="en-US" sz="1560" dirty="0"/>
          </a:p>
        </p:txBody>
      </p:sp>
      <p:sp>
        <p:nvSpPr>
          <p:cNvPr id="22" name="Shape 20"/>
          <p:cNvSpPr/>
          <p:nvPr/>
        </p:nvSpPr>
        <p:spPr>
          <a:xfrm>
            <a:off x="841248" y="3639312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1A3050"/>
          </a:solidFill>
          <a:ln w="25400">
            <a:solidFill>
              <a:srgbClr val="D060A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41248" y="36393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D06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41248" y="3986784"/>
            <a:ext cx="10972800" cy="877824"/>
          </a:xfrm>
          <a:prstGeom prst="roundRect">
            <a:avLst>
              <a:gd name="adj" fmla="val 8333"/>
            </a:avLst>
          </a:prstGeom>
          <a:solidFill>
            <a:srgbClr val="0E1E34"/>
          </a:solidFill>
          <a:ln w="25400">
            <a:solidFill>
              <a:srgbClr val="D060A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87552" y="404164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Flash model called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87552" y="4334256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modified system_instruction + full conversation history + tool_declarations + transfer_to_merchandising_agent (auto-added by ADK)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returns: function_call  OR  transfer_to_merchandising_agent  OR  text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4974336"/>
            <a:ext cx="11448288" cy="292608"/>
          </a:xfrm>
          <a:prstGeom prst="roundRect">
            <a:avLst>
              <a:gd name="adj" fmla="val 18750"/>
            </a:avLst>
          </a:prstGeom>
          <a:solidFill>
            <a:srgbClr val="1A2A40"/>
          </a:solidFill>
          <a:ln w="25400">
            <a:solidFill>
              <a:srgbClr val="3A5A7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02336" y="4974336"/>
            <a:ext cx="11375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decision  ▸  Branch A: business tool call  OR  Branch B: transfer to MerchandisingAgent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5340096"/>
            <a:ext cx="5303520" cy="1261872"/>
          </a:xfrm>
          <a:prstGeom prst="roundRect">
            <a:avLst>
              <a:gd name="adj" fmla="val 7246"/>
            </a:avLst>
          </a:prstGeom>
          <a:solidFill>
            <a:srgbClr val="1A0840"/>
          </a:solidFill>
          <a:ln w="25400">
            <a:solidFill>
              <a:srgbClr val="8040C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02920" y="53949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804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A — Business Tool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5687568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executes (e.g. get_inventory_alerts → SFCC)</a:t>
            </a:r>
            <a:endParaRPr lang="en-US" sz="1000" dirty="0"/>
          </a:p>
          <a:p>
            <a:pPr algn="l" indent="0" marL="0">
              <a:lnSpc>
                <a:spcPct val="110000"/>
              </a:lnSpc>
              <a:buNone/>
            </a:pPr>
            <a:endParaRPr lang="en-US" sz="1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after_tool_callback fires:</a:t>
            </a:r>
            <a:endParaRPr lang="en-US" sz="1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caches result in session.state</a:t>
            </a:r>
            <a:endParaRPr lang="en-US" sz="1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trims arrays &gt; 20 rows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08192" y="5340096"/>
            <a:ext cx="5669280" cy="1261872"/>
          </a:xfrm>
          <a:prstGeom prst="roundRect">
            <a:avLst>
              <a:gd name="adj" fmla="val 7246"/>
            </a:avLst>
          </a:prstGeom>
          <a:solidFill>
            <a:srgbClr val="041820"/>
          </a:solidFill>
          <a:ln w="25400">
            <a:solidFill>
              <a:srgbClr val="02A0B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54496" y="5394960"/>
            <a:ext cx="5376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2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B — MerchandisingAgent (sub-agent)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254496" y="5687568"/>
            <a:ext cx="53766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before_model_callback fires again (same injection)</a:t>
            </a:r>
            <a:endParaRPr lang="en-US" sz="1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Flash call (merch agent context)</a:t>
            </a:r>
            <a:endParaRPr lang="en-US" sz="1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classify → enrich → seo / geo / lookup → stage</a:t>
            </a:r>
            <a:endParaRPr lang="en-US" sz="1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after_tool_callback: caches + trims</a:t>
            </a:r>
            <a:endParaRPr lang="en-US" sz="1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returned to Orchestrator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" y="4334256"/>
            <a:ext cx="9144" cy="640080"/>
          </a:xfrm>
          <a:prstGeom prst="line">
            <a:avLst/>
          </a:prstGeom>
          <a:noFill/>
          <a:ln w="31750">
            <a:solidFill>
              <a:srgbClr val="4A6070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502920" y="5971032"/>
            <a:ext cx="5239512" cy="9144"/>
          </a:xfrm>
          <a:prstGeom prst="line">
            <a:avLst/>
          </a:prstGeom>
          <a:noFill/>
          <a:ln w="31750">
            <a:solidFill>
              <a:srgbClr val="4A6070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5806440" y="5971032"/>
            <a:ext cx="301752" cy="9144"/>
          </a:xfrm>
          <a:prstGeom prst="line">
            <a:avLst/>
          </a:prstGeom>
          <a:noFill/>
          <a:ln w="31750">
            <a:solidFill>
              <a:srgbClr val="4A6070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228600" y="6784848"/>
            <a:ext cx="548640" cy="548640"/>
          </a:xfrm>
          <a:prstGeom prst="ellipse">
            <a:avLst/>
          </a:prstGeom>
          <a:solidFill>
            <a:srgbClr val="E07030"/>
          </a:solidFill>
          <a:ln w="12700">
            <a:solidFill>
              <a:srgbClr val="E0703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28600" y="67848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</a:rPr>
              <a:t>5</a:t>
            </a:r>
            <a:endParaRPr lang="en-US" sz="1560" dirty="0"/>
          </a:p>
        </p:txBody>
      </p:sp>
      <p:sp>
        <p:nvSpPr>
          <p:cNvPr id="40" name="Shape 38"/>
          <p:cNvSpPr/>
          <p:nvPr/>
        </p:nvSpPr>
        <p:spPr>
          <a:xfrm>
            <a:off x="502920" y="6601968"/>
            <a:ext cx="9144" cy="109728"/>
          </a:xfrm>
          <a:prstGeom prst="line">
            <a:avLst/>
          </a:prstGeom>
          <a:noFill/>
          <a:ln w="31750">
            <a:solidFill>
              <a:srgbClr val="4A6070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841248" y="676656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1A3050"/>
          </a:solidFill>
          <a:ln w="25400">
            <a:solidFill>
              <a:srgbClr val="E0703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41248" y="67665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E07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Stream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41248" y="7114032"/>
            <a:ext cx="10972800" cy="713232"/>
          </a:xfrm>
          <a:prstGeom prst="roundRect">
            <a:avLst>
              <a:gd name="adj" fmla="val 10256"/>
            </a:avLst>
          </a:prstGeom>
          <a:solidFill>
            <a:srgbClr val="0E1E34"/>
          </a:solidFill>
          <a:ln w="25400">
            <a:solidFill>
              <a:srgbClr val="E0703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87552" y="7168896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generates final text → streamed back as SSE events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987552" y="7424928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Events:  text_delta (each text chunk)  ·  tool_call (function invoked)  ·  tool_result (result)  ·  turn_complete (done)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Browser: AssistantPanel renders text + change_preview cards in real time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2026-09-29T02:24:34Z</dcterms:created>
  <dcterms:modified xsi:type="dcterms:W3CDTF">2026-09-29T02:24:34Z</dcterms:modified>
</cp:coreProperties>
</file>