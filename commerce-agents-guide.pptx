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Commerce Agents: Key Flows, Decisions &amp; Hooks — a developer guide to 11 key design decisions and 5 hook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Agenda: Three-Layer Rule, 11 Key Flows &amp; Decisions, 5 Hooks &amp; Extension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Three-Layer Rule: Code (gates.py) holds on any model. Static Prompt applies most turns. Tool Description fires per tool call. Skill describes distinct request classes. Cart is not a skill because adding items is a side-effect of a shopping conversation, not a standalone request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Provenance gating ensures the model can only add products it has actually seen this session. Concurrent writes are serialized per session with a WeakValueDictionary lock. Session versioning with an optimistic integer rejects stale writes.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Fencing sanitizes all external text to prevent prompt injection — removes invisible chars, forged markers, tool-call tags. Grounding rules force specific tool reads before the model can answer questions about policies, orders, or unseen product IDs.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Loop limits: 8 max tool iterations, 100K token compact threshold, 8 max search results, 24 max quantity per item. Session versioning uses optimistic locking — integer version prevents racing writes from stale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Eventual consistency: never fetch immediately after a write — trust the write response. This was the root cause of the LWC cart bug. Static prompt caching: same bytes every turn for cache hit; dynamic data goes after the cache breakpoint.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Two-layer safety: model handles quality and confirmation wording; code (gates) handles correctness. If a failure requires reversal, it must be enforced in code, not just prompted. Deployments own auth, credentials, rate limits, business rules, payment, and memory data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2: Hooks &amp; Extension Points. 5 built-in hook points to customize agent behavior without modifying core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hooks: before_turn (FastAPI Depends), PresentationExtension (custom UI), pending_app_events (server push), update_memory (post-turn extract), StorefrontBackend optional overrides.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before_turn: FastAPI Depends that runs before session load on each chat request. Entertainment vertical uses it to check for notifications and push them to pending_app_events. pending_app_events: list of notes injected into dynamic context block, cleared after the model reads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PresentationExtension: register custom UI components, validated and enriched same as built-ins. update_memory: post-turn extraction from user/assistant text only. Backend optional overrides: checkout_handoff (URL never hits model), get_disclosure (server-authored facts), get_account_context (per-turn account data).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takeaways: Rules in code hold on any model. Provenance + lock = cart correctness. Fence + ground everything external. Trust write responses on eventually-consistent systems. 5 hooks cover most customization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C2D"/>
          </a:solidFill>
          <a:ln w="12700">
            <a:solidFill>
              <a:srgbClr val="091C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D2840"/>
          </a:solidFill>
          <a:ln w="12700">
            <a:solidFill>
              <a:srgbClr val="0D28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560320"/>
            <a:ext cx="2286000" cy="2286000"/>
          </a:xfrm>
          <a:prstGeom prst="ellipse">
            <a:avLst/>
          </a:prstGeom>
          <a:solidFill>
            <a:srgbClr val="0B1E34"/>
          </a:solidFill>
          <a:ln w="12700">
            <a:solidFill>
              <a:srgbClr val="0B1E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0C2135"/>
          </a:solidFill>
          <a:ln w="12700">
            <a:solidFill>
              <a:srgbClr val="0C21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118872" cy="118872"/>
          </a:xfrm>
          <a:prstGeom prst="ellipse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" y="1033272"/>
            <a:ext cx="82296" cy="82296"/>
          </a:xfrm>
          <a:prstGeom prst="ellipse">
            <a:avLst/>
          </a:prstGeom>
          <a:solidFill>
            <a:srgbClr val="1A7AC4"/>
          </a:solidFill>
          <a:ln w="12700">
            <a:solidFill>
              <a:srgbClr val="1A7A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82296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GUIDE  —  AGENTIC COMMERCE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0972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Agents</a:t>
            </a:r>
            <a:endParaRPr lang="en-US" sz="5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0299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Flows, Decisions &amp; Hooks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63347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developer's guide to building production-ready agentic applications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389120"/>
            <a:ext cx="2011680" cy="347472"/>
          </a:xfrm>
          <a:prstGeom prst="roundRect">
            <a:avLst>
              <a:gd name="adj" fmla="val 23684"/>
            </a:avLst>
          </a:prstGeom>
          <a:solidFill>
            <a:srgbClr val="132840"/>
          </a:solidFill>
          <a:ln w="9525">
            <a:solidFill>
              <a:srgbClr val="1E3A5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43891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Runtime Paths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06040" y="4389120"/>
            <a:ext cx="2011680" cy="347472"/>
          </a:xfrm>
          <a:prstGeom prst="roundRect">
            <a:avLst>
              <a:gd name="adj" fmla="val 23684"/>
            </a:avLst>
          </a:prstGeom>
          <a:solidFill>
            <a:srgbClr val="132840"/>
          </a:solidFill>
          <a:ln w="9525">
            <a:solidFill>
              <a:srgbClr val="1E3A5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06040" y="43891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Key Decisions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4389120"/>
            <a:ext cx="2011680" cy="347472"/>
          </a:xfrm>
          <a:prstGeom prst="roundRect">
            <a:avLst>
              <a:gd name="adj" fmla="val 23684"/>
            </a:avLst>
          </a:prstGeom>
          <a:solidFill>
            <a:srgbClr val="132840"/>
          </a:solidFill>
          <a:ln w="9525">
            <a:solidFill>
              <a:srgbClr val="1E3A5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54880" y="43891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Hook Points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03720" y="4389120"/>
            <a:ext cx="2011680" cy="347472"/>
          </a:xfrm>
          <a:prstGeom prst="roundRect">
            <a:avLst>
              <a:gd name="adj" fmla="val 23684"/>
            </a:avLst>
          </a:prstGeom>
          <a:solidFill>
            <a:srgbClr val="132840"/>
          </a:solidFill>
          <a:ln w="9525">
            <a:solidFill>
              <a:srgbClr val="1E3A5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03720" y="43891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Safety-First Design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8FC"/>
          </a:solidFill>
          <a:ln w="12700">
            <a:solidFill>
              <a:srgbClr val="F3F8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97480" cy="3931920"/>
          </a:xfrm>
          <a:prstGeom prst="roundRect">
            <a:avLst>
              <a:gd name="adj" fmla="val 2712"/>
            </a:avLst>
          </a:prstGeom>
          <a:solidFill>
            <a:srgbClr val="E5F1FC"/>
          </a:solidFill>
          <a:ln w="12700">
            <a:solidFill>
              <a:srgbClr val="B0CC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51560"/>
            <a:ext cx="457200" cy="457200"/>
          </a:xfrm>
          <a:prstGeom prst="ellipse">
            <a:avLst/>
          </a:prstGeom>
          <a:solidFill>
            <a:srgbClr val="1A7AC4"/>
          </a:solidFill>
          <a:ln w="12700">
            <a:solidFill>
              <a:srgbClr val="1A7A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881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1097280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Three-Layer Rule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002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rules belong in your agent: code, static prompt, tool description, or skill — and why that placement matters for safety and maintainability.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69748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5A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(gates.py) — holds on any model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5A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Prompt — applies most turns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5A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Description — per tool call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5A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— distinct request class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697480" cy="3931920"/>
          </a:xfrm>
          <a:prstGeom prst="roundRect">
            <a:avLst>
              <a:gd name="adj" fmla="val 2712"/>
            </a:avLst>
          </a:prstGeom>
          <a:solidFill>
            <a:srgbClr val="E2F5F3"/>
          </a:solidFill>
          <a:ln w="12700">
            <a:solidFill>
              <a:srgbClr val="90CC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051560"/>
            <a:ext cx="457200" cy="457200"/>
          </a:xfrm>
          <a:prstGeom prst="ellipse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83280" y="10881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950208" y="1097280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Flows &amp; Decisions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16002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critical design patterns for production agentic applications: provenance gating, loop limits, fencing, grounding, eventual consistency, and more.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269748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5A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+ Concurrent Writes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5A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Fencing + Grounding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5A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Limits + Session Versioning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5A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 Consistency + Prompt Caching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5A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Two-Layer Safety + Deployment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35040" y="914400"/>
            <a:ext cx="2697480" cy="3931920"/>
          </a:xfrm>
          <a:prstGeom prst="roundRect">
            <a:avLst>
              <a:gd name="adj" fmla="val 2712"/>
            </a:avLst>
          </a:prstGeom>
          <a:solidFill>
            <a:srgbClr val="EDE8FA"/>
          </a:solidFill>
          <a:ln w="12700">
            <a:solidFill>
              <a:srgbClr val="BCA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051560"/>
            <a:ext cx="457200" cy="457200"/>
          </a:xfrm>
          <a:prstGeom prst="ellipse">
            <a:avLst/>
          </a:prstGeom>
          <a:solidFill>
            <a:srgbClr val="7458C0"/>
          </a:solidFill>
          <a:ln w="12700">
            <a:solidFill>
              <a:srgbClr val="7458C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0" y="10881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784848" y="1097280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&amp; Extension Points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6002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built-in hook points that let you customize agent behavior without forking core code — from before_turn to StorefrontBackend optional overrides.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69748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5A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before_turn (FastAPI Depends)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5A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PresentationExtension (custom UI)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5A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pending_app_events (server push)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5A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update_memory (post-turn extract)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5A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optional overrides (3)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8FC"/>
          </a:solidFill>
          <a:ln w="12700">
            <a:solidFill>
              <a:srgbClr val="F3F8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Three-Layer Rule: Where Rules Belong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mechanism defined once — placement depends on how often and how strictly the rule applies.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160520" cy="1828800"/>
          </a:xfrm>
          <a:prstGeom prst="roundRect">
            <a:avLst>
              <a:gd name="adj" fmla="val 3500"/>
            </a:avLst>
          </a:prstGeom>
          <a:solidFill>
            <a:srgbClr val="FDF0E6"/>
          </a:solidFill>
          <a:ln w="9525">
            <a:solidFill>
              <a:srgbClr val="F0B88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26187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(gates.py)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591056"/>
            <a:ext cx="3886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regardless of model or prompt version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check: only session-seen product IDs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Per-item quantity caps (max_quantity_per_item)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concurrent write per session (asyncio.Lock)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payment: no order/charge methods on backend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7432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A9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shopping_agent/gates.py  |  commerce_common/execution.py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17720" y="1170432"/>
            <a:ext cx="4160520" cy="1828800"/>
          </a:xfrm>
          <a:prstGeom prst="roundRect">
            <a:avLst>
              <a:gd name="adj" fmla="val 3500"/>
            </a:avLst>
          </a:prstGeom>
          <a:solidFill>
            <a:srgbClr val="E5F1FC"/>
          </a:solidFill>
          <a:ln w="9525">
            <a:solidFill>
              <a:srgbClr val="B0CC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26187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7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Prompt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591056"/>
            <a:ext cx="3886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bytes every turn — qualifies for prompt caching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write authorization and confirmation wording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described as "staging" (not final)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Fenced text is data, not instructions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Professional/medical questions get a referral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7432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A9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shopping_agent/prompt.py  (write_rules + cart_rules)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3127248"/>
            <a:ext cx="4160520" cy="1719072"/>
          </a:xfrm>
          <a:prstGeom prst="roundRect">
            <a:avLst>
              <a:gd name="adj" fmla="val 3723"/>
            </a:avLst>
          </a:prstGeom>
          <a:solidFill>
            <a:srgbClr val="E2F5F3"/>
          </a:solidFill>
          <a:ln w="9525">
            <a:solidFill>
              <a:srgbClr val="90CCC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321868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Description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3547872"/>
            <a:ext cx="3886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only when that specific tool is called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when the tool applies (not how often)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add_to_cart: product must come from catalog/orders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search_products: describe domain filter attributes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 stay in the description, not the static prompt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59028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A9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shopping_agent/tools/registry.py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17720" y="3127248"/>
            <a:ext cx="4160520" cy="1719072"/>
          </a:xfrm>
          <a:prstGeom prst="roundRect">
            <a:avLst>
              <a:gd name="adj" fmla="val 3723"/>
            </a:avLst>
          </a:prstGeom>
          <a:solidFill>
            <a:srgbClr val="EDE8FA"/>
          </a:solidFill>
          <a:ln w="9525">
            <a:solidFill>
              <a:srgbClr val="BCA8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54880" y="321868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45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3547872"/>
            <a:ext cx="3886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a distinct customer request class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its own SKILL.md with model instructions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search-discovery, purchase-research, order-support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is a tool side-effect, not a request class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reference tool descriptions; no duplication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459028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A9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shopping-agent/skills/  |  each SKILL.md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8FC"/>
          </a:solidFill>
          <a:ln w="12700">
            <a:solidFill>
              <a:srgbClr val="F3F8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Gating + Concurrent Writes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60520" cy="3931920"/>
          </a:xfrm>
          <a:prstGeom prst="roundRect">
            <a:avLst>
              <a:gd name="adj" fmla="val 1628"/>
            </a:avLst>
          </a:prstGeom>
          <a:solidFill>
            <a:srgbClr val="E2F5F3"/>
          </a:solidFill>
          <a:ln w="9525">
            <a:solidFill>
              <a:srgbClr val="90CC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00584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Gating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35024"/>
            <a:ext cx="3886200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writes only accept IDs a catalog or order tool returned this session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model from hallucinating product IDs into cart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line items also count as provenance (reorder works without search)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IDs are held — model pointed to variant selection first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already in cart are valid (quantity updates always allowed)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ToolOutcome.held if ID unknown — not an error, model resolves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59028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A9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shopping_agent/gates.py → check_provenance() + gated_add_to_cart()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617720" y="914400"/>
            <a:ext cx="4160520" cy="3931920"/>
          </a:xfrm>
          <a:prstGeom prst="roundRect">
            <a:avLst>
              <a:gd name="adj" fmla="val 1628"/>
            </a:avLst>
          </a:prstGeom>
          <a:solidFill>
            <a:srgbClr val="FDF0E6"/>
          </a:solidFill>
          <a:ln w="9525">
            <a:solidFill>
              <a:srgbClr val="F0B88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0" y="100584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Writes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335024"/>
            <a:ext cx="3886200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 within one round run concurrently (async)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add_to_cart calls in one turn race without a lock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WeakValueDictionary[session_id → asyncio.Lock]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acquired: provenance check → cap calculation → backend write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garbage-collected when no turn holds it (no leak)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version integer: racing write from stale state is rejected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459028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A9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shopping_agent/gates.py → _cart_lock()  |  demo_common/sessions.py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8FC"/>
          </a:solidFill>
          <a:ln w="12700">
            <a:solidFill>
              <a:srgbClr val="F3F8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Fencing &amp; Injection Prevention + Grounding Rules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60520" cy="3931920"/>
          </a:xfrm>
          <a:prstGeom prst="roundRect">
            <a:avLst>
              <a:gd name="adj" fmla="val 1628"/>
            </a:avLst>
          </a:prstGeom>
          <a:solidFill>
            <a:srgbClr val="FCEBE9"/>
          </a:solidFill>
          <a:ln w="9525">
            <a:solidFill>
              <a:srgbClr val="F0A89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00584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Fencing — Injection Prevention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35024"/>
            <a:ext cx="3886200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third-party text sanitized before model reads it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Removed: zero-width chars, bidi controls, invisible Unicode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Removed: forged turn markers, transcript tags, tool-call tags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Removed: copies of the fence marker itself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in a fixed-label fence with size cap (max_fenced_chars)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Per-request context (cart, memory, profile) also fenced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in prompt: fenced text = data, not commands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59028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A9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commerce_common/fencing.py  +  each role's fencing.py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617720" y="914400"/>
            <a:ext cx="4160520" cy="3931920"/>
          </a:xfrm>
          <a:prstGeom prst="roundRect">
            <a:avLst>
              <a:gd name="adj" fmla="val 1628"/>
            </a:avLst>
          </a:prstGeom>
          <a:solidFill>
            <a:srgbClr val="EDE8FA"/>
          </a:solidFill>
          <a:ln w="9525">
            <a:solidFill>
              <a:srgbClr val="BCA8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0" y="100584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45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Rules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335024"/>
            <a:ext cx="3886200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 message shapes force a tool read before model answers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Policy/terms question → force search_policies first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Post-purchase question → force get_orders first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3: Unseen product ID in message → force get_product_details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API: forced with tool_choice (cannot be skipped)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SDK: prefetch form — data injected before model turn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only fire when the relevant capability is enabled in config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459028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A9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shopping_agent/grounding.py  +  commerce_common/grounding.py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8FC"/>
          </a:solidFill>
          <a:ln w="12700">
            <a:solidFill>
              <a:srgbClr val="F3F8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Limits, Context Management &amp; Session Versioning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E5F1FC"/>
          </a:solidFill>
          <a:ln w="9525">
            <a:solidFill>
              <a:srgbClr val="B0CC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98755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7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609344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tool iterations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forced response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68880" y="91440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E2F5F3"/>
          </a:solidFill>
          <a:ln w="9525">
            <a:solidFill>
              <a:srgbClr val="90CCC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68880" y="98755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1609344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tokens: compact history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(Messages API)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91440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FDF0E6"/>
          </a:solidFill>
          <a:ln w="9525">
            <a:solidFill>
              <a:srgbClr val="F0B88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98755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9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1609344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max_search_results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(user request clamped)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75120" y="91440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EDE8FA"/>
          </a:solidFill>
          <a:ln w="9525">
            <a:solidFill>
              <a:srgbClr val="BCA8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98755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745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42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1609344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max_quantity_per_item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(default per-line cap)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487168"/>
            <a:ext cx="4160520" cy="2331720"/>
          </a:xfrm>
          <a:prstGeom prst="roundRect">
            <a:avLst>
              <a:gd name="adj" fmla="val 2745"/>
            </a:avLst>
          </a:prstGeom>
          <a:solidFill>
            <a:srgbClr val="ECF2F8"/>
          </a:solidFill>
          <a:ln w="9525">
            <a:solidFill>
              <a:srgbClr val="B8CE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257860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Loop Limits Work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2907792"/>
            <a:ext cx="3886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max_tool_iterations: after N rounds, next round has no tools — forces response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compact_history: oldest tool results dropped when context grows large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clamp_limit: model-requested result count silently clamped to ceiling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paths: max_turns= passed to make_options, caps the loop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Agents: platform owns the loop; no orchestrator limit needed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456285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A9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commerce_common/config.py  |  commerce_common/turn.py → compact_history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17720" y="2487168"/>
            <a:ext cx="4160520" cy="2331720"/>
          </a:xfrm>
          <a:prstGeom prst="roundRect">
            <a:avLst>
              <a:gd name="adj" fmla="val 2745"/>
            </a:avLst>
          </a:prstGeom>
          <a:solidFill>
            <a:srgbClr val="ECF2F8"/>
          </a:solidFill>
          <a:ln w="9525">
            <a:solidFill>
              <a:srgbClr val="B8CE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0" y="257860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Versioning (Optimistic Lock)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2907792"/>
            <a:ext cx="38862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session record carries an integer version field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load record + version at start of write sequence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Write: include version in update — backend rejects if stale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concurrent requests read version=5; only first write wins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request sees RaceCondition error → surfaced to model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state written back after every request under version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456285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A9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demo_common/sessions.py → SessionStore  |  commerce_common/types.py → remember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8FC"/>
          </a:solidFill>
          <a:ln w="12700">
            <a:solidFill>
              <a:srgbClr val="F3F8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 Consistency + Static Prompt Caching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60520" cy="3931920"/>
          </a:xfrm>
          <a:prstGeom prst="roundRect">
            <a:avLst>
              <a:gd name="adj" fmla="val 1628"/>
            </a:avLst>
          </a:prstGeom>
          <a:solidFill>
            <a:srgbClr val="FCEBE9"/>
          </a:solidFill>
          <a:ln w="9525">
            <a:solidFill>
              <a:srgbClr val="F0A89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00584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 Consistency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35024"/>
            <a:ext cx="3886200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fetch immediately after a write — replica may not have caught up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bug: _loadCart() after add_to_cart overwrote SSE cart with stale SOQL read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trust the write response (or SSE cart_update event) as authoritative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read-back to user-initiated actions (new turn, page reload)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rule: "backend.add_to_cart returns the full cart — use it"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applies to any platform with replication lag (Salesforce, DynamoDB, etc.)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59028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A9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embed/lwc/salesforceStorefront.js → fixed: removed _loadCart() from finally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617720" y="914400"/>
            <a:ext cx="4160520" cy="3931920"/>
          </a:xfrm>
          <a:prstGeom prst="roundRect">
            <a:avLst>
              <a:gd name="adj" fmla="val 1628"/>
            </a:avLst>
          </a:prstGeom>
          <a:solidFill>
            <a:srgbClr val="E5F4EC"/>
          </a:solidFill>
          <a:ln w="9525">
            <a:solidFill>
              <a:srgbClr val="90C8A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0" y="100584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Prompt Caching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335024"/>
            <a:ext cx="3886200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(static) = same bytes on every turn → prompt cache hit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variable in the static portion breaks the cache for all users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Per-request data goes AFTER the cache breakpoint in a fenced block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block: cart, memory, user preferences, current page context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context (plan, contract dates) from get_account_context()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breakpoint defined in each role's prompt.py → build_dynamic_context()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459028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A9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shopping_agent/prompt.py → CACHE_BREAKPOINT + build_dynamic_context()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8FC"/>
          </a:solidFill>
          <a:ln w="12700">
            <a:solidFill>
              <a:srgbClr val="F3F8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Two-Layer Safety Model + Deployment Ownership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60520" cy="3931920"/>
          </a:xfrm>
          <a:prstGeom prst="roundRect">
            <a:avLst>
              <a:gd name="adj" fmla="val 1628"/>
            </a:avLst>
          </a:prstGeom>
          <a:solidFill>
            <a:srgbClr val="ECF2F8"/>
          </a:solidFill>
          <a:ln w="9525">
            <a:solidFill>
              <a:srgbClr val="B8CE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00584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Two-Layer Safety Model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1353312"/>
            <a:ext cx="3886200" cy="1536192"/>
          </a:xfrm>
          <a:prstGeom prst="roundRect">
            <a:avLst>
              <a:gd name="adj" fmla="val 3571"/>
            </a:avLst>
          </a:prstGeom>
          <a:solidFill>
            <a:srgbClr val="FDF0E6"/>
          </a:solidFill>
          <a:ln w="9525">
            <a:solidFill>
              <a:srgbClr val="F0B8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1732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 (Prompt)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09928"/>
            <a:ext cx="3611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wording quality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Fenced text = data, not commands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Terms/figures from tool results only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referrals for sensitive queries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2962656"/>
            <a:ext cx="3886200" cy="1536192"/>
          </a:xfrm>
          <a:prstGeom prst="roundRect">
            <a:avLst>
              <a:gd name="adj" fmla="val 3571"/>
            </a:avLst>
          </a:prstGeom>
          <a:solidFill>
            <a:srgbClr val="E2F5F3"/>
          </a:solidFill>
          <a:ln w="9525">
            <a:solidFill>
              <a:srgbClr val="90CCC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02666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Layer (Gates)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319272"/>
            <a:ext cx="3611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Provenance: only session-seen IDs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Caps, locks, fencing — any model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payment: no charge method exists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if reversal needed → must be in code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17720" y="914400"/>
            <a:ext cx="4160520" cy="3931920"/>
          </a:xfrm>
          <a:prstGeom prst="roundRect">
            <a:avLst>
              <a:gd name="adj" fmla="val 1628"/>
            </a:avLst>
          </a:prstGeom>
          <a:solidFill>
            <a:srgbClr val="E5F1FC"/>
          </a:solidFill>
          <a:ln w="9525">
            <a:solidFill>
              <a:srgbClr val="B0CC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0" y="100584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7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Deployment Owns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1335024"/>
            <a:ext cx="3886200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— authentication &amp; authorization on every route and MCP server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— your backend credentials, never exposed to the model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 — abuse controls in front of the /api/chat route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— fraud, eligibility, pricing inside your StorefrontBackend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— order placement after checkout; no payment credential here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as personal data — retention, deletion, access controls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hygiene — DEBUG logs contain full cart+context; restrict access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values — config defaults are demonstration values only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459028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A9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docs/safety.md § "What a deployment owns"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C2D"/>
          </a:solidFill>
          <a:ln w="12700">
            <a:solidFill>
              <a:srgbClr val="091C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731520"/>
            <a:ext cx="4114800" cy="4114800"/>
          </a:xfrm>
          <a:prstGeom prst="ellipse">
            <a:avLst/>
          </a:prstGeom>
          <a:solidFill>
            <a:srgbClr val="0D2840"/>
          </a:solidFill>
          <a:ln w="12700">
            <a:solidFill>
              <a:srgbClr val="0D28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2560320"/>
            <a:ext cx="2743200" cy="2743200"/>
          </a:xfrm>
          <a:prstGeom prst="ellipse">
            <a:avLst/>
          </a:prstGeom>
          <a:solidFill>
            <a:srgbClr val="0C2035"/>
          </a:solidFill>
          <a:ln w="12700">
            <a:solidFill>
              <a:srgbClr val="0C203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27632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&amp;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423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Points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4015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built-in customization points — without forking core code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4315968"/>
            <a:ext cx="1627632" cy="347472"/>
          </a:xfrm>
          <a:prstGeom prst="roundRect">
            <a:avLst>
              <a:gd name="adj" fmla="val 21053"/>
            </a:avLst>
          </a:prstGeom>
          <a:solidFill>
            <a:srgbClr val="132840"/>
          </a:solidFill>
          <a:ln w="9525">
            <a:solidFill>
              <a:srgbClr val="1E3A5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" y="431596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before_turn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011680" y="4315968"/>
            <a:ext cx="1627632" cy="347472"/>
          </a:xfrm>
          <a:prstGeom prst="roundRect">
            <a:avLst>
              <a:gd name="adj" fmla="val 21053"/>
            </a:avLst>
          </a:prstGeom>
          <a:solidFill>
            <a:srgbClr val="132840"/>
          </a:solidFill>
          <a:ln w="9525">
            <a:solidFill>
              <a:srgbClr val="1E3A5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011680" y="431596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PresentationExtension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749040" y="4315968"/>
            <a:ext cx="1627632" cy="347472"/>
          </a:xfrm>
          <a:prstGeom prst="roundRect">
            <a:avLst>
              <a:gd name="adj" fmla="val 21053"/>
            </a:avLst>
          </a:prstGeom>
          <a:solidFill>
            <a:srgbClr val="132840"/>
          </a:solidFill>
          <a:ln w="9525">
            <a:solidFill>
              <a:srgbClr val="1E3A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49040" y="431596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pending_app_events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486400" y="4315968"/>
            <a:ext cx="1627632" cy="347472"/>
          </a:xfrm>
          <a:prstGeom prst="roundRect">
            <a:avLst>
              <a:gd name="adj" fmla="val 21053"/>
            </a:avLst>
          </a:prstGeom>
          <a:solidFill>
            <a:srgbClr val="132840"/>
          </a:solidFill>
          <a:ln w="9525">
            <a:solidFill>
              <a:srgbClr val="1E3A5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0" y="431596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update_memory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223760" y="4315968"/>
            <a:ext cx="1627632" cy="347472"/>
          </a:xfrm>
          <a:prstGeom prst="roundRect">
            <a:avLst>
              <a:gd name="adj" fmla="val 21053"/>
            </a:avLst>
          </a:prstGeom>
          <a:solidFill>
            <a:srgbClr val="132840"/>
          </a:solidFill>
          <a:ln w="9525">
            <a:solidFill>
              <a:srgbClr val="1E3A5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431596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StorefrontBackend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8FC"/>
          </a:solidFill>
          <a:ln w="12700">
            <a:solidFill>
              <a:srgbClr val="F3F8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Hook Points: Overview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412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hook is a clearly defined extension point; core code calls it only if provided — no subclassing required.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713232"/>
          </a:xfrm>
          <a:prstGeom prst="roundRect">
            <a:avLst>
              <a:gd name="adj" fmla="val 8974"/>
            </a:avLst>
          </a:prstGeom>
          <a:solidFill>
            <a:srgbClr val="E5F1FC"/>
          </a:solidFill>
          <a:ln w="9525">
            <a:solidFill>
              <a:srgbClr val="B0C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" y="1380744"/>
            <a:ext cx="292608" cy="292608"/>
          </a:xfrm>
          <a:prstGeom prst="ellipse">
            <a:avLst/>
          </a:prstGeom>
          <a:solidFill>
            <a:srgbClr val="1A7AC4"/>
          </a:solidFill>
          <a:ln w="12700">
            <a:solidFill>
              <a:srgbClr val="1A7A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9768" y="142646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2252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before_turn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51790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Depends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1225296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a FastAPI dependency before the session record is loaded on each POST /api/chat. Use to inject server-side events (notifications, background task results) before the model turn.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1371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A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demo_common/storefront.py:207  +  entertainment/api/main.py:85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20040" y="1947672"/>
            <a:ext cx="8503920" cy="713232"/>
          </a:xfrm>
          <a:prstGeom prst="roundRect">
            <a:avLst>
              <a:gd name="adj" fmla="val 8974"/>
            </a:avLst>
          </a:prstGeom>
          <a:solidFill>
            <a:srgbClr val="E2F5F3"/>
          </a:solidFill>
          <a:ln w="9525">
            <a:solidFill>
              <a:srgbClr val="90CC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157984"/>
            <a:ext cx="292608" cy="292608"/>
          </a:xfrm>
          <a:prstGeom prst="ellipse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9768" y="220370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20025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PresentationExtension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229514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UI Components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2834640" y="2002536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vertical-specific presentation components (product grids, status cards, seat maps). Validated, server-enriched, and streamed as ui events — same pipeline as built-in components.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A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commerce_common/presentation.py:97  |  entertainment, travel, telecom, retail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0040" y="2724912"/>
            <a:ext cx="8503920" cy="713232"/>
          </a:xfrm>
          <a:prstGeom prst="roundRect">
            <a:avLst>
              <a:gd name="adj" fmla="val 8974"/>
            </a:avLst>
          </a:prstGeom>
          <a:solidFill>
            <a:srgbClr val="FDF0E6"/>
          </a:solidFill>
          <a:ln w="9525">
            <a:solidFill>
              <a:srgbClr val="F0B8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" y="2935224"/>
            <a:ext cx="292608" cy="292608"/>
          </a:xfrm>
          <a:prstGeom prst="ellipse">
            <a:avLst/>
          </a:prstGeom>
          <a:solidFill>
            <a:srgbClr val="D97A30"/>
          </a:solidFill>
          <a:ln w="12700">
            <a:solidFill>
              <a:srgbClr val="D97A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9768" y="298094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27797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pending_app_events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307238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Server→Agent Push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2834640" y="2779776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notes on the session record, injected into the dynamic context block at the start of the next turn. Background jobs, webhooks, or before_turn can append here.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A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entertainment/api/main.py → deliver_notifications() → record.pending_app_events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20040" y="3502152"/>
            <a:ext cx="8503920" cy="713232"/>
          </a:xfrm>
          <a:prstGeom prst="roundRect">
            <a:avLst>
              <a:gd name="adj" fmla="val 8974"/>
            </a:avLst>
          </a:prstGeom>
          <a:solidFill>
            <a:srgbClr val="EDE8FA"/>
          </a:solidFill>
          <a:ln w="9525">
            <a:solidFill>
              <a:srgbClr val="BCA8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9768" y="3712464"/>
            <a:ext cx="292608" cy="292608"/>
          </a:xfrm>
          <a:prstGeom prst="ellipse">
            <a:avLst/>
          </a:prstGeom>
          <a:solidFill>
            <a:srgbClr val="7458C0"/>
          </a:solidFill>
          <a:ln w="12700">
            <a:solidFill>
              <a:srgbClr val="7458C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29768" y="375818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35570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update_memory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384962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45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Post-Turn Extraction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2834640" y="3557016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after the SSE stream ends (Messages API path). Reads only the user+assistant text of the last exchange — never tool results — and extracts structured facts to memory.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3703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A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orchestrator.py:279  +  commerce_common/memory.py → extract_and_store()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20040" y="4279392"/>
            <a:ext cx="8503920" cy="713232"/>
          </a:xfrm>
          <a:prstGeom prst="roundRect">
            <a:avLst>
              <a:gd name="adj" fmla="val 8974"/>
            </a:avLst>
          </a:prstGeom>
          <a:solidFill>
            <a:srgbClr val="E5F4EC"/>
          </a:solidFill>
          <a:ln w="9525">
            <a:solidFill>
              <a:srgbClr val="90C8A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9768" y="4489704"/>
            <a:ext cx="292608" cy="292608"/>
          </a:xfrm>
          <a:prstGeom prst="ellipse">
            <a:avLst/>
          </a:prstGeom>
          <a:solidFill>
            <a:srgbClr val="2A8A5C"/>
          </a:solidFill>
          <a:ln w="12700">
            <a:solidFill>
              <a:srgbClr val="2A8A5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29768" y="453542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" y="43342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StorefrontBackend overrides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22960" y="46268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Backend Methods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2834640" y="4334256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optional methods on StorefrontBackend: checkout_handoff() (checkout URL, never reaches model), get_disclosure() (product facts box), get_account_context() (per-turn account facts).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7223760" y="4480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A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shopping_agent/backend.py:129 (checkout_handoff), :163 (get_disclosure), :139 (get_account_context)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8FC"/>
          </a:solidFill>
          <a:ln w="12700">
            <a:solidFill>
              <a:srgbClr val="F3F8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Deep Dive: before_turn + pending_app_events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60520" cy="3931920"/>
          </a:xfrm>
          <a:prstGeom prst="roundRect">
            <a:avLst>
              <a:gd name="adj" fmla="val 1628"/>
            </a:avLst>
          </a:prstGeom>
          <a:solidFill>
            <a:srgbClr val="E5F1FC"/>
          </a:solidFill>
          <a:ln w="9525">
            <a:solidFill>
              <a:srgbClr val="B0CC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00584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7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before_turn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35024"/>
            <a:ext cx="3886200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Depends injected on POST /api/chat — before session loads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entertainment vertical uses it today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deliver_notifications() checks pending seat holds, waitlist alerts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Appends event notes to record.pending_app_events for the model to see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then resolves them as part of the conversation turn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for: webhooks, background jobs, external system notifications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via: ShoppingApp(before_turn=your_func) or MerchantApp(before_turn=...)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59028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A9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demo_common/storefront.py:172 → before_turn param  |  entertainment/api/main.py:85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617720" y="914400"/>
            <a:ext cx="4160520" cy="3931920"/>
          </a:xfrm>
          <a:prstGeom prst="roundRect">
            <a:avLst>
              <a:gd name="adj" fmla="val 1628"/>
            </a:avLst>
          </a:prstGeom>
          <a:solidFill>
            <a:srgbClr val="FDF0E6"/>
          </a:solidFill>
          <a:ln w="9525">
            <a:solidFill>
              <a:srgbClr val="F0B88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0" y="100584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pending_app_events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335024"/>
            <a:ext cx="3886200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note strings on the session record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into the dynamic context block at turn start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Cleared automatically after the model reads them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from before_turn, a background task, or any server-side code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note: "Seat hold H-14 confirmed for 22 min, reservation RS-9021"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sees them alongside cart, memory, preferences — all fenced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require any prompt change — injected into existing dynamic block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459028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A9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shopping_agent/prompt.py → build_dynamic_context() reads pending_app_events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8FC"/>
          </a:solidFill>
          <a:ln w="12700">
            <a:solidFill>
              <a:srgbClr val="F3F8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Deep Dive: PresentationExtension, update_memory &amp; Backend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60520" cy="1874520"/>
          </a:xfrm>
          <a:prstGeom prst="roundRect">
            <a:avLst>
              <a:gd name="adj" fmla="val 3415"/>
            </a:avLst>
          </a:prstGeom>
          <a:solidFill>
            <a:srgbClr val="E2F5F3"/>
          </a:solidFill>
          <a:ln w="9525">
            <a:solidFill>
              <a:srgbClr val="90CC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00584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PresentationExtension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35024"/>
            <a:ext cx="38862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custom UI components per vertical (seat-map, subscription-card, etc.)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validation + server-enrichment pipeline as built-in components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defined, product/order IDs joined from server records on every call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without provenance dropped; component with nothing left is refused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53288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A9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commerce_common/presentation.py:97  |  entertainment/api → SeatMapExtension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617720" y="914400"/>
            <a:ext cx="4160520" cy="1874520"/>
          </a:xfrm>
          <a:prstGeom prst="roundRect">
            <a:avLst>
              <a:gd name="adj" fmla="val 3415"/>
            </a:avLst>
          </a:prstGeom>
          <a:solidFill>
            <a:srgbClr val="EDE8FA"/>
          </a:solidFill>
          <a:ln w="9525">
            <a:solidFill>
              <a:srgbClr val="BCA8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0" y="100584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45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update_memory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335024"/>
            <a:ext cx="38862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after SSE stream ends — Messages API path only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user + assistant text of last exchange, never tool results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structured facts (key, value, category) into memory store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Keys: ≤64 chars; values: ≤200 chars; 3 categories allowed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53288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A9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orchestrator.py:279  +  commerce_common/memory.py → extract_and_store()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2907792"/>
            <a:ext cx="2706624" cy="1938528"/>
          </a:xfrm>
          <a:prstGeom prst="roundRect">
            <a:avLst>
              <a:gd name="adj" fmla="val 3302"/>
            </a:avLst>
          </a:prstGeom>
          <a:solidFill>
            <a:srgbClr val="FDF0E6"/>
          </a:solidFill>
          <a:ln w="9525">
            <a:solidFill>
              <a:srgbClr val="F0B8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" y="299923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checkout_handoff()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75488" y="3328416"/>
            <a:ext cx="24871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hosted checkout URL(s)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set AFTER model's call — never seen by model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URL per seller on marketplace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returns [] (host app handles checkout)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" y="4645152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A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backend.py:129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18688" y="2907792"/>
            <a:ext cx="2706624" cy="1938528"/>
          </a:xfrm>
          <a:prstGeom prst="roundRect">
            <a:avLst>
              <a:gd name="adj" fmla="val 3302"/>
            </a:avLst>
          </a:prstGeom>
          <a:solidFill>
            <a:srgbClr val="E5F4EC"/>
          </a:solidFill>
          <a:ln w="9525">
            <a:solidFill>
              <a:srgbClr val="90C8A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28416" y="299923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8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get_disclosure()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328416" y="3328416"/>
            <a:ext cx="24871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Disclosure for a session-seen product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Server-authored facts box, no model-generated text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active if enable_disclosures=True in config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returns None (no disclosure shown)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328416" y="4645152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A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backend.py:163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071616" y="2907792"/>
            <a:ext cx="2706624" cy="1938528"/>
          </a:xfrm>
          <a:prstGeom prst="roundRect">
            <a:avLst>
              <a:gd name="adj" fmla="val 3302"/>
            </a:avLst>
          </a:prstGeom>
          <a:solidFill>
            <a:srgbClr val="E5F1FC"/>
          </a:solidFill>
          <a:ln w="9525">
            <a:solidFill>
              <a:srgbClr val="B0CC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81344" y="299923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A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get_account_context()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181344" y="3328416"/>
            <a:ext cx="24871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per-turn account facts dict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contract dates, computed eligibility, etc.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into dynamic context block every turn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returns None (keep it small — sent every turn)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181344" y="4645152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A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backend.py:139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C2D"/>
          </a:solidFill>
          <a:ln w="12700">
            <a:solidFill>
              <a:srgbClr val="091C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D2840"/>
          </a:solidFill>
          <a:ln w="12700">
            <a:solidFill>
              <a:srgbClr val="0D28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2743200"/>
            <a:ext cx="2286000" cy="2286000"/>
          </a:xfrm>
          <a:prstGeom prst="ellipse">
            <a:avLst/>
          </a:prstGeom>
          <a:solidFill>
            <a:srgbClr val="0C2035"/>
          </a:solidFill>
          <a:ln w="12700">
            <a:solidFill>
              <a:srgbClr val="0C203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0D2840"/>
          </a:solidFill>
          <a:ln w="9525">
            <a:solidFill>
              <a:srgbClr val="1A3A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225296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109728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live in code when any model must obey them — gates.py holds on every path, every model.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755648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0D2840"/>
          </a:solidFill>
          <a:ln w="9525">
            <a:solidFill>
              <a:srgbClr val="1A3A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938528"/>
            <a:ext cx="292608" cy="292608"/>
          </a:xfrm>
          <a:prstGeom prst="ellipse">
            <a:avLst/>
          </a:prstGeom>
          <a:solidFill>
            <a:srgbClr val="1A7AC4"/>
          </a:solidFill>
          <a:ln w="12700">
            <a:solidFill>
              <a:srgbClr val="1A7AC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1975104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932688" y="1847088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+ concurrent-write lock = your two critical cart correctness invariants.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05456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0D2840"/>
          </a:solidFill>
          <a:ln w="9525">
            <a:solidFill>
              <a:srgbClr val="1A3A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688336"/>
            <a:ext cx="292608" cy="292608"/>
          </a:xfrm>
          <a:prstGeom prst="ellipse">
            <a:avLst/>
          </a:prstGeom>
          <a:solidFill>
            <a:srgbClr val="D97A30"/>
          </a:solidFill>
          <a:ln w="12700">
            <a:solidFill>
              <a:srgbClr val="D97A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272491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932688" y="2596896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Fence everything external; ground before answering; never trust model-stated product IDs without a session lookup.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55264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0D2840"/>
          </a:solidFill>
          <a:ln w="9525">
            <a:solidFill>
              <a:srgbClr val="1A3A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438144"/>
            <a:ext cx="292608" cy="292608"/>
          </a:xfrm>
          <a:prstGeom prst="ellipse">
            <a:avLst/>
          </a:prstGeom>
          <a:solidFill>
            <a:srgbClr val="7458C0"/>
          </a:solidFill>
          <a:ln w="12700">
            <a:solidFill>
              <a:srgbClr val="7458C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347472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" y="3346704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write responses — don't re-read immediately after a write on eventually-consistent platforms.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05072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0D2840"/>
          </a:solidFill>
          <a:ln w="9525">
            <a:solidFill>
              <a:srgbClr val="1A3A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4187952"/>
            <a:ext cx="292608" cy="292608"/>
          </a:xfrm>
          <a:prstGeom prst="ellipse">
            <a:avLst/>
          </a:prstGeom>
          <a:solidFill>
            <a:srgbClr val="2A8A5C"/>
          </a:solidFill>
          <a:ln w="12700">
            <a:solidFill>
              <a:srgbClr val="2A8A5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2920" y="422452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932688" y="409651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hooks cover most customization needs without forking core code — start with before_turn and StorefrontBackend overrides.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800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commerce-agents  ·  github.com/anthropics/claude-code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2026-09-21T10:06:19Z</dcterms:created>
  <dcterms:modified xsi:type="dcterms:W3CDTF">2026-09-21T10:06:19Z</dcterms:modified>
</cp:coreProperties>
</file>